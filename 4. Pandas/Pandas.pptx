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9"/>
  </p:notesMasterIdLst>
  <p:sldIdLst>
    <p:sldId id="256" r:id="rId2"/>
    <p:sldId id="300" r:id="rId3"/>
    <p:sldId id="307" r:id="rId4"/>
    <p:sldId id="309" r:id="rId5"/>
    <p:sldId id="308" r:id="rId6"/>
    <p:sldId id="310" r:id="rId7"/>
    <p:sldId id="311" r:id="rId8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0"/>
      <p:bold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D3CC20-47B4-8588-F635-A26352E07DAC}" v="10" dt="2026-07-02T16:41:49.701"/>
    <p1510:client id="{D37A3C59-5913-4614-971F-9E01F111CE14}" v="1322" dt="2026-07-02T17:47:36.737"/>
  </p1510:revLst>
</p1510:revInfo>
</file>

<file path=ppt/tableStyles.xml><?xml version="1.0" encoding="utf-8"?>
<a:tblStyleLst xmlns:a="http://schemas.openxmlformats.org/drawingml/2006/main" def="{F79E5C73-CB60-4C57-98AB-6179EFCD7AC7}">
  <a:tblStyle styleId="{F79E5C73-CB60-4C57-98AB-6179EFCD7AC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>
          <a:extLst>
            <a:ext uri="{FF2B5EF4-FFF2-40B4-BE49-F238E27FC236}">
              <a16:creationId xmlns:a16="http://schemas.microsoft.com/office/drawing/2014/main" id="{C3E94EA8-916F-ACC3-39B7-53A15F228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e7f9c668d6_0_6:notes">
            <a:extLst>
              <a:ext uri="{FF2B5EF4-FFF2-40B4-BE49-F238E27FC236}">
                <a16:creationId xmlns:a16="http://schemas.microsoft.com/office/drawing/2014/main" id="{1CF0646B-860A-751A-A880-9DA5A3B5D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e7f9c668d6_0_6:notes">
            <a:extLst>
              <a:ext uri="{FF2B5EF4-FFF2-40B4-BE49-F238E27FC236}">
                <a16:creationId xmlns:a16="http://schemas.microsoft.com/office/drawing/2014/main" id="{BC43765B-EAFD-3C23-971D-64D1689C2B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00790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1A7FEEF-F7E8-788B-F721-1490A33CE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8304C905-BF34-56A8-0F83-1B067EF8A8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A41503B-3511-420A-3011-264A98DD5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0309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87F913F-365D-3564-592B-C4DC659E4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946F06E1-4AA1-C673-53EA-88F2F5E02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E6EDCE31-60BB-4C75-08AA-61194D269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5938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DD409C9-58D8-C0C2-6A64-6331F92EC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B6FD4D1-AA45-B8E7-01E0-A4974F43BF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572E25C-4D44-7E03-79B0-7972F3EA7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80478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81002E-D705-9218-B603-7D76C0F6E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FA245A8-E42B-6E4B-E9D2-1E5DEF851D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B2E2FF76-5FA5-4F7D-996D-52009F6DA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1780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0C1FA61-2F92-5603-A339-D7EB5E14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7D26884D-3A98-7320-2EF1-1019D9CB15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E343790-953B-3F17-D194-C22DAB05A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6462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title" hasCustomPrompt="1"/>
          </p:nvPr>
        </p:nvSpPr>
        <p:spPr>
          <a:xfrm flipH="1">
            <a:off x="2054663" y="586975"/>
            <a:ext cx="1842300" cy="11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00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 idx="2"/>
          </p:nvPr>
        </p:nvSpPr>
        <p:spPr>
          <a:xfrm>
            <a:off x="2605788" y="1846623"/>
            <a:ext cx="5377200" cy="5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3038363" y="2448125"/>
            <a:ext cx="3960900" cy="78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" name="Google Shape;35;p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" name="Google Shape;36;p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" name="Google Shape;38;p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" name="Google Shape;39;p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" name="Google Shape;40;p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" name="Google Shape;41;p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" name="Google Shape;42;p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" name="Google Shape;43;p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5" name="Google Shape;45;p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6" name="Google Shape;46;p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321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8" r:id="rId3"/>
    <p:sldLayoutId id="2147483669" r:id="rId4"/>
    <p:sldLayoutId id="2147483670" r:id="rId5"/>
    <p:sldLayoutId id="214748367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</a:t>
            </a:r>
            <a:r>
              <a:rPr lang="en">
                <a:solidFill>
                  <a:schemeClr val="accent2"/>
                </a:solidFill>
              </a:rPr>
              <a:t>‘Language’ </a:t>
            </a:r>
            <a:r>
              <a:rPr lang="en">
                <a:solidFill>
                  <a:schemeClr val="accent3"/>
                </a:solidFill>
              </a:rPr>
              <a:t>{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459" name="Google Shape;459;p27"/>
          <p:cNvSpPr txBox="1">
            <a:spLocks noGrp="1"/>
          </p:cNvSpPr>
          <p:nvPr>
            <p:ph type="subTitle" idx="1"/>
          </p:nvPr>
        </p:nvSpPr>
        <p:spPr>
          <a:xfrm>
            <a:off x="1607570" y="2765300"/>
            <a:ext cx="5139594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&lt; Visualization, Pandas, ML Models &gt;</a:t>
            </a:r>
            <a:endParaRPr/>
          </a:p>
        </p:txBody>
      </p:sp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Python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61" name="Google Shape;461;p27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</a:rPr>
              <a:t>[</a:t>
            </a:r>
            <a:r>
              <a:rPr lang="en">
                <a:solidFill>
                  <a:schemeClr val="accent1"/>
                </a:solidFill>
              </a:rPr>
              <a:t>AI</a:t>
            </a:r>
            <a:r>
              <a:rPr lang="en">
                <a:solidFill>
                  <a:schemeClr val="lt1"/>
                </a:solidFill>
              </a:rPr>
              <a:t> </a:t>
            </a:r>
            <a:r>
              <a:rPr lang="en">
                <a:solidFill>
                  <a:schemeClr val="lt2"/>
                </a:solidFill>
              </a:rPr>
              <a:t>for </a:t>
            </a:r>
            <a:r>
              <a:rPr lang="en">
                <a:solidFill>
                  <a:schemeClr val="accent1"/>
                </a:solidFill>
              </a:rPr>
              <a:t>Tech Leaders</a:t>
            </a:r>
            <a:r>
              <a:rPr lang="en">
                <a:solidFill>
                  <a:schemeClr val="accent6"/>
                </a:solidFill>
              </a:rPr>
              <a:t>] </a:t>
            </a:r>
            <a:endParaRPr>
              <a:solidFill>
                <a:schemeClr val="accent6"/>
              </a:solidFill>
            </a:endParaRPr>
          </a:p>
        </p:txBody>
      </p:sp>
      <p:grpSp>
        <p:nvGrpSpPr>
          <p:cNvPr id="462" name="Google Shape;462;p27"/>
          <p:cNvGrpSpPr/>
          <p:nvPr/>
        </p:nvGrpSpPr>
        <p:grpSpPr>
          <a:xfrm>
            <a:off x="1413525" y="1759900"/>
            <a:ext cx="506100" cy="2444350"/>
            <a:chOff x="1413525" y="1759900"/>
            <a:chExt cx="506100" cy="2444350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forbeginners.</a:t>
            </a:r>
            <a:r>
              <a:rPr lang="en" sz="1400"/>
              <a:t>py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workshop.py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>
          <a:extLst>
            <a:ext uri="{FF2B5EF4-FFF2-40B4-BE49-F238E27FC236}">
              <a16:creationId xmlns:a16="http://schemas.microsoft.com/office/drawing/2014/main" id="{3AB91B15-AB32-BC19-ED62-18F5C18EE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30">
            <a:extLst>
              <a:ext uri="{FF2B5EF4-FFF2-40B4-BE49-F238E27FC236}">
                <a16:creationId xmlns:a16="http://schemas.microsoft.com/office/drawing/2014/main" id="{D3634B0F-C4C2-5F39-34B0-B3B5570720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2054663" y="586975"/>
            <a:ext cx="1842300" cy="11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02 </a:t>
            </a:r>
            <a:r>
              <a:rPr lang="en" sz="5000">
                <a:solidFill>
                  <a:schemeClr val="accent6"/>
                </a:solidFill>
              </a:rPr>
              <a:t>{</a:t>
            </a:r>
            <a:endParaRPr sz="5000">
              <a:solidFill>
                <a:schemeClr val="accent6"/>
              </a:solidFill>
            </a:endParaRPr>
          </a:p>
        </p:txBody>
      </p:sp>
      <p:sp>
        <p:nvSpPr>
          <p:cNvPr id="501" name="Google Shape;501;p30">
            <a:extLst>
              <a:ext uri="{FF2B5EF4-FFF2-40B4-BE49-F238E27FC236}">
                <a16:creationId xmlns:a16="http://schemas.microsoft.com/office/drawing/2014/main" id="{1406BF53-76A2-430B-2539-8EFD25D8E38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605788" y="1846623"/>
            <a:ext cx="5377200" cy="5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</a:rPr>
              <a:t>[</a:t>
            </a:r>
            <a:r>
              <a:rPr lang="en">
                <a:solidFill>
                  <a:schemeClr val="tx2"/>
                </a:solidFill>
              </a:rPr>
              <a:t>Pandas</a:t>
            </a:r>
            <a:r>
              <a:rPr lang="en">
                <a:solidFill>
                  <a:schemeClr val="accent6"/>
                </a:solidFill>
              </a:rPr>
              <a:t>]</a:t>
            </a:r>
            <a:r>
              <a:rPr lang="en">
                <a:solidFill>
                  <a:schemeClr val="accent1"/>
                </a:solidFill>
              </a:rPr>
              <a:t> 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502" name="Google Shape;502;p30">
            <a:extLst>
              <a:ext uri="{FF2B5EF4-FFF2-40B4-BE49-F238E27FC236}">
                <a16:creationId xmlns:a16="http://schemas.microsoft.com/office/drawing/2014/main" id="{9EE5EAB5-52E6-0B16-3F59-1EEE01B30C9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38363" y="2448125"/>
            <a:ext cx="3960900" cy="78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/>
              <a:t>&lt; A couple of functions &gt;</a:t>
            </a:r>
            <a:endParaRPr/>
          </a:p>
        </p:txBody>
      </p:sp>
      <p:sp>
        <p:nvSpPr>
          <p:cNvPr id="503" name="Google Shape;503;p30">
            <a:extLst>
              <a:ext uri="{FF2B5EF4-FFF2-40B4-BE49-F238E27FC236}">
                <a16:creationId xmlns:a16="http://schemas.microsoft.com/office/drawing/2014/main" id="{577070EF-F50C-EA5E-1E78-E91A77B992AD}"/>
              </a:ext>
            </a:extLst>
          </p:cNvPr>
          <p:cNvSpPr txBox="1"/>
          <p:nvPr/>
        </p:nvSpPr>
        <p:spPr>
          <a:xfrm>
            <a:off x="2127375" y="3586575"/>
            <a:ext cx="506100" cy="7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 sz="5000">
              <a:solidFill>
                <a:schemeClr val="accent6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504" name="Google Shape;504;p30">
            <a:extLst>
              <a:ext uri="{FF2B5EF4-FFF2-40B4-BE49-F238E27FC236}">
                <a16:creationId xmlns:a16="http://schemas.microsoft.com/office/drawing/2014/main" id="{9B4DCFD9-20F2-DEA7-3E62-6BF350C08A8C}"/>
              </a:ext>
            </a:extLst>
          </p:cNvPr>
          <p:cNvCxnSpPr>
            <a:endCxn id="503" idx="0"/>
          </p:cNvCxnSpPr>
          <p:nvPr/>
        </p:nvCxnSpPr>
        <p:spPr>
          <a:xfrm>
            <a:off x="2380425" y="1478475"/>
            <a:ext cx="0" cy="2108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5" name="Google Shape;505;p30">
            <a:extLst>
              <a:ext uri="{FF2B5EF4-FFF2-40B4-BE49-F238E27FC236}">
                <a16:creationId xmlns:a16="http://schemas.microsoft.com/office/drawing/2014/main" id="{6991124E-BB2C-D2D2-103F-13F0429BE99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Python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506" name="Google Shape;506;p30">
            <a:extLst>
              <a:ext uri="{FF2B5EF4-FFF2-40B4-BE49-F238E27FC236}">
                <a16:creationId xmlns:a16="http://schemas.microsoft.com/office/drawing/2014/main" id="{38ED578B-C9CF-D41B-5EA1-8CDA4D49928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forbeginners.py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507" name="Google Shape;507;p30">
            <a:extLst>
              <a:ext uri="{FF2B5EF4-FFF2-40B4-BE49-F238E27FC236}">
                <a16:creationId xmlns:a16="http://schemas.microsoft.com/office/drawing/2014/main" id="{89FAC6F9-7545-5581-8101-70699618713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workshop.py</a:t>
            </a:r>
            <a:endParaRPr sz="140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4006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FB4BF5E-81F1-7E7D-AB4B-9B24E6D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918D993-ADA9-81B3-7831-BF3512676A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7784" y="679569"/>
            <a:ext cx="4049781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pt-PT" sz="1800">
                <a:solidFill>
                  <a:schemeClr val="tx2"/>
                </a:solidFill>
              </a:rPr>
              <a:t>O que é o Pandas?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pt-PT" sz="1400">
              <a:solidFill>
                <a:schemeClr val="accent3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PT" sz="1400">
                <a:solidFill>
                  <a:schemeClr val="accent3"/>
                </a:solidFill>
              </a:rPr>
              <a:t>O </a:t>
            </a:r>
            <a:r>
              <a:rPr lang="pt-PT" sz="1400" b="1">
                <a:solidFill>
                  <a:schemeClr val="accent3"/>
                </a:solidFill>
              </a:rPr>
              <a:t>Pandas</a:t>
            </a:r>
            <a:r>
              <a:rPr lang="pt-PT" sz="1400">
                <a:solidFill>
                  <a:schemeClr val="accent3"/>
                </a:solidFill>
              </a:rPr>
              <a:t> é uma </a:t>
            </a:r>
            <a:r>
              <a:rPr lang="pt-PT" sz="1400" b="1">
                <a:solidFill>
                  <a:schemeClr val="accent3"/>
                </a:solidFill>
              </a:rPr>
              <a:t>biblioteca</a:t>
            </a:r>
            <a:r>
              <a:rPr lang="pt-PT" sz="1400">
                <a:solidFill>
                  <a:schemeClr val="accent3"/>
                </a:solidFill>
              </a:rPr>
              <a:t> poderosa que permite trabalhar facilmente com </a:t>
            </a:r>
            <a:r>
              <a:rPr lang="pt-PT" sz="1400" b="1">
                <a:solidFill>
                  <a:schemeClr val="accent3"/>
                </a:solidFill>
              </a:rPr>
              <a:t>dados</a:t>
            </a:r>
            <a:r>
              <a:rPr lang="pt-PT" sz="1400">
                <a:solidFill>
                  <a:schemeClr val="accent3"/>
                </a:solidFill>
              </a:rPr>
              <a:t> </a:t>
            </a:r>
            <a:r>
              <a:rPr lang="pt-PT" sz="1400" b="1">
                <a:solidFill>
                  <a:schemeClr val="accent3"/>
                </a:solidFill>
              </a:rPr>
              <a:t>estruturados</a:t>
            </a:r>
            <a:r>
              <a:rPr lang="pt-PT" sz="1400">
                <a:solidFill>
                  <a:schemeClr val="accent3"/>
                </a:solidFill>
              </a:rPr>
              <a:t> (</a:t>
            </a:r>
            <a:r>
              <a:rPr lang="pt-PT" sz="1400" b="1">
                <a:solidFill>
                  <a:schemeClr val="accent3"/>
                </a:solidFill>
              </a:rPr>
              <a:t>tabelas</a:t>
            </a:r>
            <a:r>
              <a:rPr lang="pt-PT" sz="1400">
                <a:solidFill>
                  <a:schemeClr val="accent3"/>
                </a:solidFill>
              </a:rPr>
              <a:t>);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PT" sz="1400">
                <a:solidFill>
                  <a:schemeClr val="accent3"/>
                </a:solidFill>
              </a:rPr>
              <a:t>Oferece estruturas de dados flexíveis, como </a:t>
            </a:r>
            <a:r>
              <a:rPr lang="pt-PT" sz="1400" b="1">
                <a:solidFill>
                  <a:schemeClr val="accent3"/>
                </a:solidFill>
              </a:rPr>
              <a:t>Series</a:t>
            </a:r>
            <a:r>
              <a:rPr lang="pt-PT" sz="1400">
                <a:solidFill>
                  <a:schemeClr val="accent3"/>
                </a:solidFill>
              </a:rPr>
              <a:t> e </a:t>
            </a:r>
            <a:r>
              <a:rPr lang="pt-PT" sz="1400" b="1">
                <a:solidFill>
                  <a:schemeClr val="accent3"/>
                </a:solidFill>
              </a:rPr>
              <a:t>DataFrame;</a:t>
            </a:r>
            <a:endParaRPr lang="pt-PT" sz="1400">
              <a:solidFill>
                <a:schemeClr val="accent3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PT" sz="1400">
                <a:solidFill>
                  <a:schemeClr val="accent3"/>
                </a:solidFill>
              </a:rPr>
              <a:t>Facilita a </a:t>
            </a:r>
            <a:r>
              <a:rPr lang="pt-PT" sz="1400" b="1">
                <a:solidFill>
                  <a:schemeClr val="accent3"/>
                </a:solidFill>
              </a:rPr>
              <a:t>leitura</a:t>
            </a:r>
            <a:r>
              <a:rPr lang="pt-PT" sz="1400">
                <a:solidFill>
                  <a:schemeClr val="accent3"/>
                </a:solidFill>
              </a:rPr>
              <a:t>, </a:t>
            </a:r>
            <a:r>
              <a:rPr lang="pt-PT" sz="1400" b="1">
                <a:solidFill>
                  <a:schemeClr val="accent3"/>
                </a:solidFill>
              </a:rPr>
              <a:t>limpeza</a:t>
            </a:r>
            <a:r>
              <a:rPr lang="pt-PT" sz="1400">
                <a:solidFill>
                  <a:schemeClr val="accent3"/>
                </a:solidFill>
              </a:rPr>
              <a:t>, </a:t>
            </a:r>
            <a:r>
              <a:rPr lang="pt-PT" sz="1400" b="1">
                <a:solidFill>
                  <a:schemeClr val="accent3"/>
                </a:solidFill>
              </a:rPr>
              <a:t>transformação</a:t>
            </a:r>
            <a:r>
              <a:rPr lang="pt-PT" sz="1400">
                <a:solidFill>
                  <a:schemeClr val="accent3"/>
                </a:solidFill>
              </a:rPr>
              <a:t> e </a:t>
            </a:r>
            <a:r>
              <a:rPr lang="pt-PT" sz="1400" b="1">
                <a:solidFill>
                  <a:schemeClr val="accent3"/>
                </a:solidFill>
              </a:rPr>
              <a:t>análise</a:t>
            </a:r>
            <a:r>
              <a:rPr lang="pt-PT" sz="1400">
                <a:solidFill>
                  <a:schemeClr val="accent3"/>
                </a:solidFill>
              </a:rPr>
              <a:t> </a:t>
            </a:r>
            <a:r>
              <a:rPr lang="pt-PT" sz="1400" b="1">
                <a:solidFill>
                  <a:schemeClr val="accent3"/>
                </a:solidFill>
              </a:rPr>
              <a:t>de</a:t>
            </a:r>
            <a:r>
              <a:rPr lang="pt-PT" sz="1400">
                <a:solidFill>
                  <a:schemeClr val="accent3"/>
                </a:solidFill>
              </a:rPr>
              <a:t> </a:t>
            </a:r>
            <a:r>
              <a:rPr lang="pt-PT" sz="1400" b="1">
                <a:solidFill>
                  <a:schemeClr val="accent3"/>
                </a:solidFill>
              </a:rPr>
              <a:t>dados;</a:t>
            </a:r>
            <a:endParaRPr lang="pt-PT" sz="1400">
              <a:solidFill>
                <a:schemeClr val="accent3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PT" sz="1400">
                <a:solidFill>
                  <a:schemeClr val="accent3"/>
                </a:solidFill>
              </a:rPr>
              <a:t>Muito usada em </a:t>
            </a:r>
            <a:r>
              <a:rPr lang="pt-PT" sz="1400" b="1">
                <a:solidFill>
                  <a:schemeClr val="accent3"/>
                </a:solidFill>
              </a:rPr>
              <a:t>Data</a:t>
            </a:r>
            <a:r>
              <a:rPr lang="pt-PT" sz="1400">
                <a:solidFill>
                  <a:schemeClr val="accent3"/>
                </a:solidFill>
              </a:rPr>
              <a:t> </a:t>
            </a:r>
            <a:r>
              <a:rPr lang="pt-PT" sz="1400" b="1">
                <a:solidFill>
                  <a:schemeClr val="accent3"/>
                </a:solidFill>
              </a:rPr>
              <a:t>Science</a:t>
            </a:r>
            <a:r>
              <a:rPr lang="pt-PT" sz="1400">
                <a:solidFill>
                  <a:schemeClr val="accent3"/>
                </a:solidFill>
              </a:rPr>
              <a:t> para </a:t>
            </a:r>
            <a:r>
              <a:rPr lang="pt-PT" sz="1400" b="1">
                <a:solidFill>
                  <a:schemeClr val="accent3"/>
                </a:solidFill>
              </a:rPr>
              <a:t>preparar</a:t>
            </a:r>
            <a:r>
              <a:rPr lang="pt-PT" sz="1400">
                <a:solidFill>
                  <a:schemeClr val="accent3"/>
                </a:solidFill>
              </a:rPr>
              <a:t> </a:t>
            </a:r>
            <a:r>
              <a:rPr lang="pt-PT" sz="1400" b="1">
                <a:solidFill>
                  <a:schemeClr val="accent3"/>
                </a:solidFill>
              </a:rPr>
              <a:t>dados</a:t>
            </a:r>
            <a:r>
              <a:rPr lang="pt-PT" sz="1400">
                <a:solidFill>
                  <a:schemeClr val="accent3"/>
                </a:solidFill>
              </a:rPr>
              <a:t> antes de </a:t>
            </a:r>
            <a:r>
              <a:rPr lang="pt-PT" sz="1400" b="1">
                <a:solidFill>
                  <a:schemeClr val="accent3"/>
                </a:solidFill>
              </a:rPr>
              <a:t>aplicar</a:t>
            </a:r>
            <a:r>
              <a:rPr lang="pt-PT" sz="1400">
                <a:solidFill>
                  <a:schemeClr val="accent3"/>
                </a:solidFill>
              </a:rPr>
              <a:t> </a:t>
            </a:r>
            <a:r>
              <a:rPr lang="pt-PT" sz="1400" b="1">
                <a:solidFill>
                  <a:schemeClr val="accent3"/>
                </a:solidFill>
              </a:rPr>
              <a:t>modelos</a:t>
            </a:r>
            <a:r>
              <a:rPr lang="pt-PT" sz="1400">
                <a:solidFill>
                  <a:schemeClr val="accent3"/>
                </a:solidFill>
              </a:rPr>
              <a:t>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20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AA494A2B-8A48-6ABA-508B-715742E0963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pt-PT">
                <a:solidFill>
                  <a:schemeClr val="accent3"/>
                </a:solidFill>
              </a:rPr>
              <a:t>Python</a:t>
            </a:r>
            <a:r>
              <a:rPr lang="en" sz="1400">
                <a:solidFill>
                  <a:schemeClr val="accent3"/>
                </a:solidFill>
              </a:rPr>
              <a:t>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9C1A6671-2658-82A2-9C1C-F7E5253CC90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lesson3.py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CF0E052A-D1AE-D8E7-6E3E-D9851CE1CF7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lesson3.ipynb</a:t>
            </a:r>
            <a:endParaRPr sz="1400">
              <a:solidFill>
                <a:schemeClr val="accent3"/>
              </a:solidFill>
            </a:endParaRPr>
          </a:p>
        </p:txBody>
      </p:sp>
      <p:pic>
        <p:nvPicPr>
          <p:cNvPr id="2" name="Picture 1" descr="What is pandas?">
            <a:extLst>
              <a:ext uri="{FF2B5EF4-FFF2-40B4-BE49-F238E27FC236}">
                <a16:creationId xmlns:a16="http://schemas.microsoft.com/office/drawing/2014/main" id="{6C32310B-D576-7E8C-3761-6BBB96EE8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8776" y="3400192"/>
            <a:ext cx="1802446" cy="10637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1BCC711-27EB-FEDC-3D36-A0E56799B9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5225" y="561969"/>
            <a:ext cx="2926472" cy="390196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116ECE-D5D1-FBF8-5C06-FDBD64DED9C1}"/>
              </a:ext>
            </a:extLst>
          </p:cNvPr>
          <p:cNvSpPr/>
          <p:nvPr/>
        </p:nvSpPr>
        <p:spPr>
          <a:xfrm>
            <a:off x="6449291" y="659483"/>
            <a:ext cx="1170709" cy="22790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1F6141B-41D2-220F-0C4A-A4283BA4B9F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45" r="4345"/>
          <a:stretch/>
        </p:blipFill>
        <p:spPr>
          <a:xfrm>
            <a:off x="9865949" y="535622"/>
            <a:ext cx="3214231" cy="393939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48598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E5C03B8-49A7-269D-B9A6-B14418C38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09FFFBEA-B684-DA2A-3085-B6908282BC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7784" y="679569"/>
            <a:ext cx="4049781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pt-PT" sz="1800">
                <a:solidFill>
                  <a:schemeClr val="tx2"/>
                </a:solidFill>
              </a:rPr>
              <a:t>Estruturas básicas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pt-PT" sz="1400">
              <a:solidFill>
                <a:schemeClr val="accent3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PT" sz="1400" b="1">
                <a:solidFill>
                  <a:schemeClr val="accent3"/>
                </a:solidFill>
              </a:rPr>
              <a:t>Series</a:t>
            </a:r>
            <a:r>
              <a:rPr lang="pt-PT" sz="1400">
                <a:solidFill>
                  <a:schemeClr val="accent3"/>
                </a:solidFill>
              </a:rPr>
              <a:t>: Estrutura </a:t>
            </a:r>
            <a:r>
              <a:rPr lang="pt-PT" sz="1400" b="1">
                <a:solidFill>
                  <a:schemeClr val="accent3"/>
                </a:solidFill>
              </a:rPr>
              <a:t>unidimensional</a:t>
            </a:r>
            <a:r>
              <a:rPr lang="pt-PT" sz="1400">
                <a:solidFill>
                  <a:schemeClr val="accent3"/>
                </a:solidFill>
              </a:rPr>
              <a:t>, semelhante a um </a:t>
            </a:r>
            <a:r>
              <a:rPr lang="pt-PT" sz="1400" b="1">
                <a:solidFill>
                  <a:schemeClr val="accent3"/>
                </a:solidFill>
              </a:rPr>
              <a:t>array</a:t>
            </a:r>
            <a:r>
              <a:rPr lang="pt-PT" sz="1400">
                <a:solidFill>
                  <a:schemeClr val="accent3"/>
                </a:solidFill>
              </a:rPr>
              <a:t> com etiquetas (</a:t>
            </a:r>
            <a:r>
              <a:rPr lang="pt-PT" sz="1400" b="1">
                <a:solidFill>
                  <a:schemeClr val="accent3"/>
                </a:solidFill>
              </a:rPr>
              <a:t>index</a:t>
            </a:r>
            <a:r>
              <a:rPr lang="pt-PT" sz="1400">
                <a:solidFill>
                  <a:schemeClr val="accent3"/>
                </a:solidFill>
              </a:rPr>
              <a:t>);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PT" sz="1400" b="1">
                <a:solidFill>
                  <a:schemeClr val="accent3"/>
                </a:solidFill>
              </a:rPr>
              <a:t>DataFrame</a:t>
            </a:r>
            <a:r>
              <a:rPr lang="pt-PT" sz="1400">
                <a:solidFill>
                  <a:schemeClr val="accent3"/>
                </a:solidFill>
              </a:rPr>
              <a:t>: </a:t>
            </a:r>
            <a:r>
              <a:rPr lang="pt-PT" sz="1400" b="1">
                <a:solidFill>
                  <a:schemeClr val="accent3"/>
                </a:solidFill>
              </a:rPr>
              <a:t>Estrutura</a:t>
            </a:r>
            <a:r>
              <a:rPr lang="pt-PT" sz="1400">
                <a:solidFill>
                  <a:schemeClr val="accent3"/>
                </a:solidFill>
              </a:rPr>
              <a:t> </a:t>
            </a:r>
            <a:r>
              <a:rPr lang="pt-PT" sz="1400" b="1">
                <a:solidFill>
                  <a:schemeClr val="accent3"/>
                </a:solidFill>
              </a:rPr>
              <a:t>bidimensional</a:t>
            </a:r>
            <a:r>
              <a:rPr lang="pt-PT" sz="1400">
                <a:solidFill>
                  <a:schemeClr val="accent3"/>
                </a:solidFill>
              </a:rPr>
              <a:t>, </a:t>
            </a:r>
            <a:r>
              <a:rPr lang="pt-PT" sz="1400" b="1">
                <a:solidFill>
                  <a:schemeClr val="accent3"/>
                </a:solidFill>
              </a:rPr>
              <a:t>tabela</a:t>
            </a:r>
            <a:r>
              <a:rPr lang="pt-PT" sz="1400">
                <a:solidFill>
                  <a:schemeClr val="accent3"/>
                </a:solidFill>
              </a:rPr>
              <a:t> com linhas e colunas, como numa </a:t>
            </a:r>
            <a:r>
              <a:rPr lang="pt-PT" sz="1400" b="1">
                <a:solidFill>
                  <a:schemeClr val="accent3"/>
                </a:solidFill>
              </a:rPr>
              <a:t>folha</a:t>
            </a:r>
            <a:r>
              <a:rPr lang="pt-PT" sz="1400">
                <a:solidFill>
                  <a:schemeClr val="accent3"/>
                </a:solidFill>
              </a:rPr>
              <a:t> </a:t>
            </a:r>
            <a:r>
              <a:rPr lang="pt-PT" sz="1400" b="1">
                <a:solidFill>
                  <a:schemeClr val="accent3"/>
                </a:solidFill>
              </a:rPr>
              <a:t>Excel;</a:t>
            </a:r>
            <a:endParaRPr lang="pt-PT" sz="1400">
              <a:solidFill>
                <a:schemeClr val="accent3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PT" sz="1400">
                <a:solidFill>
                  <a:schemeClr val="accent3"/>
                </a:solidFill>
              </a:rPr>
              <a:t>Permitem acesso </a:t>
            </a:r>
            <a:r>
              <a:rPr lang="pt-PT" sz="1400" b="1">
                <a:solidFill>
                  <a:schemeClr val="accent3"/>
                </a:solidFill>
              </a:rPr>
              <a:t>rápido</a:t>
            </a:r>
            <a:r>
              <a:rPr lang="pt-PT" sz="1400">
                <a:solidFill>
                  <a:schemeClr val="accent3"/>
                </a:solidFill>
              </a:rPr>
              <a:t> e </a:t>
            </a:r>
            <a:r>
              <a:rPr lang="pt-PT" sz="1400" b="1">
                <a:solidFill>
                  <a:schemeClr val="accent3"/>
                </a:solidFill>
              </a:rPr>
              <a:t>eficiente</a:t>
            </a:r>
            <a:r>
              <a:rPr lang="pt-PT" sz="1400">
                <a:solidFill>
                  <a:schemeClr val="accent3"/>
                </a:solidFill>
              </a:rPr>
              <a:t> aos dados para manipulação.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20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55A646E-3E6B-769C-10D2-749F69CEB58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pt-PT">
                <a:solidFill>
                  <a:schemeClr val="accent3"/>
                </a:solidFill>
              </a:rPr>
              <a:t>Python</a:t>
            </a:r>
            <a:r>
              <a:rPr lang="en" sz="1400">
                <a:solidFill>
                  <a:schemeClr val="accent3"/>
                </a:solidFill>
              </a:rPr>
              <a:t>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53EEF4E1-754D-7C06-8DA7-BE03F5207C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lesson3.py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E577BA9-5F8B-5FC9-A6BF-AEBED55770B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lesson3.ipynb</a:t>
            </a:r>
            <a:endParaRPr sz="1400">
              <a:solidFill>
                <a:schemeClr val="accent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8B5E7E-270D-352E-B27D-CEFF4F7AD4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5" r="4345"/>
          <a:stretch/>
        </p:blipFill>
        <p:spPr>
          <a:xfrm>
            <a:off x="5400629" y="535622"/>
            <a:ext cx="3214231" cy="393939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B2A2AD-166D-7CB7-F557-C034AEE60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5225" y="5636889"/>
            <a:ext cx="2926472" cy="39019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79E62D-5A8E-2353-35FD-B980B67CC0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5225" y="-4665351"/>
            <a:ext cx="2926472" cy="39019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DAA77C-27F2-2069-A49F-C400E44239D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" b="22388"/>
          <a:stretch>
            <a:fillRect/>
          </a:stretch>
        </p:blipFill>
        <p:spPr>
          <a:xfrm>
            <a:off x="-4745795" y="2088636"/>
            <a:ext cx="4457440" cy="2375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827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F0D237A-0FDD-5DD9-8B7A-418FF0749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07BC781-8726-BBCC-F624-C50D4FA302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7784" y="618780"/>
            <a:ext cx="4049781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PT" sz="1400">
                <a:solidFill>
                  <a:schemeClr val="accent3"/>
                </a:solidFill>
              </a:rPr>
              <a:t>Leitura de dados é o processo de carregar informações de um ficheiro para o Python;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PT" sz="1400">
                <a:solidFill>
                  <a:schemeClr val="accent3"/>
                </a:solidFill>
              </a:rPr>
              <a:t>O Pandas consegue ler vários formatos de arquivos, como CSV, Excel, JSON e txt.</a:t>
            </a: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1A48F9D-923F-D302-9359-F42F0C6A2B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pt-PT">
                <a:solidFill>
                  <a:schemeClr val="accent3"/>
                </a:solidFill>
              </a:rPr>
              <a:t>Python</a:t>
            </a:r>
            <a:r>
              <a:rPr lang="en" sz="1400">
                <a:solidFill>
                  <a:schemeClr val="accent3"/>
                </a:solidFill>
              </a:rPr>
              <a:t>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A939427-3708-21B0-6B8D-455AFA6683B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lesson3.py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CC31C87-C917-A453-25C3-6C7E164C9D5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lesson3.ipynb</a:t>
            </a:r>
            <a:endParaRPr sz="1400">
              <a:solidFill>
                <a:schemeClr val="accent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67FD8D-69F6-4CF1-938E-5837D880B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5225" y="561969"/>
            <a:ext cx="2926472" cy="39019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A0C50A-C974-306B-C144-5AF7E3210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" b="22388"/>
          <a:stretch>
            <a:fillRect/>
          </a:stretch>
        </p:blipFill>
        <p:spPr>
          <a:xfrm>
            <a:off x="710125" y="2088636"/>
            <a:ext cx="4457440" cy="23752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4FE93E-30E0-12AD-9018-ACC568B5DB7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64" t="6963" r="5664" b="7408"/>
          <a:stretch/>
        </p:blipFill>
        <p:spPr>
          <a:xfrm>
            <a:off x="9336145" y="808846"/>
            <a:ext cx="4268602" cy="33890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1842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A9E3156-3F23-4FF0-2CEB-B11D568D5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2CC6DFCA-A15A-BB22-610A-C8F93F7EE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17784" y="679569"/>
            <a:ext cx="3170198" cy="33082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pt-PT" sz="1800">
                <a:solidFill>
                  <a:schemeClr val="tx2"/>
                </a:solidFill>
              </a:rPr>
              <a:t>Operações comuns com Pandas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pt-PT" sz="1400">
              <a:solidFill>
                <a:schemeClr val="accent3"/>
              </a:solidFill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PT" sz="1400"/>
              <a:t>Possíveis operações com o </a:t>
            </a:r>
            <a:r>
              <a:rPr lang="pt-PT" sz="1400" b="1"/>
              <a:t>pandas</a:t>
            </a:r>
            <a:r>
              <a:rPr lang="pt-PT" sz="140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b="1">
                <a:solidFill>
                  <a:schemeClr val="accent3"/>
                </a:solidFill>
              </a:rPr>
              <a:t>Leitura</a:t>
            </a:r>
            <a:r>
              <a:rPr lang="pt-PT">
                <a:solidFill>
                  <a:schemeClr val="accent3"/>
                </a:solidFill>
              </a:rPr>
              <a:t> de ficheiros: </a:t>
            </a:r>
            <a:r>
              <a:rPr lang="pt-PT" b="1">
                <a:solidFill>
                  <a:schemeClr val="accent3"/>
                </a:solidFill>
              </a:rPr>
              <a:t>CSV</a:t>
            </a:r>
            <a:r>
              <a:rPr lang="pt-PT">
                <a:solidFill>
                  <a:schemeClr val="accent3"/>
                </a:solidFill>
              </a:rPr>
              <a:t>, </a:t>
            </a:r>
            <a:r>
              <a:rPr lang="pt-PT" b="1">
                <a:solidFill>
                  <a:schemeClr val="accent3"/>
                </a:solidFill>
              </a:rPr>
              <a:t>Excel</a:t>
            </a:r>
            <a:r>
              <a:rPr lang="pt-PT">
                <a:solidFill>
                  <a:schemeClr val="accent3"/>
                </a:solidFill>
              </a:rPr>
              <a:t>, </a:t>
            </a:r>
            <a:r>
              <a:rPr lang="pt-PT" b="1">
                <a:solidFill>
                  <a:schemeClr val="accent3"/>
                </a:solidFill>
              </a:rPr>
              <a:t>JSON</a:t>
            </a:r>
            <a:r>
              <a:rPr lang="pt-PT">
                <a:solidFill>
                  <a:schemeClr val="accent3"/>
                </a:solidFill>
              </a:rPr>
              <a:t>, entre outros.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b="1">
                <a:solidFill>
                  <a:schemeClr val="accent3"/>
                </a:solidFill>
              </a:rPr>
              <a:t>Seleção</a:t>
            </a:r>
            <a:r>
              <a:rPr lang="pt-PT">
                <a:solidFill>
                  <a:schemeClr val="accent3"/>
                </a:solidFill>
              </a:rPr>
              <a:t> e </a:t>
            </a:r>
            <a:r>
              <a:rPr lang="pt-PT" b="1">
                <a:solidFill>
                  <a:schemeClr val="accent3"/>
                </a:solidFill>
              </a:rPr>
              <a:t>filtragem</a:t>
            </a:r>
            <a:r>
              <a:rPr lang="pt-PT">
                <a:solidFill>
                  <a:schemeClr val="accent3"/>
                </a:solidFill>
              </a:rPr>
              <a:t> de colunas e linhas.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b="1">
                <a:solidFill>
                  <a:schemeClr val="accent3"/>
                </a:solidFill>
              </a:rPr>
              <a:t>Tratamento</a:t>
            </a:r>
            <a:r>
              <a:rPr lang="pt-PT">
                <a:solidFill>
                  <a:schemeClr val="accent3"/>
                </a:solidFill>
              </a:rPr>
              <a:t> de valores </a:t>
            </a:r>
            <a:r>
              <a:rPr lang="pt-PT" b="1">
                <a:solidFill>
                  <a:schemeClr val="accent3"/>
                </a:solidFill>
              </a:rPr>
              <a:t>ausentes</a:t>
            </a:r>
            <a:r>
              <a:rPr lang="pt-PT">
                <a:solidFill>
                  <a:schemeClr val="accent3"/>
                </a:solidFill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b="1">
                <a:solidFill>
                  <a:schemeClr val="accent3"/>
                </a:solidFill>
              </a:rPr>
              <a:t>Agrupamentos</a:t>
            </a:r>
            <a:r>
              <a:rPr lang="pt-PT">
                <a:solidFill>
                  <a:schemeClr val="accent3"/>
                </a:solidFill>
              </a:rPr>
              <a:t> e </a:t>
            </a:r>
            <a:r>
              <a:rPr lang="pt-PT" b="1">
                <a:solidFill>
                  <a:schemeClr val="accent3"/>
                </a:solidFill>
              </a:rPr>
              <a:t>sumarizações</a:t>
            </a:r>
            <a:r>
              <a:rPr lang="pt-PT">
                <a:solidFill>
                  <a:schemeClr val="accent3"/>
                </a:solidFill>
              </a:rPr>
              <a:t>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400">
              <a:solidFill>
                <a:schemeClr val="accent3"/>
              </a:solidFill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PT" sz="1200">
              <a:solidFill>
                <a:schemeClr val="accent3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42F59215-A1C5-93A9-0BAC-F5B2AAB0C79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pt-PT">
                <a:solidFill>
                  <a:schemeClr val="accent3"/>
                </a:solidFill>
              </a:rPr>
              <a:t>Python</a:t>
            </a:r>
            <a:r>
              <a:rPr lang="en" sz="1400">
                <a:solidFill>
                  <a:schemeClr val="accent3"/>
                </a:solidFill>
              </a:rPr>
              <a:t>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BE2C229-3B37-9520-1D23-5B3DCB14246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lesson3.py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BB9E5F0-276B-3D56-AC4D-AE0E8DE7A1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lesson3.ipynb</a:t>
            </a:r>
            <a:endParaRPr sz="140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9D2486-7CA3-BC07-D184-EE796DB910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64" t="6963" r="5664" b="7408"/>
          <a:stretch/>
        </p:blipFill>
        <p:spPr>
          <a:xfrm>
            <a:off x="4566025" y="808846"/>
            <a:ext cx="4268602" cy="33890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2F9532-55B2-8B86-208C-D12FCB23B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5225" y="5789289"/>
            <a:ext cx="2926472" cy="39019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4660D-1AB7-4001-4393-361F0FB814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408" y="-4519107"/>
            <a:ext cx="2926472" cy="3901963"/>
          </a:xfrm>
          <a:prstGeom prst="rect">
            <a:avLst/>
          </a:prstGeom>
        </p:spPr>
      </p:pic>
      <p:pic>
        <p:nvPicPr>
          <p:cNvPr id="10" name="Picture 9" descr="Pandas Cheat Sheet - Creating DataFrames Reshaping Data – Change layout ...">
            <a:extLst>
              <a:ext uri="{FF2B5EF4-FFF2-40B4-BE49-F238E27FC236}">
                <a16:creationId xmlns:a16="http://schemas.microsoft.com/office/drawing/2014/main" id="{D92D774D-2FF3-5F7D-82D2-3171260A10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5400562" y="561970"/>
            <a:ext cx="5043115" cy="389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77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51FD959-DFB9-17F5-7A99-14D4B9CB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7C1063D2-BB70-EE03-D64E-1FA1D66F60D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pt-PT">
                <a:solidFill>
                  <a:schemeClr val="accent3"/>
                </a:solidFill>
              </a:rPr>
              <a:t>Python</a:t>
            </a:r>
            <a:r>
              <a:rPr lang="en" sz="1400">
                <a:solidFill>
                  <a:schemeClr val="accent3"/>
                </a:solidFill>
              </a:rPr>
              <a:t> Language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A46B1A1-4349-1C1C-59D9-F5EC1EC453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lesson3.py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E84AD97-B8C2-A206-BA22-66C0D0473D9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chemeClr val="accent3"/>
                </a:solidFill>
              </a:rPr>
              <a:t>lesson3.ipynb</a:t>
            </a:r>
            <a:endParaRPr sz="1400">
              <a:solidFill>
                <a:schemeClr val="accent3"/>
              </a:solidFill>
            </a:endParaRPr>
          </a:p>
        </p:txBody>
      </p:sp>
      <p:pic>
        <p:nvPicPr>
          <p:cNvPr id="5" name="Picture 4" descr="Pandas Cheat Sheet - Creating DataFrames Reshaping Data – Change layout ...">
            <a:extLst>
              <a:ext uri="{FF2B5EF4-FFF2-40B4-BE49-F238E27FC236}">
                <a16:creationId xmlns:a16="http://schemas.microsoft.com/office/drawing/2014/main" id="{463244BB-00C4-3E4F-9825-59B4526C0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158" y="561970"/>
            <a:ext cx="5043115" cy="38958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1BB5CC7-6C1C-EC22-B2F7-6EFC511FEA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408" y="555813"/>
            <a:ext cx="2926472" cy="390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393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262</Words>
  <Application>Microsoft Office PowerPoint</Application>
  <PresentationFormat>On-screen Show (16:9)</PresentationFormat>
  <Paragraphs>55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Fira Code</vt:lpstr>
      <vt:lpstr>Wingdings</vt:lpstr>
      <vt:lpstr>Programming Language Workshop for Beginners by Slidesgo</vt:lpstr>
      <vt:lpstr>Python ‘Language’ {</vt:lpstr>
      <vt:lpstr>02 {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Diogo Freitas</dc:creator>
  <cp:lastModifiedBy>Diogo Alonso de Freitas</cp:lastModifiedBy>
  <cp:revision>2</cp:revision>
  <dcterms:modified xsi:type="dcterms:W3CDTF">2026-07-02T19:52:01Z</dcterms:modified>
</cp:coreProperties>
</file>