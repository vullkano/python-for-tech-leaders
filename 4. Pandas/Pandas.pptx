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4"/>
  </p:sldMasterIdLst>
  <p:notesMasterIdLst>
    <p:notesMasterId r:id="rId10"/>
  </p:notesMasterIdLst>
  <p:sldIdLst>
    <p:sldId id="340" r:id="rId5"/>
    <p:sldId id="353" r:id="rId6"/>
    <p:sldId id="354" r:id="rId7"/>
    <p:sldId id="355" r:id="rId8"/>
    <p:sldId id="356" r:id="rId9"/>
  </p:sldIdLst>
  <p:sldSz cx="9144000" cy="5143500" type="screen16x9"/>
  <p:notesSz cx="6858000" cy="9144000"/>
  <p:embeddedFontLst>
    <p:embeddedFont>
      <p:font typeface="Livvic" pitchFamily="2" charset="0"/>
      <p:regular r:id="rId11"/>
      <p:bold r:id="rId12"/>
      <p:italic r:id="rId13"/>
      <p:boldItalic r:id="rId14"/>
    </p:embeddedFont>
    <p:embeddedFont>
      <p:font typeface="Livvic Light" pitchFamily="2" charset="0"/>
      <p:regular r:id="rId15"/>
      <p:bold r:id="rId16"/>
      <p:italic r:id="rId17"/>
      <p:boldItalic r:id="rId18"/>
    </p:embeddedFont>
    <p:embeddedFont>
      <p:font typeface="Redressed" panose="020B0604020202020204" charset="0"/>
      <p:regular r:id="rId19"/>
    </p:embeddedFont>
    <p:embeddedFont>
      <p:font typeface="Roboto Slab Light" pitchFamily="2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99F6B-8855-4490-9670-4F6A882FD6F1}" v="835" dt="2025-07-22T17:08:03.926"/>
  </p1510:revLst>
</p1510:revInfo>
</file>

<file path=ppt/tableStyles.xml><?xml version="1.0" encoding="utf-8"?>
<a:tblStyleLst xmlns:a="http://schemas.openxmlformats.org/drawingml/2006/main" def="{362DAB19-7682-4E7A-98F4-9A42130B1AC9}">
  <a:tblStyle styleId="{362DAB19-7682-4E7A-98F4-9A42130B1A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font" Target="fonts/font11.fntdata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4">
          <a:extLst>
            <a:ext uri="{FF2B5EF4-FFF2-40B4-BE49-F238E27FC236}">
              <a16:creationId xmlns:a16="http://schemas.microsoft.com/office/drawing/2014/main" id="{03ABA9C5-C43B-DBA4-76AD-CD29D93BA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g1244cc8daa9_1_217:notes">
            <a:extLst>
              <a:ext uri="{FF2B5EF4-FFF2-40B4-BE49-F238E27FC236}">
                <a16:creationId xmlns:a16="http://schemas.microsoft.com/office/drawing/2014/main" id="{1D822682-B630-DB0A-9466-F53E93A83B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6" name="Google Shape;3086;g1244cc8daa9_1_217:notes">
            <a:extLst>
              <a:ext uri="{FF2B5EF4-FFF2-40B4-BE49-F238E27FC236}">
                <a16:creationId xmlns:a16="http://schemas.microsoft.com/office/drawing/2014/main" id="{8A90C6C4-88BE-38E4-2900-84DD91C054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2982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>
          <a:extLst>
            <a:ext uri="{FF2B5EF4-FFF2-40B4-BE49-F238E27FC236}">
              <a16:creationId xmlns:a16="http://schemas.microsoft.com/office/drawing/2014/main" id="{82122C42-4078-C998-0A22-CDAB9D9D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70c1df8b91_0_5:notes">
            <a:extLst>
              <a:ext uri="{FF2B5EF4-FFF2-40B4-BE49-F238E27FC236}">
                <a16:creationId xmlns:a16="http://schemas.microsoft.com/office/drawing/2014/main" id="{9DC466AA-DCEC-DAB2-C38D-C63150DC78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70c1df8b91_0_5:notes">
            <a:extLst>
              <a:ext uri="{FF2B5EF4-FFF2-40B4-BE49-F238E27FC236}">
                <a16:creationId xmlns:a16="http://schemas.microsoft.com/office/drawing/2014/main" id="{4179AE56-18F8-FA18-80E6-A6A2BB7496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0774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>
          <a:extLst>
            <a:ext uri="{FF2B5EF4-FFF2-40B4-BE49-F238E27FC236}">
              <a16:creationId xmlns:a16="http://schemas.microsoft.com/office/drawing/2014/main" id="{B8356A0C-6CF8-8D94-F570-2554EB5D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70c1df8b91_0_5:notes">
            <a:extLst>
              <a:ext uri="{FF2B5EF4-FFF2-40B4-BE49-F238E27FC236}">
                <a16:creationId xmlns:a16="http://schemas.microsoft.com/office/drawing/2014/main" id="{318A357B-D6E5-EBB6-5EDA-D252EDFE95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70c1df8b91_0_5:notes">
            <a:extLst>
              <a:ext uri="{FF2B5EF4-FFF2-40B4-BE49-F238E27FC236}">
                <a16:creationId xmlns:a16="http://schemas.microsoft.com/office/drawing/2014/main" id="{D82664BB-6A9E-620E-8E36-4ADC81EFD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0378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>
          <a:extLst>
            <a:ext uri="{FF2B5EF4-FFF2-40B4-BE49-F238E27FC236}">
              <a16:creationId xmlns:a16="http://schemas.microsoft.com/office/drawing/2014/main" id="{C2EA58B1-8230-A132-5B6F-30F3BA37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70c1df8b91_0_5:notes">
            <a:extLst>
              <a:ext uri="{FF2B5EF4-FFF2-40B4-BE49-F238E27FC236}">
                <a16:creationId xmlns:a16="http://schemas.microsoft.com/office/drawing/2014/main" id="{0A06155F-9117-12BF-EF1D-883318703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70c1df8b91_0_5:notes">
            <a:extLst>
              <a:ext uri="{FF2B5EF4-FFF2-40B4-BE49-F238E27FC236}">
                <a16:creationId xmlns:a16="http://schemas.microsoft.com/office/drawing/2014/main" id="{9AA31C7B-910D-2E45-71B1-A491B72E4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051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077650" y="3419200"/>
            <a:ext cx="29886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923750" y="981600"/>
            <a:ext cx="5296500" cy="22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subTitle" idx="1"/>
          </p:nvPr>
        </p:nvSpPr>
        <p:spPr>
          <a:xfrm flipH="1">
            <a:off x="835078" y="2109829"/>
            <a:ext cx="3569100" cy="20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vvic"/>
                <a:ea typeface="Livvic"/>
                <a:cs typeface="Livvic"/>
                <a:sym typeface="Livv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vvic"/>
                <a:ea typeface="Livvic"/>
                <a:cs typeface="Livvic"/>
                <a:sym typeface="Livv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vvic"/>
                <a:ea typeface="Livvic"/>
                <a:cs typeface="Livvic"/>
                <a:sym typeface="Livv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vvic"/>
                <a:ea typeface="Livvic"/>
                <a:cs typeface="Livvic"/>
                <a:sym typeface="Livv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vvic"/>
                <a:ea typeface="Livvic"/>
                <a:cs typeface="Livvic"/>
                <a:sym typeface="Livv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vvic"/>
                <a:ea typeface="Livvic"/>
                <a:cs typeface="Livvic"/>
                <a:sym typeface="Livv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vvic"/>
                <a:ea typeface="Livvic"/>
                <a:cs typeface="Livvic"/>
                <a:sym typeface="Livv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vvic"/>
                <a:ea typeface="Livvic"/>
                <a:cs typeface="Livvic"/>
                <a:sym typeface="Livv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1101028" y="1456631"/>
            <a:ext cx="3037200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 b="0"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 b="0"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 b="0"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 b="0"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 b="0"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 b="0"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 b="0"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 b="0"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ctrTitle"/>
          </p:nvPr>
        </p:nvSpPr>
        <p:spPr>
          <a:xfrm>
            <a:off x="5826034" y="1395800"/>
            <a:ext cx="2711700" cy="9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ubTitle" idx="1"/>
          </p:nvPr>
        </p:nvSpPr>
        <p:spPr>
          <a:xfrm>
            <a:off x="5375734" y="2462926"/>
            <a:ext cx="3162000" cy="20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15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4572000" y="2003675"/>
            <a:ext cx="3480900" cy="15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ubTitle" idx="1"/>
          </p:nvPr>
        </p:nvSpPr>
        <p:spPr>
          <a:xfrm>
            <a:off x="4572000" y="3735575"/>
            <a:ext cx="3034800" cy="59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600">
                <a:latin typeface="Livvic"/>
                <a:ea typeface="Livvic"/>
                <a:cs typeface="Livvic"/>
                <a:sym typeface="Livv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Livvic"/>
              <a:buNone/>
              <a:defRPr sz="1200">
                <a:solidFill>
                  <a:schemeClr val="accent3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title" idx="2" hasCustomPrompt="1"/>
          </p:nvPr>
        </p:nvSpPr>
        <p:spPr>
          <a:xfrm>
            <a:off x="4659075" y="882375"/>
            <a:ext cx="1088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52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sz="36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24514" y="539500"/>
            <a:ext cx="3694960" cy="4029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8585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ressed"/>
              <a:buNone/>
              <a:defRPr sz="2800">
                <a:solidFill>
                  <a:schemeClr val="dk1"/>
                </a:solidFill>
                <a:latin typeface="Redressed"/>
                <a:ea typeface="Redressed"/>
                <a:cs typeface="Redressed"/>
                <a:sym typeface="Redres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ressed"/>
              <a:buNone/>
              <a:defRPr sz="2800">
                <a:solidFill>
                  <a:schemeClr val="dk1"/>
                </a:solidFill>
                <a:latin typeface="Redressed"/>
                <a:ea typeface="Redressed"/>
                <a:cs typeface="Redressed"/>
                <a:sym typeface="Redres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ressed"/>
              <a:buNone/>
              <a:defRPr sz="2800">
                <a:solidFill>
                  <a:schemeClr val="dk1"/>
                </a:solidFill>
                <a:latin typeface="Redressed"/>
                <a:ea typeface="Redressed"/>
                <a:cs typeface="Redressed"/>
                <a:sym typeface="Redres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ressed"/>
              <a:buNone/>
              <a:defRPr sz="2800">
                <a:solidFill>
                  <a:schemeClr val="dk1"/>
                </a:solidFill>
                <a:latin typeface="Redressed"/>
                <a:ea typeface="Redressed"/>
                <a:cs typeface="Redressed"/>
                <a:sym typeface="Redres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ressed"/>
              <a:buNone/>
              <a:defRPr sz="2800">
                <a:solidFill>
                  <a:schemeClr val="dk1"/>
                </a:solidFill>
                <a:latin typeface="Redressed"/>
                <a:ea typeface="Redressed"/>
                <a:cs typeface="Redressed"/>
                <a:sym typeface="Redres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ressed"/>
              <a:buNone/>
              <a:defRPr sz="2800">
                <a:solidFill>
                  <a:schemeClr val="dk1"/>
                </a:solidFill>
                <a:latin typeface="Redressed"/>
                <a:ea typeface="Redressed"/>
                <a:cs typeface="Redressed"/>
                <a:sym typeface="Redres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ressed"/>
              <a:buNone/>
              <a:defRPr sz="2800">
                <a:solidFill>
                  <a:schemeClr val="dk1"/>
                </a:solidFill>
                <a:latin typeface="Redressed"/>
                <a:ea typeface="Redressed"/>
                <a:cs typeface="Redressed"/>
                <a:sym typeface="Redres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ressed"/>
              <a:buNone/>
              <a:defRPr sz="2800">
                <a:solidFill>
                  <a:schemeClr val="dk1"/>
                </a:solidFill>
                <a:latin typeface="Redressed"/>
                <a:ea typeface="Redressed"/>
                <a:cs typeface="Redressed"/>
                <a:sym typeface="Redres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ressed"/>
              <a:buNone/>
              <a:defRPr sz="2800">
                <a:solidFill>
                  <a:schemeClr val="dk1"/>
                </a:solidFill>
                <a:latin typeface="Redressed"/>
                <a:ea typeface="Redressed"/>
                <a:cs typeface="Redressed"/>
                <a:sym typeface="Redres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585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vvic Light"/>
              <a:buChar char="●"/>
              <a:defRPr sz="1800">
                <a:solidFill>
                  <a:schemeClr val="dk1"/>
                </a:solidFill>
                <a:latin typeface="Livvic Light"/>
                <a:ea typeface="Livvic Light"/>
                <a:cs typeface="Livvic Light"/>
                <a:sym typeface="Livvic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vvic Light"/>
              <a:buChar char="○"/>
              <a:defRPr>
                <a:solidFill>
                  <a:schemeClr val="dk1"/>
                </a:solidFill>
                <a:latin typeface="Livvic Light"/>
                <a:ea typeface="Livvic Light"/>
                <a:cs typeface="Livvic Light"/>
                <a:sym typeface="Livvic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vvic Light"/>
              <a:buChar char="■"/>
              <a:defRPr>
                <a:solidFill>
                  <a:schemeClr val="dk1"/>
                </a:solidFill>
                <a:latin typeface="Livvic Light"/>
                <a:ea typeface="Livvic Light"/>
                <a:cs typeface="Livvic Light"/>
                <a:sym typeface="Livvic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vvic Light"/>
              <a:buChar char="●"/>
              <a:defRPr>
                <a:solidFill>
                  <a:schemeClr val="dk1"/>
                </a:solidFill>
                <a:latin typeface="Livvic Light"/>
                <a:ea typeface="Livvic Light"/>
                <a:cs typeface="Livvic Light"/>
                <a:sym typeface="Livvic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vvic Light"/>
              <a:buChar char="○"/>
              <a:defRPr>
                <a:solidFill>
                  <a:schemeClr val="dk1"/>
                </a:solidFill>
                <a:latin typeface="Livvic Light"/>
                <a:ea typeface="Livvic Light"/>
                <a:cs typeface="Livvic Light"/>
                <a:sym typeface="Livvic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vvic Light"/>
              <a:buChar char="■"/>
              <a:defRPr>
                <a:solidFill>
                  <a:schemeClr val="dk1"/>
                </a:solidFill>
                <a:latin typeface="Livvic Light"/>
                <a:ea typeface="Livvic Light"/>
                <a:cs typeface="Livvic Light"/>
                <a:sym typeface="Livvic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vvic Light"/>
              <a:buChar char="●"/>
              <a:defRPr>
                <a:solidFill>
                  <a:schemeClr val="dk1"/>
                </a:solidFill>
                <a:latin typeface="Livvic Light"/>
                <a:ea typeface="Livvic Light"/>
                <a:cs typeface="Livvic Light"/>
                <a:sym typeface="Livvic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ivvic Light"/>
              <a:buChar char="○"/>
              <a:defRPr>
                <a:solidFill>
                  <a:schemeClr val="dk1"/>
                </a:solidFill>
                <a:latin typeface="Livvic Light"/>
                <a:ea typeface="Livvic Light"/>
                <a:cs typeface="Livvic Light"/>
                <a:sym typeface="Livvic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ivvic Light"/>
              <a:buChar char="■"/>
              <a:defRPr>
                <a:solidFill>
                  <a:schemeClr val="dk1"/>
                </a:solidFill>
                <a:latin typeface="Livvic Light"/>
                <a:ea typeface="Livvic Light"/>
                <a:cs typeface="Livvic Light"/>
                <a:sym typeface="Livvic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63" r:id="rId6"/>
    <p:sldLayoutId id="2147483691" r:id="rId7"/>
    <p:sldLayoutId id="2147483692" r:id="rId8"/>
    <p:sldLayoutId id="2147483693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rgis-edu.github.io/corgis/csv/classi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>
            <a:spLocks noGrp="1"/>
          </p:cNvSpPr>
          <p:nvPr>
            <p:ph type="subTitle" idx="1"/>
          </p:nvPr>
        </p:nvSpPr>
        <p:spPr>
          <a:xfrm>
            <a:off x="3077650" y="2524697"/>
            <a:ext cx="2988600" cy="9432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400"/>
              <a:t>Módulo V</a:t>
            </a:r>
          </a:p>
          <a:p>
            <a:pPr marL="0" lvl="0" indent="0" algn="ctr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400"/>
              <a:t>Para além da edição: O digital na Investigação Linguística</a:t>
            </a:r>
            <a:endParaRPr sz="1400"/>
          </a:p>
        </p:txBody>
      </p:sp>
      <p:pic>
        <p:nvPicPr>
          <p:cNvPr id="469" name="Google Shape;46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23171" y="3172332"/>
            <a:ext cx="3216325" cy="214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573226" y="-505463"/>
            <a:ext cx="3633526" cy="3183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1" name="Google Shape;471;p55"/>
          <p:cNvGrpSpPr/>
          <p:nvPr/>
        </p:nvGrpSpPr>
        <p:grpSpPr>
          <a:xfrm>
            <a:off x="3438669" y="2455122"/>
            <a:ext cx="2255901" cy="69575"/>
            <a:chOff x="446800" y="1721825"/>
            <a:chExt cx="259025" cy="18325"/>
          </a:xfrm>
        </p:grpSpPr>
        <p:sp>
          <p:nvSpPr>
            <p:cNvPr id="472" name="Google Shape;472;p55"/>
            <p:cNvSpPr/>
            <p:nvPr/>
          </p:nvSpPr>
          <p:spPr>
            <a:xfrm>
              <a:off x="447225" y="1724725"/>
              <a:ext cx="258600" cy="15425"/>
            </a:xfrm>
            <a:custGeom>
              <a:avLst/>
              <a:gdLst/>
              <a:ahLst/>
              <a:cxnLst/>
              <a:rect l="l" t="t" r="r" b="b"/>
              <a:pathLst>
                <a:path w="10344" h="617" extrusionOk="0">
                  <a:moveTo>
                    <a:pt x="371" y="0"/>
                  </a:moveTo>
                  <a:cubicBezTo>
                    <a:pt x="274" y="0"/>
                    <a:pt x="176" y="4"/>
                    <a:pt x="77" y="13"/>
                  </a:cubicBezTo>
                  <a:cubicBezTo>
                    <a:pt x="1" y="13"/>
                    <a:pt x="3" y="132"/>
                    <a:pt x="78" y="132"/>
                  </a:cubicBezTo>
                  <a:cubicBezTo>
                    <a:pt x="79" y="132"/>
                    <a:pt x="80" y="132"/>
                    <a:pt x="81" y="132"/>
                  </a:cubicBezTo>
                  <a:cubicBezTo>
                    <a:pt x="246" y="140"/>
                    <a:pt x="410" y="177"/>
                    <a:pt x="574" y="189"/>
                  </a:cubicBezTo>
                  <a:cubicBezTo>
                    <a:pt x="738" y="206"/>
                    <a:pt x="902" y="226"/>
                    <a:pt x="1062" y="247"/>
                  </a:cubicBezTo>
                  <a:cubicBezTo>
                    <a:pt x="1226" y="263"/>
                    <a:pt x="1395" y="271"/>
                    <a:pt x="1555" y="292"/>
                  </a:cubicBezTo>
                  <a:cubicBezTo>
                    <a:pt x="1719" y="317"/>
                    <a:pt x="1883" y="325"/>
                    <a:pt x="2047" y="349"/>
                  </a:cubicBezTo>
                  <a:cubicBezTo>
                    <a:pt x="2211" y="378"/>
                    <a:pt x="2375" y="431"/>
                    <a:pt x="2543" y="448"/>
                  </a:cubicBezTo>
                  <a:cubicBezTo>
                    <a:pt x="2712" y="464"/>
                    <a:pt x="2880" y="485"/>
                    <a:pt x="3052" y="497"/>
                  </a:cubicBezTo>
                  <a:cubicBezTo>
                    <a:pt x="3093" y="500"/>
                    <a:pt x="3134" y="501"/>
                    <a:pt x="3175" y="501"/>
                  </a:cubicBezTo>
                  <a:cubicBezTo>
                    <a:pt x="3273" y="501"/>
                    <a:pt x="3371" y="495"/>
                    <a:pt x="3470" y="495"/>
                  </a:cubicBezTo>
                  <a:cubicBezTo>
                    <a:pt x="3501" y="495"/>
                    <a:pt x="3531" y="496"/>
                    <a:pt x="3561" y="497"/>
                  </a:cubicBezTo>
                  <a:cubicBezTo>
                    <a:pt x="3729" y="501"/>
                    <a:pt x="3898" y="518"/>
                    <a:pt x="4066" y="526"/>
                  </a:cubicBezTo>
                  <a:cubicBezTo>
                    <a:pt x="4152" y="530"/>
                    <a:pt x="4235" y="530"/>
                    <a:pt x="4318" y="530"/>
                  </a:cubicBezTo>
                  <a:cubicBezTo>
                    <a:pt x="4400" y="530"/>
                    <a:pt x="4482" y="530"/>
                    <a:pt x="4566" y="534"/>
                  </a:cubicBezTo>
                  <a:cubicBezTo>
                    <a:pt x="4730" y="538"/>
                    <a:pt x="4895" y="591"/>
                    <a:pt x="5063" y="596"/>
                  </a:cubicBezTo>
                  <a:cubicBezTo>
                    <a:pt x="5078" y="596"/>
                    <a:pt x="5093" y="596"/>
                    <a:pt x="5108" y="596"/>
                  </a:cubicBezTo>
                  <a:cubicBezTo>
                    <a:pt x="5243" y="596"/>
                    <a:pt x="5380" y="583"/>
                    <a:pt x="5514" y="583"/>
                  </a:cubicBezTo>
                  <a:cubicBezTo>
                    <a:pt x="5529" y="583"/>
                    <a:pt x="5544" y="583"/>
                    <a:pt x="5559" y="583"/>
                  </a:cubicBezTo>
                  <a:cubicBezTo>
                    <a:pt x="5615" y="585"/>
                    <a:pt x="5671" y="585"/>
                    <a:pt x="5727" y="585"/>
                  </a:cubicBezTo>
                  <a:cubicBezTo>
                    <a:pt x="5837" y="585"/>
                    <a:pt x="5948" y="583"/>
                    <a:pt x="6060" y="583"/>
                  </a:cubicBezTo>
                  <a:cubicBezTo>
                    <a:pt x="6224" y="583"/>
                    <a:pt x="6392" y="616"/>
                    <a:pt x="6556" y="616"/>
                  </a:cubicBezTo>
                  <a:cubicBezTo>
                    <a:pt x="6721" y="616"/>
                    <a:pt x="6889" y="600"/>
                    <a:pt x="7053" y="600"/>
                  </a:cubicBezTo>
                  <a:cubicBezTo>
                    <a:pt x="7221" y="596"/>
                    <a:pt x="7385" y="563"/>
                    <a:pt x="7554" y="559"/>
                  </a:cubicBezTo>
                  <a:cubicBezTo>
                    <a:pt x="7570" y="558"/>
                    <a:pt x="7587" y="557"/>
                    <a:pt x="7603" y="557"/>
                  </a:cubicBezTo>
                  <a:cubicBezTo>
                    <a:pt x="7735" y="557"/>
                    <a:pt x="7869" y="580"/>
                    <a:pt x="8000" y="580"/>
                  </a:cubicBezTo>
                  <a:cubicBezTo>
                    <a:pt x="8017" y="580"/>
                    <a:pt x="8033" y="580"/>
                    <a:pt x="8050" y="579"/>
                  </a:cubicBezTo>
                  <a:cubicBezTo>
                    <a:pt x="8243" y="571"/>
                    <a:pt x="8428" y="522"/>
                    <a:pt x="8616" y="509"/>
                  </a:cubicBezTo>
                  <a:cubicBezTo>
                    <a:pt x="8805" y="497"/>
                    <a:pt x="8994" y="477"/>
                    <a:pt x="9178" y="460"/>
                  </a:cubicBezTo>
                  <a:cubicBezTo>
                    <a:pt x="9367" y="440"/>
                    <a:pt x="9560" y="448"/>
                    <a:pt x="9749" y="427"/>
                  </a:cubicBezTo>
                  <a:cubicBezTo>
                    <a:pt x="9938" y="403"/>
                    <a:pt x="10122" y="370"/>
                    <a:pt x="10311" y="341"/>
                  </a:cubicBezTo>
                  <a:cubicBezTo>
                    <a:pt x="10340" y="337"/>
                    <a:pt x="10344" y="267"/>
                    <a:pt x="10311" y="267"/>
                  </a:cubicBezTo>
                  <a:cubicBezTo>
                    <a:pt x="10143" y="271"/>
                    <a:pt x="9974" y="280"/>
                    <a:pt x="9810" y="284"/>
                  </a:cubicBezTo>
                  <a:cubicBezTo>
                    <a:pt x="9642" y="288"/>
                    <a:pt x="9474" y="308"/>
                    <a:pt x="9310" y="312"/>
                  </a:cubicBezTo>
                  <a:cubicBezTo>
                    <a:pt x="9141" y="317"/>
                    <a:pt x="8977" y="325"/>
                    <a:pt x="8809" y="329"/>
                  </a:cubicBezTo>
                  <a:cubicBezTo>
                    <a:pt x="8641" y="333"/>
                    <a:pt x="8477" y="345"/>
                    <a:pt x="8309" y="349"/>
                  </a:cubicBezTo>
                  <a:cubicBezTo>
                    <a:pt x="8296" y="350"/>
                    <a:pt x="8283" y="350"/>
                    <a:pt x="8270" y="350"/>
                  </a:cubicBezTo>
                  <a:cubicBezTo>
                    <a:pt x="8115" y="350"/>
                    <a:pt x="7963" y="329"/>
                    <a:pt x="7808" y="329"/>
                  </a:cubicBezTo>
                  <a:cubicBezTo>
                    <a:pt x="7640" y="333"/>
                    <a:pt x="7476" y="382"/>
                    <a:pt x="7307" y="386"/>
                  </a:cubicBezTo>
                  <a:cubicBezTo>
                    <a:pt x="7300" y="387"/>
                    <a:pt x="7293" y="387"/>
                    <a:pt x="7285" y="387"/>
                  </a:cubicBezTo>
                  <a:cubicBezTo>
                    <a:pt x="7132" y="387"/>
                    <a:pt x="6982" y="349"/>
                    <a:pt x="6829" y="349"/>
                  </a:cubicBezTo>
                  <a:cubicBezTo>
                    <a:pt x="6821" y="349"/>
                    <a:pt x="6814" y="349"/>
                    <a:pt x="6807" y="349"/>
                  </a:cubicBezTo>
                  <a:lnTo>
                    <a:pt x="6306" y="349"/>
                  </a:lnTo>
                  <a:cubicBezTo>
                    <a:pt x="6160" y="349"/>
                    <a:pt x="6011" y="362"/>
                    <a:pt x="5862" y="362"/>
                  </a:cubicBezTo>
                  <a:cubicBezTo>
                    <a:pt x="5843" y="362"/>
                    <a:pt x="5824" y="362"/>
                    <a:pt x="5806" y="362"/>
                  </a:cubicBezTo>
                  <a:cubicBezTo>
                    <a:pt x="5751" y="360"/>
                    <a:pt x="5696" y="360"/>
                    <a:pt x="5640" y="360"/>
                  </a:cubicBezTo>
                  <a:cubicBezTo>
                    <a:pt x="5529" y="360"/>
                    <a:pt x="5417" y="362"/>
                    <a:pt x="5305" y="362"/>
                  </a:cubicBezTo>
                  <a:cubicBezTo>
                    <a:pt x="5193" y="362"/>
                    <a:pt x="5082" y="365"/>
                    <a:pt x="4972" y="365"/>
                  </a:cubicBezTo>
                  <a:cubicBezTo>
                    <a:pt x="4916" y="365"/>
                    <a:pt x="4860" y="364"/>
                    <a:pt x="4804" y="362"/>
                  </a:cubicBezTo>
                  <a:cubicBezTo>
                    <a:pt x="4636" y="354"/>
                    <a:pt x="4472" y="329"/>
                    <a:pt x="4304" y="321"/>
                  </a:cubicBezTo>
                  <a:cubicBezTo>
                    <a:pt x="4220" y="317"/>
                    <a:pt x="4137" y="317"/>
                    <a:pt x="4053" y="317"/>
                  </a:cubicBezTo>
                  <a:cubicBezTo>
                    <a:pt x="3970" y="317"/>
                    <a:pt x="3887" y="317"/>
                    <a:pt x="3803" y="312"/>
                  </a:cubicBezTo>
                  <a:cubicBezTo>
                    <a:pt x="3635" y="308"/>
                    <a:pt x="3471" y="255"/>
                    <a:pt x="3307" y="247"/>
                  </a:cubicBezTo>
                  <a:cubicBezTo>
                    <a:pt x="3138" y="239"/>
                    <a:pt x="2974" y="230"/>
                    <a:pt x="2806" y="218"/>
                  </a:cubicBezTo>
                  <a:cubicBezTo>
                    <a:pt x="2638" y="210"/>
                    <a:pt x="2474" y="198"/>
                    <a:pt x="2305" y="185"/>
                  </a:cubicBezTo>
                  <a:cubicBezTo>
                    <a:pt x="2117" y="173"/>
                    <a:pt x="1924" y="173"/>
                    <a:pt x="1731" y="152"/>
                  </a:cubicBezTo>
                  <a:cubicBezTo>
                    <a:pt x="1542" y="136"/>
                    <a:pt x="1354" y="111"/>
                    <a:pt x="1165" y="79"/>
                  </a:cubicBezTo>
                  <a:cubicBezTo>
                    <a:pt x="984" y="50"/>
                    <a:pt x="804" y="21"/>
                    <a:pt x="623" y="9"/>
                  </a:cubicBezTo>
                  <a:cubicBezTo>
                    <a:pt x="539" y="3"/>
                    <a:pt x="456" y="0"/>
                    <a:pt x="371" y="0"/>
                  </a:cubicBezTo>
                  <a:close/>
                </a:path>
              </a:pathLst>
            </a:custGeom>
            <a:solidFill>
              <a:srgbClr val="5D3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5"/>
            <p:cNvSpPr/>
            <p:nvPr/>
          </p:nvSpPr>
          <p:spPr>
            <a:xfrm>
              <a:off x="446800" y="1721825"/>
              <a:ext cx="258725" cy="10325"/>
            </a:xfrm>
            <a:custGeom>
              <a:avLst/>
              <a:gdLst/>
              <a:ahLst/>
              <a:cxnLst/>
              <a:rect l="l" t="t" r="r" b="b"/>
              <a:pathLst>
                <a:path w="10349" h="413" extrusionOk="0">
                  <a:moveTo>
                    <a:pt x="825" y="1"/>
                  </a:moveTo>
                  <a:cubicBezTo>
                    <a:pt x="792" y="1"/>
                    <a:pt x="759" y="1"/>
                    <a:pt x="726" y="2"/>
                  </a:cubicBezTo>
                  <a:cubicBezTo>
                    <a:pt x="558" y="2"/>
                    <a:pt x="390" y="14"/>
                    <a:pt x="222" y="26"/>
                  </a:cubicBezTo>
                  <a:cubicBezTo>
                    <a:pt x="0" y="43"/>
                    <a:pt x="4" y="232"/>
                    <a:pt x="222" y="252"/>
                  </a:cubicBezTo>
                  <a:cubicBezTo>
                    <a:pt x="390" y="268"/>
                    <a:pt x="550" y="318"/>
                    <a:pt x="718" y="330"/>
                  </a:cubicBezTo>
                  <a:cubicBezTo>
                    <a:pt x="882" y="346"/>
                    <a:pt x="1046" y="355"/>
                    <a:pt x="1215" y="367"/>
                  </a:cubicBezTo>
                  <a:cubicBezTo>
                    <a:pt x="1263" y="371"/>
                    <a:pt x="1312" y="372"/>
                    <a:pt x="1361" y="372"/>
                  </a:cubicBezTo>
                  <a:cubicBezTo>
                    <a:pt x="1442" y="372"/>
                    <a:pt x="1523" y="369"/>
                    <a:pt x="1605" y="369"/>
                  </a:cubicBezTo>
                  <a:cubicBezTo>
                    <a:pt x="1642" y="369"/>
                    <a:pt x="1678" y="369"/>
                    <a:pt x="1715" y="371"/>
                  </a:cubicBezTo>
                  <a:cubicBezTo>
                    <a:pt x="1879" y="379"/>
                    <a:pt x="2043" y="387"/>
                    <a:pt x="2212" y="392"/>
                  </a:cubicBezTo>
                  <a:cubicBezTo>
                    <a:pt x="2380" y="396"/>
                    <a:pt x="2544" y="412"/>
                    <a:pt x="2708" y="412"/>
                  </a:cubicBezTo>
                  <a:cubicBezTo>
                    <a:pt x="2876" y="408"/>
                    <a:pt x="3045" y="387"/>
                    <a:pt x="3209" y="383"/>
                  </a:cubicBezTo>
                  <a:cubicBezTo>
                    <a:pt x="3377" y="383"/>
                    <a:pt x="3545" y="412"/>
                    <a:pt x="3709" y="412"/>
                  </a:cubicBezTo>
                  <a:cubicBezTo>
                    <a:pt x="3878" y="412"/>
                    <a:pt x="4046" y="371"/>
                    <a:pt x="4210" y="371"/>
                  </a:cubicBezTo>
                  <a:cubicBezTo>
                    <a:pt x="4368" y="371"/>
                    <a:pt x="4527" y="400"/>
                    <a:pt x="4682" y="400"/>
                  </a:cubicBezTo>
                  <a:cubicBezTo>
                    <a:pt x="4691" y="400"/>
                    <a:pt x="4701" y="400"/>
                    <a:pt x="4711" y="400"/>
                  </a:cubicBezTo>
                  <a:cubicBezTo>
                    <a:pt x="4879" y="400"/>
                    <a:pt x="5047" y="371"/>
                    <a:pt x="5211" y="371"/>
                  </a:cubicBezTo>
                  <a:cubicBezTo>
                    <a:pt x="5361" y="371"/>
                    <a:pt x="5510" y="384"/>
                    <a:pt x="5660" y="384"/>
                  </a:cubicBezTo>
                  <a:cubicBezTo>
                    <a:pt x="5678" y="384"/>
                    <a:pt x="5697" y="384"/>
                    <a:pt x="5716" y="383"/>
                  </a:cubicBezTo>
                  <a:cubicBezTo>
                    <a:pt x="5884" y="383"/>
                    <a:pt x="6052" y="367"/>
                    <a:pt x="6221" y="363"/>
                  </a:cubicBezTo>
                  <a:cubicBezTo>
                    <a:pt x="6389" y="363"/>
                    <a:pt x="6557" y="387"/>
                    <a:pt x="6725" y="387"/>
                  </a:cubicBezTo>
                  <a:cubicBezTo>
                    <a:pt x="6893" y="383"/>
                    <a:pt x="7062" y="375"/>
                    <a:pt x="7230" y="371"/>
                  </a:cubicBezTo>
                  <a:cubicBezTo>
                    <a:pt x="7398" y="367"/>
                    <a:pt x="7566" y="346"/>
                    <a:pt x="7735" y="342"/>
                  </a:cubicBezTo>
                  <a:cubicBezTo>
                    <a:pt x="7903" y="334"/>
                    <a:pt x="8067" y="342"/>
                    <a:pt x="8231" y="330"/>
                  </a:cubicBezTo>
                  <a:cubicBezTo>
                    <a:pt x="8399" y="322"/>
                    <a:pt x="8564" y="305"/>
                    <a:pt x="8732" y="293"/>
                  </a:cubicBezTo>
                  <a:cubicBezTo>
                    <a:pt x="8896" y="285"/>
                    <a:pt x="9064" y="285"/>
                    <a:pt x="9228" y="273"/>
                  </a:cubicBezTo>
                  <a:cubicBezTo>
                    <a:pt x="9392" y="260"/>
                    <a:pt x="9557" y="207"/>
                    <a:pt x="9721" y="190"/>
                  </a:cubicBezTo>
                  <a:cubicBezTo>
                    <a:pt x="9747" y="188"/>
                    <a:pt x="9774" y="188"/>
                    <a:pt x="9801" y="188"/>
                  </a:cubicBezTo>
                  <a:cubicBezTo>
                    <a:pt x="9914" y="188"/>
                    <a:pt x="10028" y="202"/>
                    <a:pt x="10140" y="202"/>
                  </a:cubicBezTo>
                  <a:cubicBezTo>
                    <a:pt x="10168" y="202"/>
                    <a:pt x="10195" y="201"/>
                    <a:pt x="10221" y="199"/>
                  </a:cubicBezTo>
                  <a:cubicBezTo>
                    <a:pt x="10312" y="190"/>
                    <a:pt x="10348" y="84"/>
                    <a:pt x="10242" y="71"/>
                  </a:cubicBezTo>
                  <a:cubicBezTo>
                    <a:pt x="10057" y="53"/>
                    <a:pt x="9878" y="21"/>
                    <a:pt x="9694" y="21"/>
                  </a:cubicBezTo>
                  <a:cubicBezTo>
                    <a:pt x="9674" y="21"/>
                    <a:pt x="9654" y="21"/>
                    <a:pt x="9634" y="22"/>
                  </a:cubicBezTo>
                  <a:cubicBezTo>
                    <a:pt x="9433" y="30"/>
                    <a:pt x="9232" y="35"/>
                    <a:pt x="9027" y="47"/>
                  </a:cubicBezTo>
                  <a:cubicBezTo>
                    <a:pt x="8826" y="55"/>
                    <a:pt x="8625" y="71"/>
                    <a:pt x="8424" y="71"/>
                  </a:cubicBezTo>
                  <a:cubicBezTo>
                    <a:pt x="8223" y="76"/>
                    <a:pt x="8022" y="113"/>
                    <a:pt x="7821" y="113"/>
                  </a:cubicBezTo>
                  <a:cubicBezTo>
                    <a:pt x="7648" y="113"/>
                    <a:pt x="7480" y="67"/>
                    <a:pt x="7308" y="67"/>
                  </a:cubicBezTo>
                  <a:cubicBezTo>
                    <a:pt x="7136" y="67"/>
                    <a:pt x="6967" y="80"/>
                    <a:pt x="6795" y="80"/>
                  </a:cubicBezTo>
                  <a:cubicBezTo>
                    <a:pt x="6776" y="79"/>
                    <a:pt x="6757" y="79"/>
                    <a:pt x="6738" y="79"/>
                  </a:cubicBezTo>
                  <a:cubicBezTo>
                    <a:pt x="6585" y="79"/>
                    <a:pt x="6435" y="92"/>
                    <a:pt x="6282" y="92"/>
                  </a:cubicBezTo>
                  <a:lnTo>
                    <a:pt x="5769" y="88"/>
                  </a:lnTo>
                  <a:cubicBezTo>
                    <a:pt x="5597" y="88"/>
                    <a:pt x="5429" y="59"/>
                    <a:pt x="5256" y="59"/>
                  </a:cubicBezTo>
                  <a:cubicBezTo>
                    <a:pt x="5084" y="55"/>
                    <a:pt x="4924" y="51"/>
                    <a:pt x="4756" y="51"/>
                  </a:cubicBezTo>
                  <a:cubicBezTo>
                    <a:pt x="4732" y="50"/>
                    <a:pt x="4708" y="50"/>
                    <a:pt x="4684" y="50"/>
                  </a:cubicBezTo>
                  <a:cubicBezTo>
                    <a:pt x="4540" y="50"/>
                    <a:pt x="4399" y="59"/>
                    <a:pt x="4255" y="59"/>
                  </a:cubicBezTo>
                  <a:cubicBezTo>
                    <a:pt x="4240" y="59"/>
                    <a:pt x="4225" y="59"/>
                    <a:pt x="4209" y="59"/>
                  </a:cubicBezTo>
                  <a:cubicBezTo>
                    <a:pt x="4057" y="59"/>
                    <a:pt x="3907" y="76"/>
                    <a:pt x="3755" y="76"/>
                  </a:cubicBezTo>
                  <a:cubicBezTo>
                    <a:pt x="3586" y="76"/>
                    <a:pt x="3422" y="55"/>
                    <a:pt x="3254" y="51"/>
                  </a:cubicBezTo>
                  <a:cubicBezTo>
                    <a:pt x="3086" y="51"/>
                    <a:pt x="2922" y="59"/>
                    <a:pt x="2753" y="59"/>
                  </a:cubicBezTo>
                  <a:cubicBezTo>
                    <a:pt x="2585" y="55"/>
                    <a:pt x="2417" y="22"/>
                    <a:pt x="2249" y="14"/>
                  </a:cubicBezTo>
                  <a:cubicBezTo>
                    <a:pt x="2164" y="12"/>
                    <a:pt x="2080" y="12"/>
                    <a:pt x="1996" y="12"/>
                  </a:cubicBezTo>
                  <a:cubicBezTo>
                    <a:pt x="1911" y="12"/>
                    <a:pt x="1826" y="12"/>
                    <a:pt x="1740" y="10"/>
                  </a:cubicBezTo>
                  <a:cubicBezTo>
                    <a:pt x="1696" y="8"/>
                    <a:pt x="1652" y="7"/>
                    <a:pt x="1608" y="7"/>
                  </a:cubicBezTo>
                  <a:cubicBezTo>
                    <a:pt x="1509" y="7"/>
                    <a:pt x="1410" y="11"/>
                    <a:pt x="1311" y="11"/>
                  </a:cubicBezTo>
                  <a:cubicBezTo>
                    <a:pt x="1286" y="11"/>
                    <a:pt x="1260" y="11"/>
                    <a:pt x="1235" y="10"/>
                  </a:cubicBezTo>
                  <a:cubicBezTo>
                    <a:pt x="1099" y="7"/>
                    <a:pt x="963" y="1"/>
                    <a:pt x="825" y="1"/>
                  </a:cubicBezTo>
                  <a:close/>
                </a:path>
              </a:pathLst>
            </a:custGeom>
            <a:solidFill>
              <a:srgbClr val="5D3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4" name="Google Shape;474;p55"/>
          <p:cNvPicPr preferRelativeResize="0"/>
          <p:nvPr/>
        </p:nvPicPr>
        <p:blipFill rotWithShape="1">
          <a:blip r:embed="rId5">
            <a:alphaModFix/>
          </a:blip>
          <a:srcRect t="199" b="199"/>
          <a:stretch/>
        </p:blipFill>
        <p:spPr>
          <a:xfrm rot="902439">
            <a:off x="6802692" y="3092866"/>
            <a:ext cx="1432117" cy="1957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723688">
            <a:off x="721651" y="-179734"/>
            <a:ext cx="2255899" cy="2953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B95DF45-7CEC-BE6B-FCA0-A202B52D7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393" y="3498307"/>
            <a:ext cx="2635593" cy="1146666"/>
          </a:xfrm>
          <a:prstGeom prst="rect">
            <a:avLst/>
          </a:prstGeom>
          <a:ln w="1905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468;p55">
            <a:extLst>
              <a:ext uri="{FF2B5EF4-FFF2-40B4-BE49-F238E27FC236}">
                <a16:creationId xmlns:a16="http://schemas.microsoft.com/office/drawing/2014/main" id="{D33DDE40-E54B-2A4E-FEA9-E48DD40BC9B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438669" y="1481511"/>
            <a:ext cx="2253288" cy="9432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AULA III</a:t>
            </a:r>
            <a:endParaRPr sz="4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7">
          <a:extLst>
            <a:ext uri="{FF2B5EF4-FFF2-40B4-BE49-F238E27FC236}">
              <a16:creationId xmlns:a16="http://schemas.microsoft.com/office/drawing/2014/main" id="{F3D64046-00F8-00DC-B8E9-0053B4C90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91">
            <a:extLst>
              <a:ext uri="{FF2B5EF4-FFF2-40B4-BE49-F238E27FC236}">
                <a16:creationId xmlns:a16="http://schemas.microsoft.com/office/drawing/2014/main" id="{E4159962-6EE7-D4AF-E379-84E315D83FD5}"/>
              </a:ext>
            </a:extLst>
          </p:cNvPr>
          <p:cNvSpPr/>
          <p:nvPr/>
        </p:nvSpPr>
        <p:spPr>
          <a:xfrm>
            <a:off x="4659035" y="810024"/>
            <a:ext cx="1088480" cy="986491"/>
          </a:xfrm>
          <a:custGeom>
            <a:avLst/>
            <a:gdLst/>
            <a:ahLst/>
            <a:cxnLst/>
            <a:rect l="l" t="t" r="r" b="b"/>
            <a:pathLst>
              <a:path w="21868" h="19819" extrusionOk="0">
                <a:moveTo>
                  <a:pt x="103" y="1"/>
                </a:moveTo>
                <a:lnTo>
                  <a:pt x="91" y="2738"/>
                </a:lnTo>
                <a:cubicBezTo>
                  <a:pt x="83" y="3694"/>
                  <a:pt x="71" y="4658"/>
                  <a:pt x="62" y="5643"/>
                </a:cubicBezTo>
                <a:cubicBezTo>
                  <a:pt x="46" y="7641"/>
                  <a:pt x="34" y="9414"/>
                  <a:pt x="17" y="11297"/>
                </a:cubicBezTo>
                <a:cubicBezTo>
                  <a:pt x="17" y="12274"/>
                  <a:pt x="25" y="13172"/>
                  <a:pt x="25" y="13997"/>
                </a:cubicBezTo>
                <a:cubicBezTo>
                  <a:pt x="30" y="14408"/>
                  <a:pt x="30" y="14801"/>
                  <a:pt x="25" y="15175"/>
                </a:cubicBezTo>
                <a:cubicBezTo>
                  <a:pt x="25" y="15593"/>
                  <a:pt x="21" y="16004"/>
                  <a:pt x="21" y="16406"/>
                </a:cubicBezTo>
                <a:cubicBezTo>
                  <a:pt x="13" y="17222"/>
                  <a:pt x="9" y="18006"/>
                  <a:pt x="5" y="18765"/>
                </a:cubicBezTo>
                <a:cubicBezTo>
                  <a:pt x="1" y="19114"/>
                  <a:pt x="1" y="19426"/>
                  <a:pt x="1" y="19705"/>
                </a:cubicBezTo>
                <a:lnTo>
                  <a:pt x="739" y="19717"/>
                </a:lnTo>
                <a:lnTo>
                  <a:pt x="1347" y="19725"/>
                </a:lnTo>
                <a:lnTo>
                  <a:pt x="3349" y="19762"/>
                </a:lnTo>
                <a:cubicBezTo>
                  <a:pt x="4010" y="19771"/>
                  <a:pt x="4724" y="19775"/>
                  <a:pt x="5343" y="19775"/>
                </a:cubicBezTo>
                <a:cubicBezTo>
                  <a:pt x="6578" y="19771"/>
                  <a:pt x="7502" y="19754"/>
                  <a:pt x="8207" y="19754"/>
                </a:cubicBezTo>
                <a:cubicBezTo>
                  <a:pt x="8893" y="19754"/>
                  <a:pt x="9418" y="19762"/>
                  <a:pt x="9812" y="19766"/>
                </a:cubicBezTo>
                <a:cubicBezTo>
                  <a:pt x="10620" y="19779"/>
                  <a:pt x="11465" y="19799"/>
                  <a:pt x="12348" y="19807"/>
                </a:cubicBezTo>
                <a:lnTo>
                  <a:pt x="13016" y="19816"/>
                </a:lnTo>
                <a:lnTo>
                  <a:pt x="14723" y="19816"/>
                </a:lnTo>
                <a:cubicBezTo>
                  <a:pt x="15323" y="19817"/>
                  <a:pt x="15893" y="19818"/>
                  <a:pt x="16430" y="19818"/>
                </a:cubicBezTo>
                <a:cubicBezTo>
                  <a:pt x="17188" y="19818"/>
                  <a:pt x="17881" y="19816"/>
                  <a:pt x="18498" y="19812"/>
                </a:cubicBezTo>
                <a:cubicBezTo>
                  <a:pt x="19553" y="19803"/>
                  <a:pt x="20390" y="19795"/>
                  <a:pt x="20964" y="19779"/>
                </a:cubicBezTo>
                <a:cubicBezTo>
                  <a:pt x="21539" y="19766"/>
                  <a:pt x="21855" y="19750"/>
                  <a:pt x="21859" y="19729"/>
                </a:cubicBezTo>
                <a:cubicBezTo>
                  <a:pt x="21867" y="19709"/>
                  <a:pt x="21564" y="19688"/>
                  <a:pt x="21001" y="19668"/>
                </a:cubicBezTo>
                <a:cubicBezTo>
                  <a:pt x="20439" y="19652"/>
                  <a:pt x="19614" y="19631"/>
                  <a:pt x="18572" y="19615"/>
                </a:cubicBezTo>
                <a:lnTo>
                  <a:pt x="14826" y="19557"/>
                </a:lnTo>
                <a:lnTo>
                  <a:pt x="13718" y="19545"/>
                </a:lnTo>
                <a:lnTo>
                  <a:pt x="13148" y="19537"/>
                </a:lnTo>
                <a:lnTo>
                  <a:pt x="12631" y="19533"/>
                </a:lnTo>
                <a:lnTo>
                  <a:pt x="10185" y="19483"/>
                </a:lnTo>
                <a:cubicBezTo>
                  <a:pt x="9818" y="19480"/>
                  <a:pt x="9238" y="19470"/>
                  <a:pt x="8503" y="19470"/>
                </a:cubicBezTo>
                <a:cubicBezTo>
                  <a:pt x="8384" y="19470"/>
                  <a:pt x="8261" y="19470"/>
                  <a:pt x="8134" y="19471"/>
                </a:cubicBezTo>
                <a:cubicBezTo>
                  <a:pt x="7243" y="19475"/>
                  <a:pt x="6234" y="19491"/>
                  <a:pt x="5216" y="19500"/>
                </a:cubicBezTo>
                <a:cubicBezTo>
                  <a:pt x="5131" y="19500"/>
                  <a:pt x="5045" y="19500"/>
                  <a:pt x="4958" y="19500"/>
                </a:cubicBezTo>
                <a:cubicBezTo>
                  <a:pt x="4041" y="19500"/>
                  <a:pt x="2966" y="19481"/>
                  <a:pt x="1622" y="19463"/>
                </a:cubicBezTo>
                <a:lnTo>
                  <a:pt x="460" y="19450"/>
                </a:lnTo>
                <a:lnTo>
                  <a:pt x="259" y="19450"/>
                </a:lnTo>
                <a:lnTo>
                  <a:pt x="263" y="18790"/>
                </a:lnTo>
                <a:cubicBezTo>
                  <a:pt x="263" y="18018"/>
                  <a:pt x="268" y="17226"/>
                  <a:pt x="272" y="16406"/>
                </a:cubicBezTo>
                <a:cubicBezTo>
                  <a:pt x="272" y="15987"/>
                  <a:pt x="276" y="15569"/>
                  <a:pt x="276" y="15138"/>
                </a:cubicBezTo>
                <a:cubicBezTo>
                  <a:pt x="276" y="14674"/>
                  <a:pt x="272" y="14219"/>
                  <a:pt x="272" y="13772"/>
                </a:cubicBezTo>
                <a:cubicBezTo>
                  <a:pt x="263" y="12877"/>
                  <a:pt x="255" y="12011"/>
                  <a:pt x="255" y="11178"/>
                </a:cubicBezTo>
                <a:cubicBezTo>
                  <a:pt x="259" y="9381"/>
                  <a:pt x="268" y="7510"/>
                  <a:pt x="276" y="5590"/>
                </a:cubicBezTo>
                <a:cubicBezTo>
                  <a:pt x="284" y="4638"/>
                  <a:pt x="288" y="3653"/>
                  <a:pt x="292" y="2631"/>
                </a:cubicBezTo>
                <a:lnTo>
                  <a:pt x="296" y="190"/>
                </a:lnTo>
                <a:lnTo>
                  <a:pt x="493" y="190"/>
                </a:lnTo>
                <a:lnTo>
                  <a:pt x="6554" y="194"/>
                </a:lnTo>
                <a:lnTo>
                  <a:pt x="9898" y="194"/>
                </a:lnTo>
                <a:cubicBezTo>
                  <a:pt x="10267" y="194"/>
                  <a:pt x="10633" y="196"/>
                  <a:pt x="11012" y="196"/>
                </a:cubicBezTo>
                <a:cubicBezTo>
                  <a:pt x="11201" y="196"/>
                  <a:pt x="11394" y="195"/>
                  <a:pt x="11593" y="194"/>
                </a:cubicBezTo>
                <a:lnTo>
                  <a:pt x="13267" y="177"/>
                </a:lnTo>
                <a:cubicBezTo>
                  <a:pt x="13804" y="169"/>
                  <a:pt x="14329" y="165"/>
                  <a:pt x="14838" y="165"/>
                </a:cubicBezTo>
                <a:cubicBezTo>
                  <a:pt x="15004" y="164"/>
                  <a:pt x="15172" y="163"/>
                  <a:pt x="15342" y="163"/>
                </a:cubicBezTo>
                <a:cubicBezTo>
                  <a:pt x="15682" y="163"/>
                  <a:pt x="16030" y="165"/>
                  <a:pt x="16377" y="165"/>
                </a:cubicBezTo>
                <a:cubicBezTo>
                  <a:pt x="17419" y="173"/>
                  <a:pt x="18470" y="186"/>
                  <a:pt x="19532" y="190"/>
                </a:cubicBezTo>
                <a:lnTo>
                  <a:pt x="20722" y="190"/>
                </a:lnTo>
                <a:lnTo>
                  <a:pt x="21670" y="186"/>
                </a:lnTo>
                <a:lnTo>
                  <a:pt x="21670" y="378"/>
                </a:lnTo>
                <a:lnTo>
                  <a:pt x="21670" y="735"/>
                </a:lnTo>
                <a:lnTo>
                  <a:pt x="21670" y="2163"/>
                </a:lnTo>
                <a:cubicBezTo>
                  <a:pt x="21670" y="2643"/>
                  <a:pt x="21670" y="3115"/>
                  <a:pt x="21670" y="3583"/>
                </a:cubicBezTo>
                <a:cubicBezTo>
                  <a:pt x="21666" y="4519"/>
                  <a:pt x="21662" y="5425"/>
                  <a:pt x="21662" y="6299"/>
                </a:cubicBezTo>
                <a:cubicBezTo>
                  <a:pt x="21662" y="7153"/>
                  <a:pt x="21654" y="7961"/>
                  <a:pt x="21646" y="8770"/>
                </a:cubicBezTo>
                <a:cubicBezTo>
                  <a:pt x="21637" y="9578"/>
                  <a:pt x="21629" y="10390"/>
                  <a:pt x="21629" y="11166"/>
                </a:cubicBezTo>
                <a:cubicBezTo>
                  <a:pt x="21633" y="11937"/>
                  <a:pt x="21637" y="12647"/>
                  <a:pt x="21641" y="13300"/>
                </a:cubicBezTo>
                <a:cubicBezTo>
                  <a:pt x="21646" y="13952"/>
                  <a:pt x="21650" y="14543"/>
                  <a:pt x="21654" y="15080"/>
                </a:cubicBezTo>
                <a:cubicBezTo>
                  <a:pt x="21658" y="15630"/>
                  <a:pt x="21662" y="16160"/>
                  <a:pt x="21662" y="16627"/>
                </a:cubicBezTo>
                <a:cubicBezTo>
                  <a:pt x="21670" y="17567"/>
                  <a:pt x="21683" y="18306"/>
                  <a:pt x="21695" y="18810"/>
                </a:cubicBezTo>
                <a:cubicBezTo>
                  <a:pt x="21711" y="19315"/>
                  <a:pt x="21732" y="19586"/>
                  <a:pt x="21756" y="19594"/>
                </a:cubicBezTo>
                <a:cubicBezTo>
                  <a:pt x="21757" y="19594"/>
                  <a:pt x="21757" y="19594"/>
                  <a:pt x="21758" y="19594"/>
                </a:cubicBezTo>
                <a:cubicBezTo>
                  <a:pt x="21782" y="19594"/>
                  <a:pt x="21806" y="19325"/>
                  <a:pt x="21818" y="18835"/>
                </a:cubicBezTo>
                <a:cubicBezTo>
                  <a:pt x="21834" y="18334"/>
                  <a:pt x="21843" y="17592"/>
                  <a:pt x="21851" y="16644"/>
                </a:cubicBezTo>
                <a:cubicBezTo>
                  <a:pt x="21855" y="16168"/>
                  <a:pt x="21855" y="15659"/>
                  <a:pt x="21859" y="15064"/>
                </a:cubicBezTo>
                <a:cubicBezTo>
                  <a:pt x="21863" y="14457"/>
                  <a:pt x="21859" y="13817"/>
                  <a:pt x="21855" y="13148"/>
                </a:cubicBezTo>
                <a:cubicBezTo>
                  <a:pt x="21851" y="12483"/>
                  <a:pt x="21847" y="11786"/>
                  <a:pt x="21843" y="11096"/>
                </a:cubicBezTo>
                <a:cubicBezTo>
                  <a:pt x="21843" y="10407"/>
                  <a:pt x="21847" y="9656"/>
                  <a:pt x="21851" y="8839"/>
                </a:cubicBezTo>
                <a:cubicBezTo>
                  <a:pt x="21859" y="8035"/>
                  <a:pt x="21859" y="7120"/>
                  <a:pt x="21859" y="6213"/>
                </a:cubicBezTo>
                <a:cubicBezTo>
                  <a:pt x="21859" y="5327"/>
                  <a:pt x="21855" y="4412"/>
                  <a:pt x="21855" y="3468"/>
                </a:cubicBezTo>
                <a:cubicBezTo>
                  <a:pt x="21855" y="2996"/>
                  <a:pt x="21855" y="2516"/>
                  <a:pt x="21855" y="2028"/>
                </a:cubicBezTo>
                <a:cubicBezTo>
                  <a:pt x="21851" y="1527"/>
                  <a:pt x="21851" y="1023"/>
                  <a:pt x="21847" y="522"/>
                </a:cubicBezTo>
                <a:cubicBezTo>
                  <a:pt x="21843" y="350"/>
                  <a:pt x="21843" y="181"/>
                  <a:pt x="21843" y="9"/>
                </a:cubicBezTo>
                <a:lnTo>
                  <a:pt x="20620" y="17"/>
                </a:lnTo>
                <a:lnTo>
                  <a:pt x="19393" y="21"/>
                </a:lnTo>
                <a:lnTo>
                  <a:pt x="16266" y="5"/>
                </a:lnTo>
                <a:cubicBezTo>
                  <a:pt x="15905" y="5"/>
                  <a:pt x="15529" y="3"/>
                  <a:pt x="15148" y="3"/>
                </a:cubicBezTo>
                <a:cubicBezTo>
                  <a:pt x="14957" y="3"/>
                  <a:pt x="14764" y="4"/>
                  <a:pt x="14572" y="5"/>
                </a:cubicBezTo>
                <a:lnTo>
                  <a:pt x="12910" y="21"/>
                </a:lnTo>
                <a:cubicBezTo>
                  <a:pt x="12368" y="30"/>
                  <a:pt x="11843" y="38"/>
                  <a:pt x="11330" y="38"/>
                </a:cubicBezTo>
                <a:lnTo>
                  <a:pt x="9701" y="38"/>
                </a:lnTo>
                <a:lnTo>
                  <a:pt x="6361" y="26"/>
                </a:lnTo>
                <a:lnTo>
                  <a:pt x="321" y="1"/>
                </a:lnTo>
                <a:close/>
              </a:path>
            </a:pathLst>
          </a:custGeom>
          <a:solidFill>
            <a:srgbClr val="5D3D1D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9" name="Google Shape;3089;p91">
            <a:extLst>
              <a:ext uri="{FF2B5EF4-FFF2-40B4-BE49-F238E27FC236}">
                <a16:creationId xmlns:a16="http://schemas.microsoft.com/office/drawing/2014/main" id="{0C3E09C0-B50C-801A-A1BA-A6F0DDF34A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0" y="2003675"/>
            <a:ext cx="4259580" cy="15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000" dirty="0"/>
              <a:t>Manipulação e Análise de Dados com Pandas</a:t>
            </a:r>
            <a:endParaRPr sz="4000" dirty="0"/>
          </a:p>
        </p:txBody>
      </p:sp>
      <p:sp>
        <p:nvSpPr>
          <p:cNvPr id="3090" name="Google Shape;3090;p91">
            <a:extLst>
              <a:ext uri="{FF2B5EF4-FFF2-40B4-BE49-F238E27FC236}">
                <a16:creationId xmlns:a16="http://schemas.microsoft.com/office/drawing/2014/main" id="{074A6D76-B8BF-05B5-23CE-AC52F4599C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0" y="3735575"/>
            <a:ext cx="4259580" cy="59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0" dirty="0"/>
              <a:t>Estruturas, operações e funcionalidades essenciais para trabalhar com dados em </a:t>
            </a:r>
            <a:r>
              <a:rPr lang="pt-PT" sz="1400" dirty="0" err="1"/>
              <a:t>Python</a:t>
            </a:r>
            <a:endParaRPr sz="1400" dirty="0"/>
          </a:p>
        </p:txBody>
      </p:sp>
      <p:sp>
        <p:nvSpPr>
          <p:cNvPr id="3091" name="Google Shape;3091;p91">
            <a:extLst>
              <a:ext uri="{FF2B5EF4-FFF2-40B4-BE49-F238E27FC236}">
                <a16:creationId xmlns:a16="http://schemas.microsoft.com/office/drawing/2014/main" id="{8B7343D6-5677-81AA-3703-AB46E9F5107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659075" y="882375"/>
            <a:ext cx="1088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3092" name="Google Shape;3092;p91">
            <a:extLst>
              <a:ext uri="{FF2B5EF4-FFF2-40B4-BE49-F238E27FC236}">
                <a16:creationId xmlns:a16="http://schemas.microsoft.com/office/drawing/2014/main" id="{3435EA3C-AC83-D07F-ADD1-AD9CF42A9E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350" y="810025"/>
            <a:ext cx="3274427" cy="34249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9564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>
          <a:extLst>
            <a:ext uri="{FF2B5EF4-FFF2-40B4-BE49-F238E27FC236}">
              <a16:creationId xmlns:a16="http://schemas.microsoft.com/office/drawing/2014/main" id="{775614B0-03EC-6F7D-68A4-C7B05366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0">
            <a:extLst>
              <a:ext uri="{FF2B5EF4-FFF2-40B4-BE49-F238E27FC236}">
                <a16:creationId xmlns:a16="http://schemas.microsoft.com/office/drawing/2014/main" id="{A48771BB-BE0F-2735-4C89-A6BD3CF5967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377878" y="1272084"/>
            <a:ext cx="4529402" cy="2965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dirty="0"/>
              <a:t>O </a:t>
            </a:r>
            <a:r>
              <a:rPr lang="pt-PT" b="1" dirty="0"/>
              <a:t>Pandas</a:t>
            </a:r>
            <a:r>
              <a:rPr lang="pt-PT" dirty="0"/>
              <a:t> é uma </a:t>
            </a:r>
            <a:r>
              <a:rPr lang="pt-PT" b="1" dirty="0"/>
              <a:t>biblioteca</a:t>
            </a:r>
            <a:r>
              <a:rPr lang="pt-PT" dirty="0"/>
              <a:t> poderosa que permite trabalhar facilmente com </a:t>
            </a:r>
            <a:r>
              <a:rPr lang="pt-PT" b="1" dirty="0"/>
              <a:t>dados</a:t>
            </a:r>
            <a:r>
              <a:rPr lang="pt-PT" dirty="0"/>
              <a:t> </a:t>
            </a:r>
            <a:r>
              <a:rPr lang="pt-PT" b="1" dirty="0"/>
              <a:t>estruturados</a:t>
            </a:r>
            <a:r>
              <a:rPr lang="pt-PT" dirty="0"/>
              <a:t> (</a:t>
            </a:r>
            <a:r>
              <a:rPr lang="pt-PT" b="1" dirty="0"/>
              <a:t>tabelas</a:t>
            </a:r>
            <a:r>
              <a:rPr lang="pt-PT" dirty="0"/>
              <a:t>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dirty="0"/>
              <a:t>Oferece estruturas de dados flexíveis, como </a:t>
            </a:r>
            <a:r>
              <a:rPr lang="pt-PT" b="1" dirty="0"/>
              <a:t>Series</a:t>
            </a:r>
            <a:r>
              <a:rPr lang="pt-PT" dirty="0"/>
              <a:t> e </a:t>
            </a:r>
            <a:r>
              <a:rPr lang="pt-PT" b="1" dirty="0" err="1"/>
              <a:t>DataFrame</a:t>
            </a:r>
            <a:r>
              <a:rPr lang="pt-PT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dirty="0"/>
              <a:t>Facilita a </a:t>
            </a:r>
            <a:r>
              <a:rPr lang="pt-PT" b="1" dirty="0"/>
              <a:t>leitura</a:t>
            </a:r>
            <a:r>
              <a:rPr lang="pt-PT" dirty="0"/>
              <a:t>, </a:t>
            </a:r>
            <a:r>
              <a:rPr lang="pt-PT" b="1" dirty="0"/>
              <a:t>limpeza</a:t>
            </a:r>
            <a:r>
              <a:rPr lang="pt-PT" dirty="0"/>
              <a:t>, </a:t>
            </a:r>
            <a:r>
              <a:rPr lang="pt-PT" b="1" dirty="0"/>
              <a:t>transformação</a:t>
            </a:r>
            <a:r>
              <a:rPr lang="pt-PT" dirty="0"/>
              <a:t> e </a:t>
            </a:r>
            <a:r>
              <a:rPr lang="pt-PT" b="1" dirty="0"/>
              <a:t>análise</a:t>
            </a:r>
            <a:r>
              <a:rPr lang="pt-PT" dirty="0"/>
              <a:t> </a:t>
            </a:r>
            <a:r>
              <a:rPr lang="pt-PT" b="1" dirty="0"/>
              <a:t>de</a:t>
            </a:r>
            <a:r>
              <a:rPr lang="pt-PT" dirty="0"/>
              <a:t> </a:t>
            </a:r>
            <a:r>
              <a:rPr lang="pt-PT" b="1" dirty="0"/>
              <a:t>dados</a:t>
            </a:r>
            <a:r>
              <a:rPr lang="pt-PT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dirty="0"/>
              <a:t>Muito usada em </a:t>
            </a:r>
            <a:r>
              <a:rPr lang="pt-PT" b="1" dirty="0"/>
              <a:t>Data</a:t>
            </a:r>
            <a:r>
              <a:rPr lang="pt-PT" dirty="0"/>
              <a:t> </a:t>
            </a:r>
            <a:r>
              <a:rPr lang="pt-PT" b="1" dirty="0" err="1"/>
              <a:t>Science</a:t>
            </a:r>
            <a:r>
              <a:rPr lang="pt-PT" dirty="0"/>
              <a:t> para </a:t>
            </a:r>
            <a:r>
              <a:rPr lang="pt-PT" b="1" dirty="0"/>
              <a:t>preparar</a:t>
            </a:r>
            <a:r>
              <a:rPr lang="pt-PT" dirty="0"/>
              <a:t> </a:t>
            </a:r>
            <a:r>
              <a:rPr lang="pt-PT" b="1" dirty="0"/>
              <a:t>dados</a:t>
            </a:r>
            <a:r>
              <a:rPr lang="pt-PT" dirty="0"/>
              <a:t> antes de </a:t>
            </a:r>
            <a:r>
              <a:rPr lang="pt-PT" b="1" dirty="0"/>
              <a:t>aplicar</a:t>
            </a:r>
            <a:r>
              <a:rPr lang="pt-PT" dirty="0"/>
              <a:t> </a:t>
            </a:r>
            <a:r>
              <a:rPr lang="pt-PT" b="1" dirty="0"/>
              <a:t>modelos</a:t>
            </a:r>
            <a:r>
              <a:rPr lang="pt-PT" dirty="0"/>
              <a:t>.</a:t>
            </a:r>
            <a:endParaRPr dirty="0"/>
          </a:p>
        </p:txBody>
      </p:sp>
      <p:sp>
        <p:nvSpPr>
          <p:cNvPr id="698" name="Google Shape;698;p60">
            <a:extLst>
              <a:ext uri="{FF2B5EF4-FFF2-40B4-BE49-F238E27FC236}">
                <a16:creationId xmlns:a16="http://schemas.microsoft.com/office/drawing/2014/main" id="{270B5A90-9CA8-3D6E-19DB-ABB400A8DB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7189" y="185563"/>
            <a:ext cx="4185782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Introdução ao Pandas</a:t>
            </a:r>
            <a:endParaRPr dirty="0"/>
          </a:p>
        </p:txBody>
      </p:sp>
      <p:pic>
        <p:nvPicPr>
          <p:cNvPr id="4098" name="Picture 2" descr="What is pandas?">
            <a:extLst>
              <a:ext uri="{FF2B5EF4-FFF2-40B4-BE49-F238E27FC236}">
                <a16:creationId xmlns:a16="http://schemas.microsoft.com/office/drawing/2014/main" id="{6C32310B-D576-7E8C-3761-6BBB96EE8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980" y="1712280"/>
            <a:ext cx="3532408" cy="2084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andas Icon, Logo and PNG Files for Your Projects">
            <a:extLst>
              <a:ext uri="{FF2B5EF4-FFF2-40B4-BE49-F238E27FC236}">
                <a16:creationId xmlns:a16="http://schemas.microsoft.com/office/drawing/2014/main" id="{22460999-0CEB-4FD1-8811-CB788A52F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864" y="124336"/>
            <a:ext cx="651054" cy="65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Pandas Icon, Logo and PNG Files for Your Projects">
            <a:extLst>
              <a:ext uri="{FF2B5EF4-FFF2-40B4-BE49-F238E27FC236}">
                <a16:creationId xmlns:a16="http://schemas.microsoft.com/office/drawing/2014/main" id="{F2CCF931-8118-D48C-E930-AE62D1F52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242" y="124336"/>
            <a:ext cx="651054" cy="65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8021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>
          <a:extLst>
            <a:ext uri="{FF2B5EF4-FFF2-40B4-BE49-F238E27FC236}">
              <a16:creationId xmlns:a16="http://schemas.microsoft.com/office/drawing/2014/main" id="{68AF0BB8-BE7C-10D0-9704-0B248C8B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0">
            <a:extLst>
              <a:ext uri="{FF2B5EF4-FFF2-40B4-BE49-F238E27FC236}">
                <a16:creationId xmlns:a16="http://schemas.microsoft.com/office/drawing/2014/main" id="{D41E5AB8-99D4-BB3E-4E3D-BAE017890A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525344" y="1637387"/>
            <a:ext cx="4179632" cy="28214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b="1" dirty="0"/>
              <a:t>Series</a:t>
            </a:r>
            <a:r>
              <a:rPr lang="pt-PT" dirty="0"/>
              <a:t>: Estrutura </a:t>
            </a:r>
            <a:r>
              <a:rPr lang="pt-PT" b="1" dirty="0"/>
              <a:t>unidimensional</a:t>
            </a:r>
            <a:r>
              <a:rPr lang="pt-PT" dirty="0"/>
              <a:t>, semelhante a um </a:t>
            </a:r>
            <a:r>
              <a:rPr lang="pt-PT" b="1" dirty="0" err="1"/>
              <a:t>array</a:t>
            </a:r>
            <a:r>
              <a:rPr lang="pt-PT" dirty="0"/>
              <a:t> com etiquetas (</a:t>
            </a:r>
            <a:r>
              <a:rPr lang="pt-PT" b="1" dirty="0" err="1"/>
              <a:t>index</a:t>
            </a:r>
            <a:r>
              <a:rPr lang="pt-PT" dirty="0"/>
              <a:t>).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b="1" dirty="0" err="1"/>
              <a:t>DataFrame</a:t>
            </a:r>
            <a:r>
              <a:rPr lang="pt-PT" dirty="0"/>
              <a:t>: </a:t>
            </a:r>
            <a:r>
              <a:rPr lang="pt-PT" b="1" dirty="0"/>
              <a:t>Estrutura</a:t>
            </a:r>
            <a:r>
              <a:rPr lang="pt-PT" dirty="0"/>
              <a:t> </a:t>
            </a:r>
            <a:r>
              <a:rPr lang="pt-PT" b="1" dirty="0"/>
              <a:t>bidimensional</a:t>
            </a:r>
            <a:r>
              <a:rPr lang="pt-PT" dirty="0"/>
              <a:t>, </a:t>
            </a:r>
            <a:r>
              <a:rPr lang="pt-PT" b="1" dirty="0"/>
              <a:t>tabela</a:t>
            </a:r>
            <a:r>
              <a:rPr lang="pt-PT" dirty="0"/>
              <a:t> com linhas e colunas, como numa </a:t>
            </a:r>
            <a:r>
              <a:rPr lang="pt-PT" b="1" dirty="0"/>
              <a:t>folha</a:t>
            </a:r>
            <a:r>
              <a:rPr lang="pt-PT" dirty="0"/>
              <a:t> </a:t>
            </a:r>
            <a:r>
              <a:rPr lang="pt-PT" b="1" dirty="0"/>
              <a:t>Excel</a:t>
            </a:r>
            <a:r>
              <a:rPr lang="pt-PT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dirty="0"/>
              <a:t>Permitem acesso </a:t>
            </a:r>
            <a:r>
              <a:rPr lang="pt-PT" b="1" dirty="0"/>
              <a:t>rápido</a:t>
            </a:r>
            <a:r>
              <a:rPr lang="pt-PT" dirty="0"/>
              <a:t> e </a:t>
            </a:r>
            <a:r>
              <a:rPr lang="pt-PT" b="1" dirty="0"/>
              <a:t>eficiente</a:t>
            </a:r>
            <a:r>
              <a:rPr lang="pt-PT" dirty="0"/>
              <a:t> aos dados para manipulação.</a:t>
            </a:r>
            <a:endParaRPr dirty="0"/>
          </a:p>
        </p:txBody>
      </p:sp>
      <p:sp>
        <p:nvSpPr>
          <p:cNvPr id="698" name="Google Shape;698;p60">
            <a:extLst>
              <a:ext uri="{FF2B5EF4-FFF2-40B4-BE49-F238E27FC236}">
                <a16:creationId xmlns:a16="http://schemas.microsoft.com/office/drawing/2014/main" id="{C7B54935-317C-47E0-6953-5B505CF22E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344" y="684671"/>
            <a:ext cx="4179632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Estruturas básicas do Pandas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26C67E-8808-46F7-0374-5B5451421C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" r="4345"/>
          <a:stretch/>
        </p:blipFill>
        <p:spPr>
          <a:xfrm>
            <a:off x="5234375" y="549476"/>
            <a:ext cx="3300026" cy="40445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3797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>
          <a:extLst>
            <a:ext uri="{FF2B5EF4-FFF2-40B4-BE49-F238E27FC236}">
              <a16:creationId xmlns:a16="http://schemas.microsoft.com/office/drawing/2014/main" id="{824AB8FC-3E3A-25BB-BCAB-54592A57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0">
            <a:extLst>
              <a:ext uri="{FF2B5EF4-FFF2-40B4-BE49-F238E27FC236}">
                <a16:creationId xmlns:a16="http://schemas.microsoft.com/office/drawing/2014/main" id="{1669D0CC-2839-C4F7-267B-1C8B8C0F90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 flipH="1">
            <a:off x="525344" y="1463255"/>
            <a:ext cx="2956996" cy="32382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pt-PT" dirty="0"/>
              <a:t>Possíveis operações com o </a:t>
            </a:r>
            <a:r>
              <a:rPr lang="pt-PT" b="1" dirty="0"/>
              <a:t>pandas</a:t>
            </a:r>
            <a:r>
              <a:rPr lang="pt-PT" dirty="0"/>
              <a:t>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b="1" dirty="0"/>
              <a:t>Leitura</a:t>
            </a:r>
            <a:r>
              <a:rPr lang="pt-PT" dirty="0"/>
              <a:t> de ficheiros: </a:t>
            </a:r>
            <a:r>
              <a:rPr lang="pt-PT" b="1" dirty="0"/>
              <a:t>CSV</a:t>
            </a:r>
            <a:r>
              <a:rPr lang="pt-PT" dirty="0"/>
              <a:t>, </a:t>
            </a:r>
            <a:r>
              <a:rPr lang="pt-PT" b="1" dirty="0"/>
              <a:t>Excel</a:t>
            </a:r>
            <a:r>
              <a:rPr lang="pt-PT" dirty="0"/>
              <a:t>, </a:t>
            </a:r>
            <a:r>
              <a:rPr lang="pt-PT" b="1" dirty="0"/>
              <a:t>JSON</a:t>
            </a:r>
            <a:r>
              <a:rPr lang="pt-PT" dirty="0"/>
              <a:t>, entre outros.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b="1" dirty="0"/>
              <a:t>Seleção</a:t>
            </a:r>
            <a:r>
              <a:rPr lang="pt-PT" dirty="0"/>
              <a:t> e </a:t>
            </a:r>
            <a:r>
              <a:rPr lang="pt-PT" b="1" dirty="0"/>
              <a:t>filtragem</a:t>
            </a:r>
            <a:r>
              <a:rPr lang="pt-PT" dirty="0"/>
              <a:t> de colunas e linhas.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b="1" dirty="0"/>
              <a:t>Tratamento</a:t>
            </a:r>
            <a:r>
              <a:rPr lang="pt-PT" dirty="0"/>
              <a:t> de valores </a:t>
            </a:r>
            <a:r>
              <a:rPr lang="pt-PT" b="1" dirty="0"/>
              <a:t>ausentes</a:t>
            </a:r>
            <a:r>
              <a:rPr lang="pt-PT" dirty="0"/>
              <a:t>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PT" b="1" dirty="0"/>
              <a:t>Agrupamentos</a:t>
            </a:r>
            <a:r>
              <a:rPr lang="pt-PT" dirty="0"/>
              <a:t> e </a:t>
            </a:r>
            <a:r>
              <a:rPr lang="pt-PT" b="1" dirty="0"/>
              <a:t>sumarizações</a:t>
            </a:r>
            <a:r>
              <a:rPr lang="pt-PT" dirty="0"/>
              <a:t>.</a:t>
            </a:r>
            <a:endParaRPr dirty="0"/>
          </a:p>
        </p:txBody>
      </p:sp>
      <p:sp>
        <p:nvSpPr>
          <p:cNvPr id="698" name="Google Shape;698;p60">
            <a:extLst>
              <a:ext uri="{FF2B5EF4-FFF2-40B4-BE49-F238E27FC236}">
                <a16:creationId xmlns:a16="http://schemas.microsoft.com/office/drawing/2014/main" id="{04FF932A-6A76-7F43-6216-98C8EFCDA2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5344" y="630555"/>
            <a:ext cx="2956996" cy="5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Operações comuns com Pandas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F1498E-BDC7-0581-B3FC-6A65F66122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64" t="6963" r="5664" b="7408"/>
          <a:stretch/>
        </p:blipFill>
        <p:spPr>
          <a:xfrm>
            <a:off x="3812108" y="630555"/>
            <a:ext cx="4889931" cy="38823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hlinkClick r:id="rId4"/>
            <a:extLst>
              <a:ext uri="{FF2B5EF4-FFF2-40B4-BE49-F238E27FC236}">
                <a16:creationId xmlns:a16="http://schemas.microsoft.com/office/drawing/2014/main" id="{F89775C1-8514-FCE3-50A1-996D9488EB09}"/>
              </a:ext>
            </a:extLst>
          </p:cNvPr>
          <p:cNvSpPr txBox="1"/>
          <p:nvPr/>
        </p:nvSpPr>
        <p:spPr>
          <a:xfrm>
            <a:off x="5579419" y="252829"/>
            <a:ext cx="1355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Livvic" pitchFamily="2" charset="0"/>
              </a:rPr>
              <a:t>Data set Link</a:t>
            </a:r>
          </a:p>
        </p:txBody>
      </p:sp>
    </p:spTree>
    <p:extLst>
      <p:ext uri="{BB962C8B-B14F-4D97-AF65-F5344CB8AC3E}">
        <p14:creationId xmlns:p14="http://schemas.microsoft.com/office/powerpoint/2010/main" val="2539184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apyrus History Lesson XL by Slidesgo">
  <a:themeElements>
    <a:clrScheme name="Simple Light">
      <a:dk1>
        <a:srgbClr val="482400"/>
      </a:dk1>
      <a:lt1>
        <a:srgbClr val="FFFFFF"/>
      </a:lt1>
      <a:dk2>
        <a:srgbClr val="595959"/>
      </a:dk2>
      <a:lt2>
        <a:srgbClr val="EEEEEE"/>
      </a:lt2>
      <a:accent1>
        <a:srgbClr val="482400"/>
      </a:accent1>
      <a:accent2>
        <a:srgbClr val="C1AD8F"/>
      </a:accent2>
      <a:accent3>
        <a:srgbClr val="553333"/>
      </a:accent3>
      <a:accent4>
        <a:srgbClr val="C1AD8F"/>
      </a:accent4>
      <a:accent5>
        <a:srgbClr val="482400"/>
      </a:accent5>
      <a:accent6>
        <a:srgbClr val="C1AD8F"/>
      </a:accent6>
      <a:hlink>
        <a:srgbClr val="4824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65209DBFF0BD4CA334E984111739BD" ma:contentTypeVersion="17" ma:contentTypeDescription="Criar um novo documento." ma:contentTypeScope="" ma:versionID="dd185fb4eb22abfba1bbf1df215db036">
  <xsd:schema xmlns:xsd="http://www.w3.org/2001/XMLSchema" xmlns:xs="http://www.w3.org/2001/XMLSchema" xmlns:p="http://schemas.microsoft.com/office/2006/metadata/properties" xmlns:ns3="e5320658-45b1-444d-b7a9-3efd9c437958" xmlns:ns4="3f59f02c-74f8-4e70-b149-5783d454d21b" targetNamespace="http://schemas.microsoft.com/office/2006/metadata/properties" ma:root="true" ma:fieldsID="a7806ad5a617df065cd1e22143199572" ns3:_="" ns4:_="">
    <xsd:import namespace="e5320658-45b1-444d-b7a9-3efd9c437958"/>
    <xsd:import namespace="3f59f02c-74f8-4e70-b149-5783d454d2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320658-45b1-444d-b7a9-3efd9c437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59f02c-74f8-4e70-b149-5783d454d21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5320658-45b1-444d-b7a9-3efd9c437958" xsi:nil="true"/>
  </documentManagement>
</p:properties>
</file>

<file path=customXml/itemProps1.xml><?xml version="1.0" encoding="utf-8"?>
<ds:datastoreItem xmlns:ds="http://schemas.openxmlformats.org/officeDocument/2006/customXml" ds:itemID="{7EB5273F-345C-4496-8602-744D8DF6C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561E86-B047-488B-ABF0-831180665DB1}">
  <ds:schemaRefs>
    <ds:schemaRef ds:uri="3f59f02c-74f8-4e70-b149-5783d454d21b"/>
    <ds:schemaRef ds:uri="e5320658-45b1-444d-b7a9-3efd9c4379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2096AD0-DD3B-47BA-AEA7-00D98826A0C2}">
  <ds:schemaRefs>
    <ds:schemaRef ds:uri="e5320658-45b1-444d-b7a9-3efd9c437958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3f59f02c-74f8-4e70-b149-5783d454d21b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176</Words>
  <Application>Microsoft Office PowerPoint</Application>
  <PresentationFormat>On-screen Show (16:9)</PresentationFormat>
  <Paragraphs>22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Redressed</vt:lpstr>
      <vt:lpstr>Livvic Light</vt:lpstr>
      <vt:lpstr>Roboto Slab Light</vt:lpstr>
      <vt:lpstr>Livvic</vt:lpstr>
      <vt:lpstr>Papyrus History Lesson XL by Slidesgo</vt:lpstr>
      <vt:lpstr>AULA III</vt:lpstr>
      <vt:lpstr>Manipulação e Análise de Dados com Pandas</vt:lpstr>
      <vt:lpstr>Introdução ao Pandas</vt:lpstr>
      <vt:lpstr>Estruturas básicas do Pandas</vt:lpstr>
      <vt:lpstr>Operações comuns com Pandas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Diogo Freitas</dc:creator>
  <cp:lastModifiedBy>Diogo Alonso de Freitas</cp:lastModifiedBy>
  <cp:revision>3</cp:revision>
  <dcterms:modified xsi:type="dcterms:W3CDTF">2026-07-02T02:32:56Z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0x0101005B65209DBFF0BD4CA334E984111739BD</vt:lpwstr>
  </property>
</Properties>
</file>