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  <p:sldMasterId id="2147483673" r:id="rId5"/>
  </p:sldMasterIdLst>
  <p:notesMasterIdLst>
    <p:notesMasterId r:id="rId15"/>
  </p:notesMasterIdLst>
  <p:sldIdLst>
    <p:sldId id="256" r:id="rId6"/>
    <p:sldId id="260" r:id="rId7"/>
    <p:sldId id="259" r:id="rId8"/>
    <p:sldId id="346" r:id="rId9"/>
    <p:sldId id="347" r:id="rId10"/>
    <p:sldId id="348" r:id="rId11"/>
    <p:sldId id="349" r:id="rId12"/>
    <p:sldId id="350" r:id="rId13"/>
    <p:sldId id="351" r:id="rId14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6"/>
      <p:bold r:id="rId17"/>
    </p:embeddedFont>
    <p:embeddedFont>
      <p:font typeface="Proxima Nova" panose="020B0604020202020204" charset="0"/>
      <p:regular r:id="rId18"/>
      <p:bold r:id="rId19"/>
      <p:italic r:id="rId20"/>
      <p:boldItalic r:id="rId21"/>
    </p:embeddedFont>
    <p:embeddedFont>
      <p:font typeface="Proxima Nova Semibold" panose="020B0604020202020204" charset="0"/>
      <p:regular r:id="rId22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21B4CF-D2F7-4FB5-ACB5-359192273FC0}" v="1" dt="2026-06-15T19:33:38.417"/>
  </p1510:revLst>
</p1510:revInfo>
</file>

<file path=ppt/tableStyles.xml><?xml version="1.0" encoding="utf-8"?>
<a:tblStyleLst xmlns:a="http://schemas.openxmlformats.org/drawingml/2006/main" def="{F79E5C73-CB60-4C57-98AB-6179EFCD7AC7}">
  <a:tblStyle styleId="{F79E5C73-CB60-4C57-98AB-6179EFCD7A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9.fntdata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43264445-6E02-8A78-045D-93057C3E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e916184070_0_1840:notes">
            <a:extLst>
              <a:ext uri="{FF2B5EF4-FFF2-40B4-BE49-F238E27FC236}">
                <a16:creationId xmlns:a16="http://schemas.microsoft.com/office/drawing/2014/main" id="{AEDAE583-66D7-9A10-934D-32DCBBCB9B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e916184070_0_1840:notes">
            <a:extLst>
              <a:ext uri="{FF2B5EF4-FFF2-40B4-BE49-F238E27FC236}">
                <a16:creationId xmlns:a16="http://schemas.microsoft.com/office/drawing/2014/main" id="{20B597A3-0E24-8CF7-8D98-903EF70B8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06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BE484845-AA07-D9BB-D06F-207D5A4A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e916184070_0_1840:notes">
            <a:extLst>
              <a:ext uri="{FF2B5EF4-FFF2-40B4-BE49-F238E27FC236}">
                <a16:creationId xmlns:a16="http://schemas.microsoft.com/office/drawing/2014/main" id="{3C97263C-EF34-8D58-36A6-7083B2F5D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e916184070_0_1840:notes">
            <a:extLst>
              <a:ext uri="{FF2B5EF4-FFF2-40B4-BE49-F238E27FC236}">
                <a16:creationId xmlns:a16="http://schemas.microsoft.com/office/drawing/2014/main" id="{A7870EEE-DA2F-F12D-296D-2A2615FEF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1194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57D8B9C5-902F-49D9-6196-F38B6C49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e916184070_0_1840:notes">
            <a:extLst>
              <a:ext uri="{FF2B5EF4-FFF2-40B4-BE49-F238E27FC236}">
                <a16:creationId xmlns:a16="http://schemas.microsoft.com/office/drawing/2014/main" id="{B535CD17-F7AD-C441-B14B-3EC4598E5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e916184070_0_1840:notes">
            <a:extLst>
              <a:ext uri="{FF2B5EF4-FFF2-40B4-BE49-F238E27FC236}">
                <a16:creationId xmlns:a16="http://schemas.microsoft.com/office/drawing/2014/main" id="{14C25DDE-C765-70E6-D994-F9B5AFB3B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500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C0DC2EF6-88AF-6619-F2AE-DAEC8CED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e916184070_0_1840:notes">
            <a:extLst>
              <a:ext uri="{FF2B5EF4-FFF2-40B4-BE49-F238E27FC236}">
                <a16:creationId xmlns:a16="http://schemas.microsoft.com/office/drawing/2014/main" id="{87B30D49-E5B6-2E42-9A0A-943A7B4C4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e916184070_0_1840:notes">
            <a:extLst>
              <a:ext uri="{FF2B5EF4-FFF2-40B4-BE49-F238E27FC236}">
                <a16:creationId xmlns:a16="http://schemas.microsoft.com/office/drawing/2014/main" id="{D35ACECE-88B8-6611-C60F-1E09C23C3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8315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7f9c668d6_0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7f9c668d6_0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" name="Google Shape;15372;ge916184070_4_14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3" name="Google Shape;15373;ge916184070_4_14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1752950" y="3005100"/>
            <a:ext cx="6109200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"/>
          </p:nvPr>
        </p:nvSpPr>
        <p:spPr>
          <a:xfrm>
            <a:off x="1752950" y="1764900"/>
            <a:ext cx="6109200" cy="12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60" r:id="rId5"/>
    <p:sldLayoutId id="2147483669" r:id="rId6"/>
    <p:sldLayoutId id="214748367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2" name="Google Shape;452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f_list.as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f_tuple.as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f_set.as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f_dictionary.as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theme/programming-language-workshop-for-beginners#search-python&amp;position-3&amp;results-13&amp;rs=search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 </a:t>
            </a:r>
            <a:r>
              <a:rPr lang="en" dirty="0">
                <a:solidFill>
                  <a:schemeClr val="accent2"/>
                </a:solidFill>
              </a:rPr>
              <a:t>‘Language’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80024" y="2411200"/>
            <a:ext cx="3642791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1" dirty="0"/>
              <a:t>&lt; </a:t>
            </a:r>
            <a:r>
              <a:rPr lang="pt-PT" sz="2000" b="1" dirty="0">
                <a:solidFill>
                  <a:schemeClr val="accent1"/>
                </a:solidFill>
              </a:rPr>
              <a:t>Estrutura de Dados </a:t>
            </a:r>
            <a:r>
              <a:rPr lang="pt-PT" sz="2000" b="1" dirty="0"/>
              <a:t>&gt;</a:t>
            </a:r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AI </a:t>
            </a:r>
            <a:r>
              <a:rPr lang="en" dirty="0">
                <a:solidFill>
                  <a:schemeClr val="lt2"/>
                </a:solidFill>
              </a:rPr>
              <a:t>for </a:t>
            </a:r>
            <a:r>
              <a:rPr lang="en" dirty="0">
                <a:solidFill>
                  <a:schemeClr val="accent1"/>
                </a:solidFill>
              </a:rPr>
              <a:t>Tech Leaders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Google Shape;502;p30">
            <a:extLst>
              <a:ext uri="{FF2B5EF4-FFF2-40B4-BE49-F238E27FC236}">
                <a16:creationId xmlns:a16="http://schemas.microsoft.com/office/drawing/2014/main" id="{C589E41D-C030-44DD-215B-C0C078448539}"/>
              </a:ext>
            </a:extLst>
          </p:cNvPr>
          <p:cNvSpPr txBox="1">
            <a:spLocks/>
          </p:cNvSpPr>
          <p:nvPr/>
        </p:nvSpPr>
        <p:spPr>
          <a:xfrm>
            <a:off x="2280024" y="2937503"/>
            <a:ext cx="4321667" cy="44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pt-PT" sz="1600" dirty="0"/>
              <a:t>&lt; Como os dados são armazenados no </a:t>
            </a:r>
            <a:r>
              <a:rPr lang="pt-PT" sz="1600" dirty="0" err="1"/>
              <a:t>python</a:t>
            </a:r>
            <a:r>
              <a:rPr lang="pt-PT" sz="1600" dirty="0"/>
              <a:t>?&gt;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subTitle" idx="2"/>
          </p:nvPr>
        </p:nvSpPr>
        <p:spPr>
          <a:xfrm>
            <a:off x="2240149" y="1203648"/>
            <a:ext cx="3904165" cy="5461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&lt; </a:t>
            </a:r>
            <a:r>
              <a:rPr lang="pt-PT" sz="1200" dirty="0"/>
              <a:t>Estruturas de dados são formas de organizar, armazenar e aceder a dados eficientemente </a:t>
            </a:r>
            <a:r>
              <a:rPr lang="en" sz="1200" dirty="0"/>
              <a:t>&gt;</a:t>
            </a:r>
            <a:endParaRPr sz="1200" dirty="0"/>
          </a:p>
        </p:txBody>
      </p:sp>
      <p:sp>
        <p:nvSpPr>
          <p:cNvPr id="513" name="Google Shape;513;p31"/>
          <p:cNvSpPr txBox="1">
            <a:spLocks noGrp="1"/>
          </p:cNvSpPr>
          <p:nvPr>
            <p:ph type="subTitle" idx="1"/>
          </p:nvPr>
        </p:nvSpPr>
        <p:spPr>
          <a:xfrm>
            <a:off x="2240149" y="3064487"/>
            <a:ext cx="3904164" cy="4440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&lt; </a:t>
            </a:r>
            <a:r>
              <a:rPr lang="pt-PT" sz="1200" dirty="0" err="1"/>
              <a:t>Python</a:t>
            </a:r>
            <a:r>
              <a:rPr lang="pt-PT" sz="1200" dirty="0"/>
              <a:t> é zero-</a:t>
            </a:r>
            <a:r>
              <a:rPr lang="pt-PT" sz="1200" dirty="0" err="1"/>
              <a:t>indexed</a:t>
            </a:r>
            <a:r>
              <a:rPr lang="pt-PT" sz="1200" dirty="0"/>
              <a:t> (o primeiro elemento tem índice 0) </a:t>
            </a:r>
            <a:r>
              <a:rPr lang="en" sz="1200" dirty="0"/>
              <a:t>&gt;</a:t>
            </a:r>
            <a:endParaRPr sz="1200" dirty="0"/>
          </a:p>
        </p:txBody>
      </p:sp>
      <p:sp>
        <p:nvSpPr>
          <p:cNvPr id="514" name="Google Shape;514;p31"/>
          <p:cNvSpPr txBox="1">
            <a:spLocks noGrp="1"/>
          </p:cNvSpPr>
          <p:nvPr>
            <p:ph type="subTitle" idx="3"/>
          </p:nvPr>
        </p:nvSpPr>
        <p:spPr>
          <a:xfrm>
            <a:off x="1143250" y="2571063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Concepts &lt; /2 &gt;</a:t>
            </a:r>
            <a:r>
              <a:rPr lang="en" dirty="0">
                <a:solidFill>
                  <a:schemeClr val="lt1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251618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O que são? </a:t>
            </a:r>
            <a:r>
              <a:rPr lang="en" dirty="0"/>
              <a:t>&lt; /1 &gt;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</a:p>
        </p:txBody>
      </p:sp>
      <p:grpSp>
        <p:nvGrpSpPr>
          <p:cNvPr id="516" name="Google Shape;516;p31"/>
          <p:cNvGrpSpPr/>
          <p:nvPr/>
        </p:nvGrpSpPr>
        <p:grpSpPr>
          <a:xfrm>
            <a:off x="1707884" y="1417701"/>
            <a:ext cx="320076" cy="320076"/>
            <a:chOff x="1562938" y="4248450"/>
            <a:chExt cx="475950" cy="475950"/>
          </a:xfrm>
        </p:grpSpPr>
        <p:sp>
          <p:nvSpPr>
            <p:cNvPr id="517" name="Google Shape;517;p31"/>
            <p:cNvSpPr/>
            <p:nvPr/>
          </p:nvSpPr>
          <p:spPr>
            <a:xfrm>
              <a:off x="1571938" y="4257450"/>
              <a:ext cx="457475" cy="290150"/>
            </a:xfrm>
            <a:custGeom>
              <a:avLst/>
              <a:gdLst/>
              <a:ahLst/>
              <a:cxnLst/>
              <a:rect l="l" t="t" r="r" b="b"/>
              <a:pathLst>
                <a:path w="18299" h="11606" extrusionOk="0">
                  <a:moveTo>
                    <a:pt x="740" y="1"/>
                  </a:moveTo>
                  <a:cubicBezTo>
                    <a:pt x="342" y="1"/>
                    <a:pt x="1" y="342"/>
                    <a:pt x="1" y="740"/>
                  </a:cubicBezTo>
                  <a:lnTo>
                    <a:pt x="1" y="11605"/>
                  </a:lnTo>
                  <a:lnTo>
                    <a:pt x="18299" y="11605"/>
                  </a:lnTo>
                  <a:lnTo>
                    <a:pt x="18299" y="740"/>
                  </a:lnTo>
                  <a:cubicBezTo>
                    <a:pt x="18299" y="342"/>
                    <a:pt x="17976" y="1"/>
                    <a:pt x="17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1611763" y="4294900"/>
              <a:ext cx="377825" cy="252700"/>
            </a:xfrm>
            <a:custGeom>
              <a:avLst/>
              <a:gdLst/>
              <a:ahLst/>
              <a:cxnLst/>
              <a:rect l="l" t="t" r="r" b="b"/>
              <a:pathLst>
                <a:path w="15113" h="10108" extrusionOk="0">
                  <a:moveTo>
                    <a:pt x="1" y="1"/>
                  </a:moveTo>
                  <a:lnTo>
                    <a:pt x="1" y="10107"/>
                  </a:lnTo>
                  <a:lnTo>
                    <a:pt x="15113" y="10107"/>
                  </a:lnTo>
                  <a:lnTo>
                    <a:pt x="151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1875338" y="4356050"/>
              <a:ext cx="73975" cy="92950"/>
            </a:xfrm>
            <a:custGeom>
              <a:avLst/>
              <a:gdLst/>
              <a:ahLst/>
              <a:cxnLst/>
              <a:rect l="l" t="t" r="r" b="b"/>
              <a:pathLst>
                <a:path w="2959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58" y="371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1571938" y="4547575"/>
              <a:ext cx="457475" cy="167350"/>
            </a:xfrm>
            <a:custGeom>
              <a:avLst/>
              <a:gdLst/>
              <a:ahLst/>
              <a:cxnLst/>
              <a:rect l="l" t="t" r="r" b="b"/>
              <a:pathLst>
                <a:path w="18299" h="6694" extrusionOk="0">
                  <a:moveTo>
                    <a:pt x="1" y="0"/>
                  </a:moveTo>
                  <a:lnTo>
                    <a:pt x="1" y="2238"/>
                  </a:lnTo>
                  <a:cubicBezTo>
                    <a:pt x="1" y="2636"/>
                    <a:pt x="342" y="2977"/>
                    <a:pt x="740" y="2977"/>
                  </a:cubicBezTo>
                  <a:lnTo>
                    <a:pt x="7661" y="2977"/>
                  </a:lnTo>
                  <a:lnTo>
                    <a:pt x="7661" y="3717"/>
                  </a:lnTo>
                  <a:cubicBezTo>
                    <a:pt x="7661" y="4551"/>
                    <a:pt x="6998" y="5215"/>
                    <a:pt x="6182" y="5215"/>
                  </a:cubicBezTo>
                  <a:cubicBezTo>
                    <a:pt x="5348" y="5215"/>
                    <a:pt x="4684" y="5878"/>
                    <a:pt x="4684" y="6694"/>
                  </a:cubicBezTo>
                  <a:lnTo>
                    <a:pt x="13615" y="6694"/>
                  </a:lnTo>
                  <a:cubicBezTo>
                    <a:pt x="13615" y="5878"/>
                    <a:pt x="12952" y="5215"/>
                    <a:pt x="12136" y="5215"/>
                  </a:cubicBezTo>
                  <a:cubicBezTo>
                    <a:pt x="11302" y="5215"/>
                    <a:pt x="10638" y="4551"/>
                    <a:pt x="10638" y="3717"/>
                  </a:cubicBezTo>
                  <a:lnTo>
                    <a:pt x="10638" y="2977"/>
                  </a:lnTo>
                  <a:lnTo>
                    <a:pt x="17559" y="2977"/>
                  </a:lnTo>
                  <a:cubicBezTo>
                    <a:pt x="17976" y="2977"/>
                    <a:pt x="18299" y="2636"/>
                    <a:pt x="18299" y="2238"/>
                  </a:cubicBezTo>
                  <a:lnTo>
                    <a:pt x="18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17634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16520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1828413" y="4575450"/>
              <a:ext cx="21825" cy="18600"/>
            </a:xfrm>
            <a:custGeom>
              <a:avLst/>
              <a:gdLst/>
              <a:ahLst/>
              <a:cxnLst/>
              <a:rect l="l" t="t" r="r" b="b"/>
              <a:pathLst>
                <a:path w="873" h="744" extrusionOk="0">
                  <a:moveTo>
                    <a:pt x="384" y="0"/>
                  </a:moveTo>
                  <a:cubicBezTo>
                    <a:pt x="198" y="0"/>
                    <a:pt x="19" y="148"/>
                    <a:pt x="19" y="364"/>
                  </a:cubicBezTo>
                  <a:cubicBezTo>
                    <a:pt x="0" y="573"/>
                    <a:pt x="171" y="743"/>
                    <a:pt x="379" y="743"/>
                  </a:cubicBezTo>
                  <a:cubicBezTo>
                    <a:pt x="721" y="743"/>
                    <a:pt x="872" y="345"/>
                    <a:pt x="645" y="118"/>
                  </a:cubicBezTo>
                  <a:cubicBezTo>
                    <a:pt x="570" y="36"/>
                    <a:pt x="476" y="0"/>
                    <a:pt x="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1562938" y="4248450"/>
              <a:ext cx="475950" cy="475950"/>
            </a:xfrm>
            <a:custGeom>
              <a:avLst/>
              <a:gdLst/>
              <a:ahLst/>
              <a:cxnLst/>
              <a:rect l="l" t="t" r="r" b="b"/>
              <a:pathLst>
                <a:path w="19038" h="19038" extrusionOk="0">
                  <a:moveTo>
                    <a:pt x="16687" y="2219"/>
                  </a:moveTo>
                  <a:lnTo>
                    <a:pt x="16687" y="11605"/>
                  </a:lnTo>
                  <a:lnTo>
                    <a:pt x="2333" y="11605"/>
                  </a:lnTo>
                  <a:lnTo>
                    <a:pt x="2333" y="2219"/>
                  </a:lnTo>
                  <a:close/>
                  <a:moveTo>
                    <a:pt x="17919" y="740"/>
                  </a:moveTo>
                  <a:cubicBezTo>
                    <a:pt x="18128" y="740"/>
                    <a:pt x="18279" y="911"/>
                    <a:pt x="18279" y="1100"/>
                  </a:cubicBezTo>
                  <a:lnTo>
                    <a:pt x="18279" y="11605"/>
                  </a:lnTo>
                  <a:lnTo>
                    <a:pt x="17426" y="11605"/>
                  </a:lnTo>
                  <a:lnTo>
                    <a:pt x="17426" y="1859"/>
                  </a:lnTo>
                  <a:cubicBezTo>
                    <a:pt x="17426" y="1650"/>
                    <a:pt x="17274" y="1480"/>
                    <a:pt x="17066" y="1480"/>
                  </a:cubicBezTo>
                  <a:lnTo>
                    <a:pt x="1954" y="1480"/>
                  </a:lnTo>
                  <a:cubicBezTo>
                    <a:pt x="1764" y="1480"/>
                    <a:pt x="1593" y="1650"/>
                    <a:pt x="1593" y="1859"/>
                  </a:cubicBezTo>
                  <a:lnTo>
                    <a:pt x="1593" y="11605"/>
                  </a:lnTo>
                  <a:lnTo>
                    <a:pt x="740" y="11605"/>
                  </a:lnTo>
                  <a:lnTo>
                    <a:pt x="740" y="1100"/>
                  </a:lnTo>
                  <a:cubicBezTo>
                    <a:pt x="740" y="911"/>
                    <a:pt x="911" y="740"/>
                    <a:pt x="1100" y="740"/>
                  </a:cubicBezTo>
                  <a:close/>
                  <a:moveTo>
                    <a:pt x="18279" y="12344"/>
                  </a:moveTo>
                  <a:lnTo>
                    <a:pt x="18279" y="14184"/>
                  </a:lnTo>
                  <a:cubicBezTo>
                    <a:pt x="18279" y="14392"/>
                    <a:pt x="18128" y="14563"/>
                    <a:pt x="17919" y="14563"/>
                  </a:cubicBezTo>
                  <a:lnTo>
                    <a:pt x="1100" y="14563"/>
                  </a:lnTo>
                  <a:cubicBezTo>
                    <a:pt x="911" y="14563"/>
                    <a:pt x="740" y="14392"/>
                    <a:pt x="740" y="14184"/>
                  </a:cubicBezTo>
                  <a:lnTo>
                    <a:pt x="740" y="12344"/>
                  </a:lnTo>
                  <a:close/>
                  <a:moveTo>
                    <a:pt x="10638" y="15321"/>
                  </a:moveTo>
                  <a:lnTo>
                    <a:pt x="10638" y="15682"/>
                  </a:lnTo>
                  <a:cubicBezTo>
                    <a:pt x="10619" y="16080"/>
                    <a:pt x="10752" y="16478"/>
                    <a:pt x="10998" y="16800"/>
                  </a:cubicBezTo>
                  <a:lnTo>
                    <a:pt x="8021" y="16800"/>
                  </a:lnTo>
                  <a:cubicBezTo>
                    <a:pt x="8268" y="16478"/>
                    <a:pt x="8401" y="16080"/>
                    <a:pt x="8401" y="15682"/>
                  </a:cubicBezTo>
                  <a:lnTo>
                    <a:pt x="8401" y="15321"/>
                  </a:lnTo>
                  <a:close/>
                  <a:moveTo>
                    <a:pt x="12496" y="17540"/>
                  </a:moveTo>
                  <a:cubicBezTo>
                    <a:pt x="12951" y="17540"/>
                    <a:pt x="13387" y="17843"/>
                    <a:pt x="13539" y="18279"/>
                  </a:cubicBezTo>
                  <a:lnTo>
                    <a:pt x="5480" y="18279"/>
                  </a:lnTo>
                  <a:cubicBezTo>
                    <a:pt x="5632" y="17843"/>
                    <a:pt x="6068" y="17540"/>
                    <a:pt x="6542" y="17540"/>
                  </a:cubicBezTo>
                  <a:close/>
                  <a:moveTo>
                    <a:pt x="1100" y="1"/>
                  </a:moveTo>
                  <a:cubicBezTo>
                    <a:pt x="494" y="1"/>
                    <a:pt x="1" y="494"/>
                    <a:pt x="1" y="1100"/>
                  </a:cubicBezTo>
                  <a:lnTo>
                    <a:pt x="1" y="14203"/>
                  </a:lnTo>
                  <a:cubicBezTo>
                    <a:pt x="1" y="14809"/>
                    <a:pt x="494" y="15321"/>
                    <a:pt x="1100" y="15321"/>
                  </a:cubicBezTo>
                  <a:lnTo>
                    <a:pt x="7661" y="15321"/>
                  </a:lnTo>
                  <a:lnTo>
                    <a:pt x="7661" y="15682"/>
                  </a:lnTo>
                  <a:cubicBezTo>
                    <a:pt x="7642" y="16307"/>
                    <a:pt x="7149" y="16800"/>
                    <a:pt x="6542" y="16800"/>
                  </a:cubicBezTo>
                  <a:cubicBezTo>
                    <a:pt x="5518" y="16800"/>
                    <a:pt x="4684" y="17635"/>
                    <a:pt x="4684" y="18659"/>
                  </a:cubicBezTo>
                  <a:cubicBezTo>
                    <a:pt x="4684" y="18867"/>
                    <a:pt x="4836" y="19038"/>
                    <a:pt x="5044" y="19038"/>
                  </a:cubicBezTo>
                  <a:lnTo>
                    <a:pt x="13975" y="19038"/>
                  </a:lnTo>
                  <a:cubicBezTo>
                    <a:pt x="14184" y="19038"/>
                    <a:pt x="14354" y="18867"/>
                    <a:pt x="14354" y="18659"/>
                  </a:cubicBezTo>
                  <a:cubicBezTo>
                    <a:pt x="14354" y="17635"/>
                    <a:pt x="13520" y="16800"/>
                    <a:pt x="12496" y="16800"/>
                  </a:cubicBezTo>
                  <a:cubicBezTo>
                    <a:pt x="11870" y="16800"/>
                    <a:pt x="11377" y="16307"/>
                    <a:pt x="11377" y="15682"/>
                  </a:cubicBezTo>
                  <a:lnTo>
                    <a:pt x="11377" y="15321"/>
                  </a:lnTo>
                  <a:lnTo>
                    <a:pt x="17919" y="15321"/>
                  </a:lnTo>
                  <a:cubicBezTo>
                    <a:pt x="18526" y="15321"/>
                    <a:pt x="19038" y="14809"/>
                    <a:pt x="19038" y="14203"/>
                  </a:cubicBezTo>
                  <a:lnTo>
                    <a:pt x="19038" y="1100"/>
                  </a:lnTo>
                  <a:cubicBezTo>
                    <a:pt x="19038" y="494"/>
                    <a:pt x="18526" y="1"/>
                    <a:pt x="17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1642588" y="4346575"/>
              <a:ext cx="92925" cy="111900"/>
            </a:xfrm>
            <a:custGeom>
              <a:avLst/>
              <a:gdLst/>
              <a:ahLst/>
              <a:cxnLst/>
              <a:rect l="l" t="t" r="r" b="b"/>
              <a:pathLst>
                <a:path w="3717" h="4476" extrusionOk="0">
                  <a:moveTo>
                    <a:pt x="2977" y="759"/>
                  </a:moveTo>
                  <a:lnTo>
                    <a:pt x="2977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79" y="1"/>
                  </a:moveTo>
                  <a:cubicBezTo>
                    <a:pt x="171" y="1"/>
                    <a:pt x="0" y="171"/>
                    <a:pt x="0" y="380"/>
                  </a:cubicBezTo>
                  <a:lnTo>
                    <a:pt x="0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1753988" y="4346575"/>
              <a:ext cx="93400" cy="111900"/>
            </a:xfrm>
            <a:custGeom>
              <a:avLst/>
              <a:gdLst/>
              <a:ahLst/>
              <a:cxnLst/>
              <a:rect l="l" t="t" r="r" b="b"/>
              <a:pathLst>
                <a:path w="3736" h="4476" extrusionOk="0">
                  <a:moveTo>
                    <a:pt x="2996" y="759"/>
                  </a:moveTo>
                  <a:lnTo>
                    <a:pt x="2996" y="3736"/>
                  </a:lnTo>
                  <a:lnTo>
                    <a:pt x="759" y="3736"/>
                  </a:lnTo>
                  <a:lnTo>
                    <a:pt x="759" y="759"/>
                  </a:lnTo>
                  <a:close/>
                  <a:moveTo>
                    <a:pt x="379" y="1"/>
                  </a:moveTo>
                  <a:cubicBezTo>
                    <a:pt x="171" y="1"/>
                    <a:pt x="19" y="171"/>
                    <a:pt x="19" y="380"/>
                  </a:cubicBezTo>
                  <a:lnTo>
                    <a:pt x="19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35" y="4305"/>
                    <a:pt x="3735" y="4096"/>
                  </a:cubicBezTo>
                  <a:lnTo>
                    <a:pt x="3735" y="380"/>
                  </a:lnTo>
                  <a:cubicBezTo>
                    <a:pt x="3735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1865838" y="4346575"/>
              <a:ext cx="92950" cy="111900"/>
            </a:xfrm>
            <a:custGeom>
              <a:avLst/>
              <a:gdLst/>
              <a:ahLst/>
              <a:cxnLst/>
              <a:rect l="l" t="t" r="r" b="b"/>
              <a:pathLst>
                <a:path w="3718" h="4476" extrusionOk="0">
                  <a:moveTo>
                    <a:pt x="2978" y="759"/>
                  </a:moveTo>
                  <a:lnTo>
                    <a:pt x="2978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80" y="1"/>
                  </a:moveTo>
                  <a:cubicBezTo>
                    <a:pt x="172" y="1"/>
                    <a:pt x="1" y="171"/>
                    <a:pt x="1" y="380"/>
                  </a:cubicBezTo>
                  <a:lnTo>
                    <a:pt x="1" y="4096"/>
                  </a:lnTo>
                  <a:cubicBezTo>
                    <a:pt x="1" y="4305"/>
                    <a:pt x="172" y="4476"/>
                    <a:pt x="380" y="4476"/>
                  </a:cubicBezTo>
                  <a:lnTo>
                    <a:pt x="3357" y="4476"/>
                  </a:lnTo>
                  <a:cubicBezTo>
                    <a:pt x="3547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47" y="1"/>
                    <a:pt x="3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16397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17511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1862538" y="4476950"/>
              <a:ext cx="99575" cy="18500"/>
            </a:xfrm>
            <a:custGeom>
              <a:avLst/>
              <a:gdLst/>
              <a:ahLst/>
              <a:cxnLst/>
              <a:rect l="l" t="t" r="r" b="b"/>
              <a:pathLst>
                <a:path w="3983" h="740" extrusionOk="0">
                  <a:moveTo>
                    <a:pt x="512" y="0"/>
                  </a:moveTo>
                  <a:cubicBezTo>
                    <a:pt x="0" y="0"/>
                    <a:pt x="0" y="740"/>
                    <a:pt x="512" y="740"/>
                  </a:cubicBezTo>
                  <a:lnTo>
                    <a:pt x="3489" y="740"/>
                  </a:lnTo>
                  <a:cubicBezTo>
                    <a:pt x="3982" y="740"/>
                    <a:pt x="3982" y="0"/>
                    <a:pt x="34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1751138" y="4575525"/>
              <a:ext cx="62125" cy="18525"/>
            </a:xfrm>
            <a:custGeom>
              <a:avLst/>
              <a:gdLst/>
              <a:ahLst/>
              <a:cxnLst/>
              <a:rect l="l" t="t" r="r" b="b"/>
              <a:pathLst>
                <a:path w="2485" h="741" extrusionOk="0">
                  <a:moveTo>
                    <a:pt x="493" y="1"/>
                  </a:moveTo>
                  <a:cubicBezTo>
                    <a:pt x="0" y="1"/>
                    <a:pt x="0" y="740"/>
                    <a:pt x="493" y="740"/>
                  </a:cubicBezTo>
                  <a:lnTo>
                    <a:pt x="1991" y="740"/>
                  </a:lnTo>
                  <a:cubicBezTo>
                    <a:pt x="2484" y="740"/>
                    <a:pt x="2484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1707878" y="3402949"/>
            <a:ext cx="320088" cy="260682"/>
            <a:chOff x="5899913" y="4248925"/>
            <a:chExt cx="639025" cy="524300"/>
          </a:xfrm>
        </p:grpSpPr>
        <p:sp>
          <p:nvSpPr>
            <p:cNvPr id="533" name="Google Shape;533;p31"/>
            <p:cNvSpPr/>
            <p:nvPr/>
          </p:nvSpPr>
          <p:spPr>
            <a:xfrm>
              <a:off x="5937363" y="4261725"/>
              <a:ext cx="564600" cy="399175"/>
            </a:xfrm>
            <a:custGeom>
              <a:avLst/>
              <a:gdLst/>
              <a:ahLst/>
              <a:cxnLst/>
              <a:rect l="l" t="t" r="r" b="b"/>
              <a:pathLst>
                <a:path w="22584" h="15967" extrusionOk="0">
                  <a:moveTo>
                    <a:pt x="1005" y="1"/>
                  </a:moveTo>
                  <a:cubicBezTo>
                    <a:pt x="455" y="1"/>
                    <a:pt x="0" y="437"/>
                    <a:pt x="19" y="986"/>
                  </a:cubicBezTo>
                  <a:lnTo>
                    <a:pt x="19" y="15966"/>
                  </a:lnTo>
                  <a:lnTo>
                    <a:pt x="22584" y="15966"/>
                  </a:lnTo>
                  <a:lnTo>
                    <a:pt x="22584" y="986"/>
                  </a:lnTo>
                  <a:cubicBezTo>
                    <a:pt x="22584" y="437"/>
                    <a:pt x="22128" y="1"/>
                    <a:pt x="2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6070088" y="44987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498"/>
                  </a:lnTo>
                  <a:lnTo>
                    <a:pt x="5992" y="4494"/>
                  </a:lnTo>
                  <a:lnTo>
                    <a:pt x="11965" y="1498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6070088" y="44238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517"/>
                  </a:lnTo>
                  <a:lnTo>
                    <a:pt x="5992" y="4494"/>
                  </a:lnTo>
                  <a:lnTo>
                    <a:pt x="11965" y="1517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rgbClr val="DBA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6070088" y="4311975"/>
              <a:ext cx="299150" cy="149825"/>
            </a:xfrm>
            <a:custGeom>
              <a:avLst/>
              <a:gdLst/>
              <a:ahLst/>
              <a:cxnLst/>
              <a:rect l="l" t="t" r="r" b="b"/>
              <a:pathLst>
                <a:path w="11966" h="5993" extrusionOk="0">
                  <a:moveTo>
                    <a:pt x="5992" y="0"/>
                  </a:moveTo>
                  <a:lnTo>
                    <a:pt x="1" y="2996"/>
                  </a:lnTo>
                  <a:lnTo>
                    <a:pt x="5992" y="5992"/>
                  </a:lnTo>
                  <a:lnTo>
                    <a:pt x="11965" y="2977"/>
                  </a:lnTo>
                  <a:lnTo>
                    <a:pt x="59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5912713" y="4660875"/>
              <a:ext cx="613900" cy="100025"/>
            </a:xfrm>
            <a:custGeom>
              <a:avLst/>
              <a:gdLst/>
              <a:ahLst/>
              <a:cxnLst/>
              <a:rect l="l" t="t" r="r" b="b"/>
              <a:pathLst>
                <a:path w="24556" h="4001" extrusionOk="0">
                  <a:moveTo>
                    <a:pt x="0" y="0"/>
                  </a:moveTo>
                  <a:lnTo>
                    <a:pt x="0" y="1005"/>
                  </a:lnTo>
                  <a:cubicBezTo>
                    <a:pt x="0" y="2655"/>
                    <a:pt x="1347" y="4001"/>
                    <a:pt x="2996" y="4001"/>
                  </a:cubicBezTo>
                  <a:lnTo>
                    <a:pt x="21560" y="4001"/>
                  </a:lnTo>
                  <a:cubicBezTo>
                    <a:pt x="23209" y="4001"/>
                    <a:pt x="24556" y="2655"/>
                    <a:pt x="24556" y="1005"/>
                  </a:cubicBezTo>
                  <a:lnTo>
                    <a:pt x="24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6157313" y="4698300"/>
              <a:ext cx="29425" cy="25150"/>
            </a:xfrm>
            <a:custGeom>
              <a:avLst/>
              <a:gdLst/>
              <a:ahLst/>
              <a:cxnLst/>
              <a:rect l="l" t="t" r="r" b="b"/>
              <a:pathLst>
                <a:path w="1177" h="1006" extrusionOk="0">
                  <a:moveTo>
                    <a:pt x="498" y="1"/>
                  </a:moveTo>
                  <a:cubicBezTo>
                    <a:pt x="242" y="1"/>
                    <a:pt x="1" y="200"/>
                    <a:pt x="1" y="494"/>
                  </a:cubicBezTo>
                  <a:cubicBezTo>
                    <a:pt x="1" y="778"/>
                    <a:pt x="228" y="1006"/>
                    <a:pt x="494" y="1006"/>
                  </a:cubicBezTo>
                  <a:cubicBezTo>
                    <a:pt x="949" y="1006"/>
                    <a:pt x="1176" y="456"/>
                    <a:pt x="854" y="153"/>
                  </a:cubicBezTo>
                  <a:cubicBezTo>
                    <a:pt x="749" y="48"/>
                    <a:pt x="621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5899913" y="4248925"/>
              <a:ext cx="639025" cy="524300"/>
            </a:xfrm>
            <a:custGeom>
              <a:avLst/>
              <a:gdLst/>
              <a:ahLst/>
              <a:cxnLst/>
              <a:rect l="l" t="t" r="r" b="b"/>
              <a:pathLst>
                <a:path w="25561" h="20972" extrusionOk="0">
                  <a:moveTo>
                    <a:pt x="23077" y="1006"/>
                  </a:moveTo>
                  <a:cubicBezTo>
                    <a:pt x="23342" y="1006"/>
                    <a:pt x="23570" y="1233"/>
                    <a:pt x="23570" y="1498"/>
                  </a:cubicBezTo>
                  <a:lnTo>
                    <a:pt x="23570" y="15985"/>
                  </a:lnTo>
                  <a:lnTo>
                    <a:pt x="2010" y="15985"/>
                  </a:lnTo>
                  <a:lnTo>
                    <a:pt x="2010" y="1498"/>
                  </a:lnTo>
                  <a:cubicBezTo>
                    <a:pt x="2010" y="1233"/>
                    <a:pt x="2238" y="1006"/>
                    <a:pt x="2503" y="1006"/>
                  </a:cubicBezTo>
                  <a:close/>
                  <a:moveTo>
                    <a:pt x="24575" y="16971"/>
                  </a:moveTo>
                  <a:lnTo>
                    <a:pt x="24575" y="17483"/>
                  </a:lnTo>
                  <a:cubicBezTo>
                    <a:pt x="24575" y="18848"/>
                    <a:pt x="23456" y="19967"/>
                    <a:pt x="22072" y="19967"/>
                  </a:cubicBezTo>
                  <a:lnTo>
                    <a:pt x="3508" y="19967"/>
                  </a:lnTo>
                  <a:cubicBezTo>
                    <a:pt x="2124" y="19967"/>
                    <a:pt x="1005" y="18848"/>
                    <a:pt x="1005" y="17483"/>
                  </a:cubicBezTo>
                  <a:lnTo>
                    <a:pt x="1005" y="16971"/>
                  </a:lnTo>
                  <a:close/>
                  <a:moveTo>
                    <a:pt x="2503" y="1"/>
                  </a:moveTo>
                  <a:cubicBezTo>
                    <a:pt x="1688" y="1"/>
                    <a:pt x="1005" y="683"/>
                    <a:pt x="1005" y="1498"/>
                  </a:cubicBezTo>
                  <a:lnTo>
                    <a:pt x="1005" y="15985"/>
                  </a:lnTo>
                  <a:lnTo>
                    <a:pt x="512" y="15985"/>
                  </a:lnTo>
                  <a:cubicBezTo>
                    <a:pt x="228" y="15985"/>
                    <a:pt x="0" y="16194"/>
                    <a:pt x="0" y="16478"/>
                  </a:cubicBezTo>
                  <a:lnTo>
                    <a:pt x="0" y="17483"/>
                  </a:lnTo>
                  <a:cubicBezTo>
                    <a:pt x="19" y="19398"/>
                    <a:pt x="1574" y="20972"/>
                    <a:pt x="3508" y="20972"/>
                  </a:cubicBezTo>
                  <a:lnTo>
                    <a:pt x="22072" y="20972"/>
                  </a:lnTo>
                  <a:cubicBezTo>
                    <a:pt x="24006" y="20972"/>
                    <a:pt x="25561" y="19417"/>
                    <a:pt x="25561" y="17483"/>
                  </a:cubicBezTo>
                  <a:lnTo>
                    <a:pt x="25561" y="16478"/>
                  </a:lnTo>
                  <a:cubicBezTo>
                    <a:pt x="25561" y="16194"/>
                    <a:pt x="25352" y="15985"/>
                    <a:pt x="25068" y="15985"/>
                  </a:cubicBezTo>
                  <a:lnTo>
                    <a:pt x="24575" y="15985"/>
                  </a:lnTo>
                  <a:lnTo>
                    <a:pt x="24575" y="1498"/>
                  </a:lnTo>
                  <a:cubicBezTo>
                    <a:pt x="24575" y="683"/>
                    <a:pt x="23892" y="1"/>
                    <a:pt x="230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6202813" y="4698325"/>
              <a:ext cx="83475" cy="25125"/>
            </a:xfrm>
            <a:custGeom>
              <a:avLst/>
              <a:gdLst/>
              <a:ahLst/>
              <a:cxnLst/>
              <a:rect l="l" t="t" r="r" b="b"/>
              <a:pathLst>
                <a:path w="3339" h="1005" extrusionOk="0">
                  <a:moveTo>
                    <a:pt x="683" y="0"/>
                  </a:moveTo>
                  <a:cubicBezTo>
                    <a:pt x="1" y="0"/>
                    <a:pt x="1" y="1005"/>
                    <a:pt x="683" y="1005"/>
                  </a:cubicBezTo>
                  <a:lnTo>
                    <a:pt x="2674" y="1005"/>
                  </a:lnTo>
                  <a:cubicBezTo>
                    <a:pt x="3338" y="1005"/>
                    <a:pt x="3338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6054913" y="4299050"/>
              <a:ext cx="329500" cy="324400"/>
            </a:xfrm>
            <a:custGeom>
              <a:avLst/>
              <a:gdLst/>
              <a:ahLst/>
              <a:cxnLst/>
              <a:rect l="l" t="t" r="r" b="b"/>
              <a:pathLst>
                <a:path w="13180" h="12976" extrusionOk="0">
                  <a:moveTo>
                    <a:pt x="6599" y="1048"/>
                  </a:moveTo>
                  <a:lnTo>
                    <a:pt x="11454" y="3494"/>
                  </a:lnTo>
                  <a:lnTo>
                    <a:pt x="6599" y="5921"/>
                  </a:lnTo>
                  <a:lnTo>
                    <a:pt x="1707" y="3494"/>
                  </a:lnTo>
                  <a:lnTo>
                    <a:pt x="6599" y="1048"/>
                  </a:lnTo>
                  <a:close/>
                  <a:moveTo>
                    <a:pt x="9595" y="5561"/>
                  </a:moveTo>
                  <a:lnTo>
                    <a:pt x="11454" y="6490"/>
                  </a:lnTo>
                  <a:lnTo>
                    <a:pt x="6599" y="8917"/>
                  </a:lnTo>
                  <a:lnTo>
                    <a:pt x="1707" y="6509"/>
                  </a:lnTo>
                  <a:lnTo>
                    <a:pt x="3604" y="5561"/>
                  </a:lnTo>
                  <a:lnTo>
                    <a:pt x="6372" y="6945"/>
                  </a:lnTo>
                  <a:cubicBezTo>
                    <a:pt x="6429" y="6964"/>
                    <a:pt x="6505" y="6983"/>
                    <a:pt x="6599" y="6983"/>
                  </a:cubicBezTo>
                  <a:cubicBezTo>
                    <a:pt x="6675" y="6983"/>
                    <a:pt x="6751" y="6964"/>
                    <a:pt x="6808" y="6945"/>
                  </a:cubicBezTo>
                  <a:lnTo>
                    <a:pt x="9595" y="5561"/>
                  </a:lnTo>
                  <a:close/>
                  <a:moveTo>
                    <a:pt x="9595" y="8538"/>
                  </a:moveTo>
                  <a:lnTo>
                    <a:pt x="11454" y="9486"/>
                  </a:lnTo>
                  <a:lnTo>
                    <a:pt x="6599" y="11913"/>
                  </a:lnTo>
                  <a:lnTo>
                    <a:pt x="1707" y="9486"/>
                  </a:lnTo>
                  <a:lnTo>
                    <a:pt x="3585" y="8538"/>
                  </a:lnTo>
                  <a:lnTo>
                    <a:pt x="6372" y="9922"/>
                  </a:lnTo>
                  <a:cubicBezTo>
                    <a:pt x="6429" y="9960"/>
                    <a:pt x="6505" y="9979"/>
                    <a:pt x="6599" y="9979"/>
                  </a:cubicBezTo>
                  <a:cubicBezTo>
                    <a:pt x="6675" y="9979"/>
                    <a:pt x="6751" y="9960"/>
                    <a:pt x="6808" y="9922"/>
                  </a:cubicBezTo>
                  <a:lnTo>
                    <a:pt x="9595" y="8538"/>
                  </a:lnTo>
                  <a:close/>
                  <a:moveTo>
                    <a:pt x="6590" y="1"/>
                  </a:moveTo>
                  <a:cubicBezTo>
                    <a:pt x="6514" y="1"/>
                    <a:pt x="6438" y="15"/>
                    <a:pt x="6372" y="43"/>
                  </a:cubicBezTo>
                  <a:lnTo>
                    <a:pt x="380" y="3039"/>
                  </a:lnTo>
                  <a:cubicBezTo>
                    <a:pt x="209" y="3134"/>
                    <a:pt x="96" y="3305"/>
                    <a:pt x="96" y="3494"/>
                  </a:cubicBezTo>
                  <a:cubicBezTo>
                    <a:pt x="96" y="3684"/>
                    <a:pt x="209" y="3855"/>
                    <a:pt x="380" y="3930"/>
                  </a:cubicBezTo>
                  <a:lnTo>
                    <a:pt x="2485" y="4992"/>
                  </a:lnTo>
                  <a:lnTo>
                    <a:pt x="380" y="6035"/>
                  </a:lnTo>
                  <a:cubicBezTo>
                    <a:pt x="1" y="6225"/>
                    <a:pt x="1" y="6756"/>
                    <a:pt x="380" y="6926"/>
                  </a:cubicBezTo>
                  <a:lnTo>
                    <a:pt x="2485" y="7988"/>
                  </a:lnTo>
                  <a:lnTo>
                    <a:pt x="380" y="9031"/>
                  </a:lnTo>
                  <a:cubicBezTo>
                    <a:pt x="1" y="9221"/>
                    <a:pt x="1" y="9752"/>
                    <a:pt x="380" y="9922"/>
                  </a:cubicBezTo>
                  <a:lnTo>
                    <a:pt x="6372" y="12918"/>
                  </a:lnTo>
                  <a:cubicBezTo>
                    <a:pt x="6448" y="12956"/>
                    <a:pt x="6524" y="12975"/>
                    <a:pt x="6599" y="12975"/>
                  </a:cubicBezTo>
                  <a:cubicBezTo>
                    <a:pt x="6675" y="12975"/>
                    <a:pt x="6751" y="12956"/>
                    <a:pt x="6827" y="12918"/>
                  </a:cubicBezTo>
                  <a:lnTo>
                    <a:pt x="12800" y="9922"/>
                  </a:lnTo>
                  <a:cubicBezTo>
                    <a:pt x="13179" y="9752"/>
                    <a:pt x="13179" y="9221"/>
                    <a:pt x="12800" y="9031"/>
                  </a:cubicBezTo>
                  <a:lnTo>
                    <a:pt x="10714" y="7988"/>
                  </a:lnTo>
                  <a:lnTo>
                    <a:pt x="12800" y="6926"/>
                  </a:lnTo>
                  <a:cubicBezTo>
                    <a:pt x="13179" y="6756"/>
                    <a:pt x="13179" y="6225"/>
                    <a:pt x="12800" y="6035"/>
                  </a:cubicBezTo>
                  <a:lnTo>
                    <a:pt x="10714" y="4992"/>
                  </a:lnTo>
                  <a:lnTo>
                    <a:pt x="12800" y="3930"/>
                  </a:lnTo>
                  <a:cubicBezTo>
                    <a:pt x="12971" y="3855"/>
                    <a:pt x="13084" y="3684"/>
                    <a:pt x="13084" y="3494"/>
                  </a:cubicBezTo>
                  <a:cubicBezTo>
                    <a:pt x="13084" y="3305"/>
                    <a:pt x="12971" y="3134"/>
                    <a:pt x="12800" y="3039"/>
                  </a:cubicBezTo>
                  <a:lnTo>
                    <a:pt x="6808" y="43"/>
                  </a:lnTo>
                  <a:cubicBezTo>
                    <a:pt x="6742" y="15"/>
                    <a:pt x="6666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2" name="Google Shape;542;p31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545" name="Google Shape;545;p31"/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31"/>
          <p:cNvGrpSpPr/>
          <p:nvPr/>
        </p:nvGrpSpPr>
        <p:grpSpPr>
          <a:xfrm>
            <a:off x="1614876" y="3319984"/>
            <a:ext cx="506092" cy="426611"/>
            <a:chOff x="1665363" y="1706700"/>
            <a:chExt cx="578325" cy="487500"/>
          </a:xfrm>
        </p:grpSpPr>
        <p:sp>
          <p:nvSpPr>
            <p:cNvPr id="549" name="Google Shape;549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31"/>
          <p:cNvGrpSpPr/>
          <p:nvPr/>
        </p:nvGrpSpPr>
        <p:grpSpPr>
          <a:xfrm>
            <a:off x="1084825" y="3161601"/>
            <a:ext cx="506100" cy="1366863"/>
            <a:chOff x="1084825" y="3203163"/>
            <a:chExt cx="506100" cy="1366863"/>
          </a:xfrm>
        </p:grpSpPr>
        <p:cxnSp>
          <p:nvCxnSpPr>
            <p:cNvPr id="552" name="Google Shape;552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554" name="Google Shape;554;p31"/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Google Shape;512;p31">
            <a:extLst>
              <a:ext uri="{FF2B5EF4-FFF2-40B4-BE49-F238E27FC236}">
                <a16:creationId xmlns:a16="http://schemas.microsoft.com/office/drawing/2014/main" id="{3F4D106A-A9ED-D907-13F1-4DC87073EECA}"/>
              </a:ext>
            </a:extLst>
          </p:cNvPr>
          <p:cNvSpPr txBox="1">
            <a:spLocks/>
          </p:cNvSpPr>
          <p:nvPr/>
        </p:nvSpPr>
        <p:spPr>
          <a:xfrm>
            <a:off x="2280025" y="1906763"/>
            <a:ext cx="3864288" cy="546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" sz="1200" dirty="0"/>
              <a:t>&lt; </a:t>
            </a:r>
            <a:r>
              <a:rPr lang="pt-PT" sz="1200" dirty="0"/>
              <a:t>Permitem representar coleções de elementos e realizar operações como: </a:t>
            </a:r>
            <a:r>
              <a:rPr lang="pt-PT" sz="1200" b="1" dirty="0"/>
              <a:t>acesso</a:t>
            </a:r>
            <a:r>
              <a:rPr lang="pt-PT" sz="1200" dirty="0"/>
              <a:t>, </a:t>
            </a:r>
            <a:r>
              <a:rPr lang="pt-PT" sz="1200" b="1" dirty="0"/>
              <a:t>pesquisa</a:t>
            </a:r>
            <a:r>
              <a:rPr lang="pt-PT" sz="1200" dirty="0"/>
              <a:t>, </a:t>
            </a:r>
            <a:r>
              <a:rPr lang="pt-PT" sz="1200" b="1" dirty="0"/>
              <a:t>modificação</a:t>
            </a:r>
            <a:r>
              <a:rPr lang="pt-PT" sz="1200" dirty="0"/>
              <a:t>, </a:t>
            </a:r>
            <a:r>
              <a:rPr lang="pt-PT" sz="1200" b="1" dirty="0"/>
              <a:t>iteração</a:t>
            </a:r>
            <a:r>
              <a:rPr lang="pt-PT" sz="1200" dirty="0"/>
              <a:t> &gt;</a:t>
            </a:r>
          </a:p>
        </p:txBody>
      </p:sp>
      <p:pic>
        <p:nvPicPr>
          <p:cNvPr id="5" name="Picture 4" descr="A blue and yellow snake logo&#10;&#10;Description automatically generated with medium confidence">
            <a:extLst>
              <a:ext uri="{FF2B5EF4-FFF2-40B4-BE49-F238E27FC236}">
                <a16:creationId xmlns:a16="http://schemas.microsoft.com/office/drawing/2014/main" id="{54AA5AE1-1077-3245-3F82-548BAEC5D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327" y="992449"/>
            <a:ext cx="2734679" cy="1358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Google Shape;513;p31">
            <a:extLst>
              <a:ext uri="{FF2B5EF4-FFF2-40B4-BE49-F238E27FC236}">
                <a16:creationId xmlns:a16="http://schemas.microsoft.com/office/drawing/2014/main" id="{B73AA59F-F96D-4E7D-646D-7385EBBA845D}"/>
              </a:ext>
            </a:extLst>
          </p:cNvPr>
          <p:cNvSpPr txBox="1">
            <a:spLocks/>
          </p:cNvSpPr>
          <p:nvPr/>
        </p:nvSpPr>
        <p:spPr>
          <a:xfrm>
            <a:off x="2240149" y="3508517"/>
            <a:ext cx="3904164" cy="444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pt-PT" sz="1200" dirty="0"/>
              <a:t>&lt; Coleções podem ser </a:t>
            </a:r>
            <a:r>
              <a:rPr lang="pt-PT" sz="1200" b="1" dirty="0"/>
              <a:t>iteráveis</a:t>
            </a:r>
            <a:r>
              <a:rPr lang="pt-PT" sz="1200" dirty="0"/>
              <a:t> e </a:t>
            </a:r>
            <a:r>
              <a:rPr lang="pt-PT" sz="1200" b="1" dirty="0"/>
              <a:t>mutáveis</a:t>
            </a:r>
            <a:r>
              <a:rPr lang="pt-PT" sz="1200" dirty="0"/>
              <a:t> ou </a:t>
            </a:r>
            <a:r>
              <a:rPr lang="pt-PT" sz="1200" b="1" dirty="0"/>
              <a:t>imutáveis</a:t>
            </a:r>
            <a:r>
              <a:rPr lang="pt-PT" sz="1200" dirty="0"/>
              <a:t> &gt;</a:t>
            </a:r>
          </a:p>
        </p:txBody>
      </p:sp>
      <p:sp>
        <p:nvSpPr>
          <p:cNvPr id="7" name="Google Shape;513;p31">
            <a:extLst>
              <a:ext uri="{FF2B5EF4-FFF2-40B4-BE49-F238E27FC236}">
                <a16:creationId xmlns:a16="http://schemas.microsoft.com/office/drawing/2014/main" id="{67486290-057C-E8F3-351E-7C3DBCFE55C7}"/>
              </a:ext>
            </a:extLst>
          </p:cNvPr>
          <p:cNvSpPr txBox="1">
            <a:spLocks/>
          </p:cNvSpPr>
          <p:nvPr/>
        </p:nvSpPr>
        <p:spPr>
          <a:xfrm>
            <a:off x="2240149" y="4005606"/>
            <a:ext cx="3904164" cy="444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pt-PT" sz="1200" dirty="0"/>
              <a:t>&lt; Permite diferentes tipos de dados dentro da mesma estrutura (exceto sets e dicionários com chaves) &gt;</a:t>
            </a:r>
          </a:p>
        </p:txBody>
      </p:sp>
      <p:pic>
        <p:nvPicPr>
          <p:cNvPr id="8" name="Picture 7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7D103A31-5949-1810-0A26-6E1591D9D73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1702" t="5131" r="1702" b="5071"/>
          <a:stretch/>
        </p:blipFill>
        <p:spPr>
          <a:xfrm>
            <a:off x="6161785" y="3162033"/>
            <a:ext cx="2734678" cy="1220122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01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Estrutura de Dados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&lt; </a:t>
            </a:r>
            <a:r>
              <a:rPr lang="pt-PT" dirty="0"/>
              <a:t>Como os dados são armazenados no </a:t>
            </a:r>
            <a:r>
              <a:rPr lang="pt-PT" dirty="0" err="1"/>
              <a:t>python</a:t>
            </a:r>
            <a:r>
              <a:rPr lang="pt-PT" dirty="0"/>
              <a:t>?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>
          <a:extLst>
            <a:ext uri="{FF2B5EF4-FFF2-40B4-BE49-F238E27FC236}">
              <a16:creationId xmlns:a16="http://schemas.microsoft.com/office/drawing/2014/main" id="{7FFCA1E9-8B1F-DC9F-7F5C-0EBE58A3E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33BF2C02-70A1-55C1-1BDE-5E4E4D6AE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6900" y="572417"/>
            <a:ext cx="4038250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Estrutura de Dados: </a:t>
            </a:r>
            <a:r>
              <a:rPr lang="en" b="1" dirty="0">
                <a:solidFill>
                  <a:schemeClr val="accent2"/>
                </a:solidFill>
              </a:rPr>
              <a:t>‘</a:t>
            </a:r>
            <a:r>
              <a:rPr lang="pt-PT" b="1" dirty="0">
                <a:solidFill>
                  <a:srgbClr val="92D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Listas</a:t>
            </a:r>
            <a:r>
              <a:rPr lang="en" b="1" dirty="0">
                <a:solidFill>
                  <a:schemeClr val="accent2"/>
                </a:solidFill>
              </a:rPr>
              <a:t>’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879" name="Google Shape;879;p44">
            <a:extLst>
              <a:ext uri="{FF2B5EF4-FFF2-40B4-BE49-F238E27FC236}">
                <a16:creationId xmlns:a16="http://schemas.microsoft.com/office/drawing/2014/main" id="{C92D5CC0-EE55-CDBC-E5C6-0D02EE85B1A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0" name="Google Shape;880;p44">
            <a:extLst>
              <a:ext uri="{FF2B5EF4-FFF2-40B4-BE49-F238E27FC236}">
                <a16:creationId xmlns:a16="http://schemas.microsoft.com/office/drawing/2014/main" id="{00E2BEF6-2C66-2EF7-6607-8A0F9121136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1" name="Google Shape;881;p44">
            <a:extLst>
              <a:ext uri="{FF2B5EF4-FFF2-40B4-BE49-F238E27FC236}">
                <a16:creationId xmlns:a16="http://schemas.microsoft.com/office/drawing/2014/main" id="{19C7C6EE-9EEF-F936-0C77-CC0FCAB1457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Google Shape;697;p60">
            <a:extLst>
              <a:ext uri="{FF2B5EF4-FFF2-40B4-BE49-F238E27FC236}">
                <a16:creationId xmlns:a16="http://schemas.microsoft.com/office/drawing/2014/main" id="{8A44E8A4-08DD-DBE3-ECDD-38EF7FABB6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5575224" y="1012939"/>
            <a:ext cx="3416376" cy="2431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pt-PT" sz="1500" b="1" dirty="0"/>
              <a:t>Descrição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Coleção </a:t>
            </a:r>
            <a:r>
              <a:rPr lang="pt-PT" sz="1200" b="1" dirty="0"/>
              <a:t>ordenada</a:t>
            </a:r>
            <a:r>
              <a:rPr lang="pt-PT" sz="1200" dirty="0"/>
              <a:t> e </a:t>
            </a:r>
            <a:r>
              <a:rPr lang="pt-PT" sz="1200" b="1" dirty="0"/>
              <a:t>mutável</a:t>
            </a:r>
            <a:r>
              <a:rPr lang="pt-PT" sz="1200" dirty="0"/>
              <a:t> de elementos.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Permite </a:t>
            </a:r>
            <a:r>
              <a:rPr lang="pt-PT" sz="1200" b="1" dirty="0"/>
              <a:t>elementos</a:t>
            </a:r>
            <a:r>
              <a:rPr lang="pt-PT" sz="1200" dirty="0"/>
              <a:t> </a:t>
            </a:r>
            <a:r>
              <a:rPr lang="pt-PT" sz="1200" b="1" dirty="0"/>
              <a:t>repetidos</a:t>
            </a:r>
            <a:r>
              <a:rPr lang="pt-PT" sz="1200" dirty="0"/>
              <a:t>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A estrutura </a:t>
            </a:r>
            <a:r>
              <a:rPr lang="pt-PT" sz="1200" b="1" dirty="0"/>
              <a:t>mais usada </a:t>
            </a:r>
            <a:r>
              <a:rPr lang="pt-PT" sz="1200" dirty="0"/>
              <a:t>para armazenar sequências de dados.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pt-PT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pt-PT" sz="1500" b="1" dirty="0"/>
              <a:t>Quando Usar?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Quando precisas de </a:t>
            </a:r>
            <a:r>
              <a:rPr lang="pt-PT" sz="1200" b="1" dirty="0"/>
              <a:t>alterar</a:t>
            </a:r>
            <a:r>
              <a:rPr lang="pt-PT" sz="1200" dirty="0"/>
              <a:t> ou </a:t>
            </a:r>
            <a:r>
              <a:rPr lang="pt-PT" sz="1200" b="1" dirty="0"/>
              <a:t>adicionar/remover </a:t>
            </a:r>
            <a:r>
              <a:rPr lang="pt-PT" sz="1200" dirty="0"/>
              <a:t>elementos frequentemente.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Quando a </a:t>
            </a:r>
            <a:r>
              <a:rPr lang="pt-PT" sz="1200" b="1" dirty="0"/>
              <a:t>ordem importa</a:t>
            </a:r>
            <a:r>
              <a:rPr lang="pt-PT" sz="1200" dirty="0"/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36B7E-B279-3A2A-0D8E-ACC5CEF358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85" t="13057" r="6605" b="13749"/>
          <a:stretch/>
        </p:blipFill>
        <p:spPr>
          <a:xfrm>
            <a:off x="5984145" y="3458737"/>
            <a:ext cx="2598533" cy="10991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8" descr="Akshay 🚀 on X: &quot;Python List Methods clearly Explained!🚀 Here are brief  descriptions for each, followed by Illustrations below! • append( ): Adds  an element to the end of the list. •">
            <a:extLst>
              <a:ext uri="{FF2B5EF4-FFF2-40B4-BE49-F238E27FC236}">
                <a16:creationId xmlns:a16="http://schemas.microsoft.com/office/drawing/2014/main" id="{417A2804-D756-357F-F8FE-B17206D8FC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1179868" y="1149854"/>
            <a:ext cx="4249548" cy="3056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730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>
          <a:extLst>
            <a:ext uri="{FF2B5EF4-FFF2-40B4-BE49-F238E27FC236}">
              <a16:creationId xmlns:a16="http://schemas.microsoft.com/office/drawing/2014/main" id="{B8F6B09C-1E4E-B5F3-3ECD-724B7C6C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A6F7B6DB-551A-4452-D859-259279777C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6900" y="572417"/>
            <a:ext cx="4038250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Estrutura de Dados: </a:t>
            </a:r>
            <a:r>
              <a:rPr lang="en" b="1" dirty="0">
                <a:solidFill>
                  <a:schemeClr val="accent2"/>
                </a:solidFill>
              </a:rPr>
              <a:t>‘</a:t>
            </a:r>
            <a:r>
              <a:rPr lang="pt-PT" b="1" dirty="0" err="1">
                <a:solidFill>
                  <a:srgbClr val="92D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Tuplos</a:t>
            </a:r>
            <a:r>
              <a:rPr lang="en" b="1" dirty="0">
                <a:solidFill>
                  <a:schemeClr val="accent2"/>
                </a:solidFill>
              </a:rPr>
              <a:t>’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879" name="Google Shape;879;p44">
            <a:extLst>
              <a:ext uri="{FF2B5EF4-FFF2-40B4-BE49-F238E27FC236}">
                <a16:creationId xmlns:a16="http://schemas.microsoft.com/office/drawing/2014/main" id="{545804B4-A00D-CAA3-7100-FBDDA02EE5F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0" name="Google Shape;880;p44">
            <a:extLst>
              <a:ext uri="{FF2B5EF4-FFF2-40B4-BE49-F238E27FC236}">
                <a16:creationId xmlns:a16="http://schemas.microsoft.com/office/drawing/2014/main" id="{82FB5DE4-1ECB-A769-746D-FA23FAB8BFA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1" name="Google Shape;881;p44">
            <a:extLst>
              <a:ext uri="{FF2B5EF4-FFF2-40B4-BE49-F238E27FC236}">
                <a16:creationId xmlns:a16="http://schemas.microsoft.com/office/drawing/2014/main" id="{6F46E4F3-DF09-B8C2-4047-2912382C047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Google Shape;697;p60">
            <a:extLst>
              <a:ext uri="{FF2B5EF4-FFF2-40B4-BE49-F238E27FC236}">
                <a16:creationId xmlns:a16="http://schemas.microsoft.com/office/drawing/2014/main" id="{2899A25F-35D0-DC84-3189-BD3D84D8BB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4364182" y="1012939"/>
            <a:ext cx="4627418" cy="2431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pt-PT" sz="1400" b="1" dirty="0"/>
              <a:t>Descrição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Coleção </a:t>
            </a:r>
            <a:r>
              <a:rPr lang="pt-PT" sz="1200" b="1" dirty="0"/>
              <a:t>ordenada</a:t>
            </a:r>
            <a:r>
              <a:rPr lang="pt-PT" sz="1200" dirty="0"/>
              <a:t> e </a:t>
            </a:r>
            <a:r>
              <a:rPr lang="pt-PT" sz="1200" b="1" dirty="0"/>
              <a:t>imutável</a:t>
            </a:r>
            <a:r>
              <a:rPr lang="pt-PT" sz="1200" dirty="0"/>
              <a:t>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Permite </a:t>
            </a:r>
            <a:r>
              <a:rPr lang="pt-PT" sz="1200" b="1" dirty="0"/>
              <a:t>elementos repetidos</a:t>
            </a:r>
            <a:r>
              <a:rPr lang="pt-PT" sz="1200" dirty="0"/>
              <a:t>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Muito eficiente em </a:t>
            </a:r>
            <a:r>
              <a:rPr lang="pt-PT" sz="1200" b="1" dirty="0"/>
              <a:t>memória</a:t>
            </a:r>
            <a:r>
              <a:rPr lang="pt-PT" sz="1200" dirty="0"/>
              <a:t> e </a:t>
            </a:r>
            <a:r>
              <a:rPr lang="pt-PT" sz="1200" b="1" dirty="0"/>
              <a:t>segurança dos dados</a:t>
            </a:r>
            <a:r>
              <a:rPr lang="pt-PT" sz="1200" dirty="0"/>
              <a:t>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pt-PT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pt-PT" sz="1400" b="1" dirty="0"/>
              <a:t>Quando Usar?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Quando os dados são </a:t>
            </a:r>
            <a:r>
              <a:rPr lang="pt-PT" sz="1200" b="1" dirty="0"/>
              <a:t>constantes</a:t>
            </a:r>
            <a:r>
              <a:rPr lang="pt-PT" sz="1200" dirty="0"/>
              <a:t> e </a:t>
            </a:r>
            <a:r>
              <a:rPr lang="pt-PT" sz="1200" b="1" dirty="0"/>
              <a:t>não devem ser alterados</a:t>
            </a:r>
            <a:r>
              <a:rPr lang="pt-PT" sz="1200" dirty="0"/>
              <a:t>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Em </a:t>
            </a:r>
            <a:r>
              <a:rPr lang="pt-PT" sz="1200" b="1" dirty="0"/>
              <a:t>chaves de dicionário </a:t>
            </a:r>
            <a:r>
              <a:rPr lang="pt-PT" sz="1200" dirty="0"/>
              <a:t>ou como </a:t>
            </a:r>
            <a:r>
              <a:rPr lang="pt-PT" sz="1200" b="1" dirty="0"/>
              <a:t>valores de retorno múltiplos</a:t>
            </a:r>
            <a:r>
              <a:rPr lang="pt-PT" sz="1200" dirty="0"/>
              <a:t>.</a:t>
            </a:r>
            <a:endParaRPr lang="pt-PT" sz="1200" b="1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pt-PT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sz="1400" b="1" dirty="0"/>
          </a:p>
        </p:txBody>
      </p:sp>
      <p:pic>
        <p:nvPicPr>
          <p:cNvPr id="2" name="Picture 6" descr="Python Tuple &amp; Tuple Methods (,). Tuples are collection are same or same… |  by Narayanan | Medium">
            <a:extLst>
              <a:ext uri="{FF2B5EF4-FFF2-40B4-BE49-F238E27FC236}">
                <a16:creationId xmlns:a16="http://schemas.microsoft.com/office/drawing/2014/main" id="{848702BA-CAD1-ACD7-702D-DA50EF936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41" y="945917"/>
            <a:ext cx="2925524" cy="35106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0F399E-424E-B416-371F-8778405149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85" t="13918" r="10085" b="13918"/>
          <a:stretch/>
        </p:blipFill>
        <p:spPr>
          <a:xfrm>
            <a:off x="5364120" y="3256927"/>
            <a:ext cx="2442060" cy="1625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92801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>
          <a:extLst>
            <a:ext uri="{FF2B5EF4-FFF2-40B4-BE49-F238E27FC236}">
              <a16:creationId xmlns:a16="http://schemas.microsoft.com/office/drawing/2014/main" id="{4A257499-2FD9-6CD5-17D3-7DE9543E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4C136308-635E-617C-C6E8-74457434F7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1525" y="572417"/>
            <a:ext cx="4038250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Estrutura de Dados: </a:t>
            </a:r>
            <a:r>
              <a:rPr lang="en" b="1" dirty="0">
                <a:solidFill>
                  <a:schemeClr val="accent2"/>
                </a:solidFill>
              </a:rPr>
              <a:t>‘</a:t>
            </a:r>
            <a:r>
              <a:rPr lang="pt-PT" b="1" dirty="0">
                <a:solidFill>
                  <a:srgbClr val="92D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</a:t>
            </a:r>
            <a:r>
              <a:rPr lang="en" b="1" dirty="0">
                <a:solidFill>
                  <a:schemeClr val="accent2"/>
                </a:solidFill>
              </a:rPr>
              <a:t>’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879" name="Google Shape;879;p44">
            <a:extLst>
              <a:ext uri="{FF2B5EF4-FFF2-40B4-BE49-F238E27FC236}">
                <a16:creationId xmlns:a16="http://schemas.microsoft.com/office/drawing/2014/main" id="{16BC46D7-9805-BCD8-E815-878DB2CEAC8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0" name="Google Shape;880;p44">
            <a:extLst>
              <a:ext uri="{FF2B5EF4-FFF2-40B4-BE49-F238E27FC236}">
                <a16:creationId xmlns:a16="http://schemas.microsoft.com/office/drawing/2014/main" id="{CC2847EC-A933-3A47-7FAA-572A07B71BE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1" name="Google Shape;881;p44">
            <a:extLst>
              <a:ext uri="{FF2B5EF4-FFF2-40B4-BE49-F238E27FC236}">
                <a16:creationId xmlns:a16="http://schemas.microsoft.com/office/drawing/2014/main" id="{2D41F125-B9EC-72CC-B0FF-628602C4769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1" name="Google Shape;697;p60">
            <a:extLst>
              <a:ext uri="{FF2B5EF4-FFF2-40B4-BE49-F238E27FC236}">
                <a16:creationId xmlns:a16="http://schemas.microsoft.com/office/drawing/2014/main" id="{B2DE53CE-811B-34A7-2037-606453E57D2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4208445" y="945917"/>
            <a:ext cx="4865100" cy="1930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 b="1" dirty="0"/>
              <a:t>Descrição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300" dirty="0"/>
              <a:t>Coleção </a:t>
            </a:r>
            <a:r>
              <a:rPr lang="pt-PT" sz="1300" b="1" dirty="0"/>
              <a:t>não ordenada </a:t>
            </a:r>
            <a:r>
              <a:rPr lang="pt-PT" sz="1300" dirty="0"/>
              <a:t>e </a:t>
            </a:r>
            <a:r>
              <a:rPr lang="pt-PT" sz="1300" b="1" dirty="0"/>
              <a:t>sem elementos repetidos</a:t>
            </a:r>
            <a:r>
              <a:rPr lang="pt-PT" sz="1300" dirty="0"/>
              <a:t>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300" dirty="0"/>
              <a:t>Ideal para operações de conjuntos matemáticos (união, interseção, etc.).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pt-PT" sz="1500" b="1" dirty="0"/>
              <a:t>Quando Usar?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300" dirty="0"/>
              <a:t>Quando precisas de </a:t>
            </a:r>
            <a:r>
              <a:rPr lang="pt-PT" sz="1300" b="1" dirty="0"/>
              <a:t>eliminar duplicados</a:t>
            </a:r>
            <a:r>
              <a:rPr lang="pt-PT" sz="1300" dirty="0"/>
              <a:t>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300" dirty="0"/>
              <a:t>Quando a </a:t>
            </a:r>
            <a:r>
              <a:rPr lang="pt-PT" sz="1300" b="1" dirty="0"/>
              <a:t>ordem não interessa </a:t>
            </a:r>
            <a:r>
              <a:rPr lang="pt-PT" sz="1300" dirty="0"/>
              <a:t>e vais fazer </a:t>
            </a:r>
            <a:r>
              <a:rPr lang="pt-PT" sz="1300" b="1" dirty="0"/>
              <a:t>operações entre coleções</a:t>
            </a:r>
            <a:r>
              <a:rPr lang="pt-PT" sz="1300" dirty="0"/>
              <a:t>.</a:t>
            </a:r>
            <a:endParaRPr sz="1400" b="1" dirty="0"/>
          </a:p>
        </p:txBody>
      </p:sp>
      <p:pic>
        <p:nvPicPr>
          <p:cNvPr id="12" name="Picture 2" descr="PYTHON SET METHODS . : r/programming_tips">
            <a:extLst>
              <a:ext uri="{FF2B5EF4-FFF2-40B4-BE49-F238E27FC236}">
                <a16:creationId xmlns:a16="http://schemas.microsoft.com/office/drawing/2014/main" id="{5692F87D-A4B5-8C95-CB40-17723CE802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7" t="8741" r="14296" b="6962"/>
          <a:stretch/>
        </p:blipFill>
        <p:spPr bwMode="auto">
          <a:xfrm>
            <a:off x="1174294" y="945917"/>
            <a:ext cx="3034151" cy="35818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94B4A4-0F4D-59DD-360C-F378EB64F4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29" t="9869" r="7210" b="10885"/>
          <a:stretch/>
        </p:blipFill>
        <p:spPr>
          <a:xfrm>
            <a:off x="5492810" y="2936791"/>
            <a:ext cx="2184680" cy="15909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252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>
          <a:extLst>
            <a:ext uri="{FF2B5EF4-FFF2-40B4-BE49-F238E27FC236}">
              <a16:creationId xmlns:a16="http://schemas.microsoft.com/office/drawing/2014/main" id="{FD830819-8E6E-A029-AAE7-1D69DB5A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1A21CA67-8F75-8F80-335E-E98FDE788E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0" y="572417"/>
            <a:ext cx="4572000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Estrutura de Dados: </a:t>
            </a:r>
            <a:r>
              <a:rPr lang="en" b="1" dirty="0">
                <a:solidFill>
                  <a:schemeClr val="accent2"/>
                </a:solidFill>
              </a:rPr>
              <a:t>‘</a:t>
            </a:r>
            <a:r>
              <a:rPr lang="pt-PT" b="1" dirty="0">
                <a:solidFill>
                  <a:srgbClr val="92D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Dictionary</a:t>
            </a:r>
            <a:r>
              <a:rPr lang="en" b="1" dirty="0">
                <a:solidFill>
                  <a:schemeClr val="accent2"/>
                </a:solidFill>
              </a:rPr>
              <a:t>’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879" name="Google Shape;879;p44">
            <a:extLst>
              <a:ext uri="{FF2B5EF4-FFF2-40B4-BE49-F238E27FC236}">
                <a16:creationId xmlns:a16="http://schemas.microsoft.com/office/drawing/2014/main" id="{525B4B04-704D-D8BF-FDC5-BC75E9D1005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0" name="Google Shape;880;p44">
            <a:extLst>
              <a:ext uri="{FF2B5EF4-FFF2-40B4-BE49-F238E27FC236}">
                <a16:creationId xmlns:a16="http://schemas.microsoft.com/office/drawing/2014/main" id="{E64BBECD-74FD-315C-3A97-1F5F80CE252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1" name="Google Shape;881;p44">
            <a:extLst>
              <a:ext uri="{FF2B5EF4-FFF2-40B4-BE49-F238E27FC236}">
                <a16:creationId xmlns:a16="http://schemas.microsoft.com/office/drawing/2014/main" id="{1E7CDB33-0CEA-2537-50CF-F333BEFE19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2" name="Picture 2" descr="Dictionary in Python Class 11 Notes | Tuples and Dictionaries – techtipnow">
            <a:extLst>
              <a:ext uri="{FF2B5EF4-FFF2-40B4-BE49-F238E27FC236}">
                <a16:creationId xmlns:a16="http://schemas.microsoft.com/office/drawing/2014/main" id="{C32E85F1-29BC-ECD6-A075-B1260640C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057" y="1069509"/>
            <a:ext cx="3738572" cy="33628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697;p60">
            <a:extLst>
              <a:ext uri="{FF2B5EF4-FFF2-40B4-BE49-F238E27FC236}">
                <a16:creationId xmlns:a16="http://schemas.microsoft.com/office/drawing/2014/main" id="{E5A8B373-5C1B-078B-A031-A36AE60F78E8}"/>
              </a:ext>
            </a:extLst>
          </p:cNvPr>
          <p:cNvSpPr txBox="1">
            <a:spLocks/>
          </p:cNvSpPr>
          <p:nvPr/>
        </p:nvSpPr>
        <p:spPr>
          <a:xfrm flipH="1">
            <a:off x="4930917" y="1069509"/>
            <a:ext cx="3963701" cy="206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0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Fira Code"/>
              <a:buNone/>
              <a:defRPr sz="21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pt-PT" sz="1500" b="1" dirty="0"/>
              <a:t>Descrição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300" dirty="0"/>
              <a:t>Coleção de pares </a:t>
            </a:r>
            <a:r>
              <a:rPr lang="pt-PT" sz="1300" b="1" dirty="0" err="1"/>
              <a:t>chave:valor</a:t>
            </a:r>
            <a:r>
              <a:rPr lang="pt-PT" sz="13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300" dirty="0"/>
              <a:t>As chaves são </a:t>
            </a:r>
            <a:r>
              <a:rPr lang="pt-PT" sz="1300" b="1" dirty="0"/>
              <a:t>únicas</a:t>
            </a:r>
            <a:r>
              <a:rPr lang="pt-PT" sz="1300" dirty="0"/>
              <a:t> e podem ser de tipos </a:t>
            </a:r>
            <a:r>
              <a:rPr lang="pt-PT" sz="1300" b="1" dirty="0"/>
              <a:t>imutáveis</a:t>
            </a:r>
            <a:r>
              <a:rPr lang="pt-PT" sz="1300" dirty="0"/>
              <a:t> (</a:t>
            </a:r>
            <a:r>
              <a:rPr lang="pt-PT" sz="1300" dirty="0" err="1"/>
              <a:t>string</a:t>
            </a:r>
            <a:r>
              <a:rPr lang="pt-PT" sz="1300" dirty="0"/>
              <a:t>, número, </a:t>
            </a:r>
            <a:r>
              <a:rPr lang="pt-PT" sz="1300" dirty="0" err="1"/>
              <a:t>tuplo</a:t>
            </a:r>
            <a:r>
              <a:rPr lang="pt-PT" sz="13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300" dirty="0"/>
              <a:t>Muito útil para </a:t>
            </a:r>
            <a:r>
              <a:rPr lang="pt-PT" sz="1300" b="1" dirty="0"/>
              <a:t>mapear</a:t>
            </a:r>
            <a:r>
              <a:rPr lang="pt-PT" sz="1300" dirty="0"/>
              <a:t> ou associar informações.</a:t>
            </a:r>
          </a:p>
          <a:p>
            <a:pPr marL="0" indent="0"/>
            <a:endParaRPr lang="pt-PT" sz="1300" dirty="0"/>
          </a:p>
          <a:p>
            <a:pPr marL="0" indent="0" algn="ctr"/>
            <a:r>
              <a:rPr lang="pt-PT" sz="1500" b="1" dirty="0"/>
              <a:t>Quando Usar?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300" dirty="0"/>
              <a:t>Quando precisas de associar </a:t>
            </a:r>
            <a:r>
              <a:rPr lang="pt-PT" sz="1300" b="1" dirty="0"/>
              <a:t>valores a nomes, </a:t>
            </a:r>
            <a:r>
              <a:rPr lang="pt-PT" sz="1300" b="1" dirty="0" err="1"/>
              <a:t>IDs</a:t>
            </a:r>
            <a:r>
              <a:rPr lang="pt-PT" sz="1300" b="1" dirty="0"/>
              <a:t>, ou categorias</a:t>
            </a:r>
            <a:r>
              <a:rPr lang="pt-PT" sz="13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300" dirty="0"/>
              <a:t>Quando procuras </a:t>
            </a:r>
            <a:r>
              <a:rPr lang="pt-PT" sz="1300" b="1" dirty="0"/>
              <a:t>acesso rápido </a:t>
            </a:r>
            <a:r>
              <a:rPr lang="pt-PT" sz="1300" dirty="0"/>
              <a:t>a um valor por uma chave.</a:t>
            </a:r>
            <a:endParaRPr lang="pt-PT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E58C79-A0BD-CBFA-B071-74911C8E6F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18" t="17733" r="6416" b="17627"/>
          <a:stretch/>
        </p:blipFill>
        <p:spPr>
          <a:xfrm>
            <a:off x="5161288" y="3938725"/>
            <a:ext cx="3502958" cy="93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4542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0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</a:t>
            </a:r>
            <a:r>
              <a:rPr lang="en" sz="5000"/>
              <a:t> </a:t>
            </a:r>
            <a:r>
              <a:rPr lang="en" sz="5000">
                <a:solidFill>
                  <a:schemeClr val="accent6"/>
                </a:solidFill>
              </a:rPr>
              <a:t>{</a:t>
            </a:r>
            <a:r>
              <a:rPr lang="en" sz="2800">
                <a:solidFill>
                  <a:schemeClr val="accent3"/>
                </a:solidFill>
              </a:rPr>
              <a:t> </a:t>
            </a:r>
            <a:r>
              <a:rPr lang="en" sz="6000">
                <a:solidFill>
                  <a:schemeClr val="accent2"/>
                </a:solidFill>
              </a:rPr>
              <a:t>You;</a:t>
            </a:r>
            <a:r>
              <a:rPr lang="en" sz="5000">
                <a:solidFill>
                  <a:schemeClr val="accent2"/>
                </a:solidFill>
              </a:rPr>
              <a:t> 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822" name="Google Shape;822;p4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Python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23" name="Google Shape;823;p4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lesson0.py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24" name="Google Shape;824;p40"/>
          <p:cNvSpPr txBox="1"/>
          <p:nvPr/>
        </p:nvSpPr>
        <p:spPr>
          <a:xfrm>
            <a:off x="2544750" y="3415438"/>
            <a:ext cx="506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825" name="Google Shape;825;p40"/>
          <p:cNvCxnSpPr>
            <a:endCxn id="824" idx="0"/>
          </p:cNvCxnSpPr>
          <p:nvPr/>
        </p:nvCxnSpPr>
        <p:spPr>
          <a:xfrm>
            <a:off x="2797800" y="2876338"/>
            <a:ext cx="0" cy="539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6" name="Google Shape;826;p4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lesson0.ipynb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Google Shape;822;p40">
            <a:extLst>
              <a:ext uri="{FF2B5EF4-FFF2-40B4-BE49-F238E27FC236}">
                <a16:creationId xmlns:a16="http://schemas.microsoft.com/office/drawing/2014/main" id="{91C57C21-603E-F342-2987-BD2716C07C18}"/>
              </a:ext>
            </a:extLst>
          </p:cNvPr>
          <p:cNvSpPr txBox="1">
            <a:spLocks/>
          </p:cNvSpPr>
          <p:nvPr/>
        </p:nvSpPr>
        <p:spPr>
          <a:xfrm>
            <a:off x="2858964" y="2966187"/>
            <a:ext cx="542397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pt-PT">
                <a:solidFill>
                  <a:schemeClr val="accent3"/>
                </a:solidFill>
              </a:rPr>
              <a:t>Made by: </a:t>
            </a:r>
            <a:r>
              <a:rPr lang="pt-PT" sz="1600" b="1">
                <a:solidFill>
                  <a:schemeClr val="accent3"/>
                </a:solidFill>
              </a:rPr>
              <a:t>D</a:t>
            </a:r>
            <a:r>
              <a:rPr lang="pt-PT">
                <a:solidFill>
                  <a:schemeClr val="accent3"/>
                </a:solidFill>
              </a:rPr>
              <a:t>iogo Freitas &amp; </a:t>
            </a:r>
            <a:r>
              <a:rPr lang="pt-PT" sz="1600" b="1">
                <a:solidFill>
                  <a:schemeClr val="accent3"/>
                </a:solidFill>
              </a:rPr>
              <a:t>J</a:t>
            </a:r>
            <a:r>
              <a:rPr lang="pt-PT">
                <a:solidFill>
                  <a:schemeClr val="accent3"/>
                </a:solidFill>
              </a:rPr>
              <a:t>oão Francisco Botas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5" name="Google Shape;15375;p7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65209DBFF0BD4CA334E984111739BD" ma:contentTypeVersion="18" ma:contentTypeDescription="Criar um novo documento." ma:contentTypeScope="" ma:versionID="58ab01216903763b651f1645b3b88d73">
  <xsd:schema xmlns:xsd="http://www.w3.org/2001/XMLSchema" xmlns:xs="http://www.w3.org/2001/XMLSchema" xmlns:p="http://schemas.microsoft.com/office/2006/metadata/properties" xmlns:ns3="e5320658-45b1-444d-b7a9-3efd9c437958" xmlns:ns4="3f59f02c-74f8-4e70-b149-5783d454d21b" targetNamespace="http://schemas.microsoft.com/office/2006/metadata/properties" ma:root="true" ma:fieldsID="095824ff48cee5bb69c36370f5aa33c7" ns3:_="" ns4:_="">
    <xsd:import namespace="e5320658-45b1-444d-b7a9-3efd9c437958"/>
    <xsd:import namespace="3f59f02c-74f8-4e70-b149-5783d454d2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20658-45b1-444d-b7a9-3efd9c437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59f02c-74f8-4e70-b149-5783d454d21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320658-45b1-444d-b7a9-3efd9c437958" xsi:nil="true"/>
  </documentManagement>
</p:properties>
</file>

<file path=customXml/itemProps1.xml><?xml version="1.0" encoding="utf-8"?>
<ds:datastoreItem xmlns:ds="http://schemas.openxmlformats.org/officeDocument/2006/customXml" ds:itemID="{76485B3A-E43F-4C5D-B96C-118FAEF3AD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320658-45b1-444d-b7a9-3efd9c437958"/>
    <ds:schemaRef ds:uri="3f59f02c-74f8-4e70-b149-5783d454d2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F96409-10EE-4E1A-B70C-9E7CDBF15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8D5C2D-34F7-49CB-9E33-7ECF4FD1D57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5320658-45b1-444d-b7a9-3efd9c437958"/>
    <ds:schemaRef ds:uri="http://purl.org/dc/elements/1.1/"/>
    <ds:schemaRef ds:uri="http://schemas.microsoft.com/office/2006/metadata/properties"/>
    <ds:schemaRef ds:uri="3f59f02c-74f8-4e70-b149-5783d454d21b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424</Words>
  <Application>Microsoft Office PowerPoint</Application>
  <PresentationFormat>On-screen Show (16:9)</PresentationFormat>
  <Paragraphs>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Proxima Nova</vt:lpstr>
      <vt:lpstr>Fira Code</vt:lpstr>
      <vt:lpstr>Arial</vt:lpstr>
      <vt:lpstr>Proxima Nova Semibold</vt:lpstr>
      <vt:lpstr>Programming Language Workshop for Beginners by Slidesgo</vt:lpstr>
      <vt:lpstr>Slidesgo Final Pages</vt:lpstr>
      <vt:lpstr>Python ‘Language’{</vt:lpstr>
      <vt:lpstr>O que são? &lt; /1 &gt; { </vt:lpstr>
      <vt:lpstr>01 {</vt:lpstr>
      <vt:lpstr>Estrutura de Dados: ‘Listas’</vt:lpstr>
      <vt:lpstr>Estrutura de Dados: ‘Tuplos’</vt:lpstr>
      <vt:lpstr>Estrutura de Dados: ‘Set’</vt:lpstr>
      <vt:lpstr>Estrutura de Dados: ‘Dictionary’</vt:lpstr>
      <vt:lpstr>Thank { You;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Diogo Freitas</dc:creator>
  <cp:lastModifiedBy>Diogo Alonso de Freitas</cp:lastModifiedBy>
  <cp:revision>4</cp:revision>
  <dcterms:modified xsi:type="dcterms:W3CDTF">2026-06-15T19:33:38Z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0x0101005B65209DBFF0BD4CA334E984111739BD</vt:lpwstr>
  </property>
</Properties>
</file>