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  <p:sldMasterId id="2147483673" r:id="rId5"/>
  </p:sldMasterIdLst>
  <p:notesMasterIdLst>
    <p:notesMasterId r:id="rId16"/>
  </p:notesMasterIdLst>
  <p:sldIdLst>
    <p:sldId id="256" r:id="rId6"/>
    <p:sldId id="260" r:id="rId7"/>
    <p:sldId id="259" r:id="rId8"/>
    <p:sldId id="346" r:id="rId9"/>
    <p:sldId id="352" r:id="rId10"/>
    <p:sldId id="356" r:id="rId11"/>
    <p:sldId id="358" r:id="rId12"/>
    <p:sldId id="357" r:id="rId13"/>
    <p:sldId id="350" r:id="rId14"/>
    <p:sldId id="351" r:id="rId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Fira Code" panose="020B0809050000020004" pitchFamily="49" charset="0"/>
      <p:regular r:id="rId21"/>
      <p:bold r:id="rId22"/>
    </p:embeddedFont>
    <p:embeddedFont>
      <p:font typeface="Proxima Nova" panose="020B0604020202020204" charset="0"/>
      <p:regular r:id="rId23"/>
      <p:bold r:id="rId24"/>
      <p:italic r:id="rId25"/>
      <p:boldItalic r:id="rId26"/>
    </p:embeddedFont>
    <p:embeddedFont>
      <p:font typeface="Proxima Nova Semibold" panose="020B0604020202020204" charset="0"/>
      <p:regular r:id="rId27"/>
      <p:bold r:id="rId28"/>
      <p:boldItalic r:id="rId29"/>
    </p:embeddedFont>
    <p:embeddedFont>
      <p:font typeface="Redressed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1B4CF-D2F7-4FB5-ACB5-359192273FC0}" v="1" dt="2026-06-15T19:33:38.417"/>
  </p1510:revLst>
</p1510:revInfo>
</file>

<file path=ppt/tableStyles.xml><?xml version="1.0" encoding="utf-8"?>
<a:tblStyleLst xmlns:a="http://schemas.openxmlformats.org/drawingml/2006/main" def="{F79E5C73-CB60-4C57-98AB-6179EFCD7AC7}">
  <a:tblStyle styleId="{F79E5C73-CB60-4C57-98AB-6179EFCD7A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7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43264445-6E02-8A78-045D-93057C3E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AEDAE583-66D7-9A10-934D-32DCBBCB9B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20B597A3-0E24-8CF7-8D98-903EF70B8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06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08BE3491-20B7-BE07-9EA3-9BB9666C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>
            <a:extLst>
              <a:ext uri="{FF2B5EF4-FFF2-40B4-BE49-F238E27FC236}">
                <a16:creationId xmlns:a16="http://schemas.microsoft.com/office/drawing/2014/main" id="{564898CA-DA42-05C3-6C31-8D01EDCFE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>
            <a:extLst>
              <a:ext uri="{FF2B5EF4-FFF2-40B4-BE49-F238E27FC236}">
                <a16:creationId xmlns:a16="http://schemas.microsoft.com/office/drawing/2014/main" id="{30E52C62-ABA2-B4E7-593E-53F9F504F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3900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9B88E8CC-2C4B-F1EF-C702-B7AAD15A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0A34E98D-4D9F-563A-FE59-6415407FBD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8689C9A3-4EC5-566D-83AB-DAE3934E1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581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9914D7FA-F344-E532-D94D-90D255D3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4A84CD33-285D-331B-6053-223E714D7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912D5498-A6EA-57A4-3E69-F95E34938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043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>
          <a:extLst>
            <a:ext uri="{FF2B5EF4-FFF2-40B4-BE49-F238E27FC236}">
              <a16:creationId xmlns:a16="http://schemas.microsoft.com/office/drawing/2014/main" id="{F05F12E7-CE40-0B3E-1477-2DB9C737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e916184070_0_1840:notes">
            <a:extLst>
              <a:ext uri="{FF2B5EF4-FFF2-40B4-BE49-F238E27FC236}">
                <a16:creationId xmlns:a16="http://schemas.microsoft.com/office/drawing/2014/main" id="{65A04F3F-73E8-7E13-FEA5-8E3484A07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e916184070_0_1840:notes">
            <a:extLst>
              <a:ext uri="{FF2B5EF4-FFF2-40B4-BE49-F238E27FC236}">
                <a16:creationId xmlns:a16="http://schemas.microsoft.com/office/drawing/2014/main" id="{C451365E-C781-E8ED-9F78-BE0EED30E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91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Google Shape;15372;ge916184070_4_14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3" name="Google Shape;15373;ge916184070_4_14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60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2" name="Google Shape;452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while_loops.as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while_loops.as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for_loops.as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for_loops.a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for_loops.as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for_loops.as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theme/programming-language-workshop-for-beginners#search-python&amp;position-3&amp;results-13&amp;rs=searc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 </a:t>
            </a:r>
            <a:r>
              <a:rPr lang="en" dirty="0">
                <a:solidFill>
                  <a:schemeClr val="accent2"/>
                </a:solidFill>
              </a:rPr>
              <a:t>‘Language’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80024" y="2411200"/>
            <a:ext cx="3642791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dirty="0"/>
              <a:t>&lt; </a:t>
            </a:r>
            <a:r>
              <a:rPr lang="pt-PT" sz="2000" b="1" dirty="0" err="1">
                <a:solidFill>
                  <a:schemeClr val="accent1"/>
                </a:solidFill>
              </a:rPr>
              <a:t>Loops</a:t>
            </a:r>
            <a:r>
              <a:rPr lang="pt-PT" sz="2000" b="1" dirty="0">
                <a:solidFill>
                  <a:schemeClr val="accent1"/>
                </a:solidFill>
              </a:rPr>
              <a:t> </a:t>
            </a:r>
            <a:r>
              <a:rPr lang="pt-PT" sz="2000" b="1" dirty="0"/>
              <a:t>&gt;</a:t>
            </a:r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AI </a:t>
            </a:r>
            <a:r>
              <a:rPr lang="en" dirty="0">
                <a:solidFill>
                  <a:schemeClr val="lt2"/>
                </a:solidFill>
              </a:rPr>
              <a:t>for </a:t>
            </a:r>
            <a:r>
              <a:rPr lang="en" dirty="0">
                <a:solidFill>
                  <a:schemeClr val="accent1"/>
                </a:solidFill>
              </a:rPr>
              <a:t>Tech Leaders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Google Shape;502;p30">
            <a:extLst>
              <a:ext uri="{FF2B5EF4-FFF2-40B4-BE49-F238E27FC236}">
                <a16:creationId xmlns:a16="http://schemas.microsoft.com/office/drawing/2014/main" id="{C589E41D-C030-44DD-215B-C0C078448539}"/>
              </a:ext>
            </a:extLst>
          </p:cNvPr>
          <p:cNvSpPr txBox="1">
            <a:spLocks/>
          </p:cNvSpPr>
          <p:nvPr/>
        </p:nvSpPr>
        <p:spPr>
          <a:xfrm>
            <a:off x="2280024" y="2937503"/>
            <a:ext cx="4321667" cy="441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600" dirty="0"/>
              <a:t>&lt; O que é um Loop? &gt;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43249" y="621240"/>
            <a:ext cx="5506681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O que são </a:t>
            </a:r>
            <a:r>
              <a:rPr lang="pt-PT" dirty="0" err="1"/>
              <a:t>Loops</a:t>
            </a:r>
            <a:r>
              <a:rPr lang="pt-PT" dirty="0"/>
              <a:t>? </a:t>
            </a:r>
            <a:r>
              <a:rPr lang="en" dirty="0"/>
              <a:t>&lt; /1 &gt;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</a:p>
        </p:txBody>
      </p:sp>
      <p:grpSp>
        <p:nvGrpSpPr>
          <p:cNvPr id="516" name="Google Shape;516;p31"/>
          <p:cNvGrpSpPr/>
          <p:nvPr/>
        </p:nvGrpSpPr>
        <p:grpSpPr>
          <a:xfrm>
            <a:off x="1707884" y="1417701"/>
            <a:ext cx="320076" cy="320076"/>
            <a:chOff x="1562938" y="4248450"/>
            <a:chExt cx="475950" cy="475950"/>
          </a:xfrm>
        </p:grpSpPr>
        <p:sp>
          <p:nvSpPr>
            <p:cNvPr id="517" name="Google Shape;517;p31"/>
            <p:cNvSpPr/>
            <p:nvPr/>
          </p:nvSpPr>
          <p:spPr>
            <a:xfrm>
              <a:off x="1571938" y="4257450"/>
              <a:ext cx="457475" cy="290150"/>
            </a:xfrm>
            <a:custGeom>
              <a:avLst/>
              <a:gdLst/>
              <a:ahLst/>
              <a:cxnLst/>
              <a:rect l="l" t="t" r="r" b="b"/>
              <a:pathLst>
                <a:path w="18299" h="11606" extrusionOk="0">
                  <a:moveTo>
                    <a:pt x="740" y="1"/>
                  </a:moveTo>
                  <a:cubicBezTo>
                    <a:pt x="342" y="1"/>
                    <a:pt x="1" y="342"/>
                    <a:pt x="1" y="740"/>
                  </a:cubicBezTo>
                  <a:lnTo>
                    <a:pt x="1" y="11605"/>
                  </a:lnTo>
                  <a:lnTo>
                    <a:pt x="18299" y="11605"/>
                  </a:lnTo>
                  <a:lnTo>
                    <a:pt x="18299" y="740"/>
                  </a:lnTo>
                  <a:cubicBezTo>
                    <a:pt x="18299" y="342"/>
                    <a:pt x="17976" y="1"/>
                    <a:pt x="17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611763" y="4294900"/>
              <a:ext cx="377825" cy="252700"/>
            </a:xfrm>
            <a:custGeom>
              <a:avLst/>
              <a:gdLst/>
              <a:ahLst/>
              <a:cxnLst/>
              <a:rect l="l" t="t" r="r" b="b"/>
              <a:pathLst>
                <a:path w="15113" h="10108" extrusionOk="0">
                  <a:moveTo>
                    <a:pt x="1" y="1"/>
                  </a:moveTo>
                  <a:lnTo>
                    <a:pt x="1" y="10107"/>
                  </a:lnTo>
                  <a:lnTo>
                    <a:pt x="15113" y="10107"/>
                  </a:lnTo>
                  <a:lnTo>
                    <a:pt x="151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875338" y="4356050"/>
              <a:ext cx="73975" cy="92950"/>
            </a:xfrm>
            <a:custGeom>
              <a:avLst/>
              <a:gdLst/>
              <a:ahLst/>
              <a:cxnLst/>
              <a:rect l="l" t="t" r="r" b="b"/>
              <a:pathLst>
                <a:path w="2959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58" y="371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571938" y="4547575"/>
              <a:ext cx="457475" cy="167350"/>
            </a:xfrm>
            <a:custGeom>
              <a:avLst/>
              <a:gdLst/>
              <a:ahLst/>
              <a:cxnLst/>
              <a:rect l="l" t="t" r="r" b="b"/>
              <a:pathLst>
                <a:path w="18299" h="6694" extrusionOk="0">
                  <a:moveTo>
                    <a:pt x="1" y="0"/>
                  </a:moveTo>
                  <a:lnTo>
                    <a:pt x="1" y="2238"/>
                  </a:lnTo>
                  <a:cubicBezTo>
                    <a:pt x="1" y="2636"/>
                    <a:pt x="342" y="2977"/>
                    <a:pt x="740" y="2977"/>
                  </a:cubicBezTo>
                  <a:lnTo>
                    <a:pt x="7661" y="2977"/>
                  </a:lnTo>
                  <a:lnTo>
                    <a:pt x="7661" y="3717"/>
                  </a:lnTo>
                  <a:cubicBezTo>
                    <a:pt x="7661" y="4551"/>
                    <a:pt x="6998" y="5215"/>
                    <a:pt x="6182" y="5215"/>
                  </a:cubicBezTo>
                  <a:cubicBezTo>
                    <a:pt x="5348" y="5215"/>
                    <a:pt x="4684" y="5878"/>
                    <a:pt x="4684" y="6694"/>
                  </a:cubicBezTo>
                  <a:lnTo>
                    <a:pt x="13615" y="6694"/>
                  </a:lnTo>
                  <a:cubicBezTo>
                    <a:pt x="13615" y="5878"/>
                    <a:pt x="12952" y="5215"/>
                    <a:pt x="12136" y="5215"/>
                  </a:cubicBezTo>
                  <a:cubicBezTo>
                    <a:pt x="11302" y="5215"/>
                    <a:pt x="10638" y="4551"/>
                    <a:pt x="10638" y="3717"/>
                  </a:cubicBezTo>
                  <a:lnTo>
                    <a:pt x="10638" y="2977"/>
                  </a:lnTo>
                  <a:lnTo>
                    <a:pt x="17559" y="2977"/>
                  </a:lnTo>
                  <a:cubicBezTo>
                    <a:pt x="17976" y="2977"/>
                    <a:pt x="18299" y="2636"/>
                    <a:pt x="18299" y="2238"/>
                  </a:cubicBezTo>
                  <a:lnTo>
                    <a:pt x="18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7634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652063" y="4356050"/>
              <a:ext cx="74450" cy="92950"/>
            </a:xfrm>
            <a:custGeom>
              <a:avLst/>
              <a:gdLst/>
              <a:ahLst/>
              <a:cxnLst/>
              <a:rect l="l" t="t" r="r" b="b"/>
              <a:pathLst>
                <a:path w="2978" h="3718" extrusionOk="0">
                  <a:moveTo>
                    <a:pt x="0" y="1"/>
                  </a:moveTo>
                  <a:lnTo>
                    <a:pt x="0" y="3717"/>
                  </a:lnTo>
                  <a:lnTo>
                    <a:pt x="2977" y="3717"/>
                  </a:lnTo>
                  <a:lnTo>
                    <a:pt x="2977" y="1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828413" y="4575450"/>
              <a:ext cx="21825" cy="18600"/>
            </a:xfrm>
            <a:custGeom>
              <a:avLst/>
              <a:gdLst/>
              <a:ahLst/>
              <a:cxnLst/>
              <a:rect l="l" t="t" r="r" b="b"/>
              <a:pathLst>
                <a:path w="873" h="744" extrusionOk="0">
                  <a:moveTo>
                    <a:pt x="384" y="0"/>
                  </a:moveTo>
                  <a:cubicBezTo>
                    <a:pt x="198" y="0"/>
                    <a:pt x="19" y="148"/>
                    <a:pt x="19" y="364"/>
                  </a:cubicBezTo>
                  <a:cubicBezTo>
                    <a:pt x="0" y="573"/>
                    <a:pt x="171" y="743"/>
                    <a:pt x="379" y="743"/>
                  </a:cubicBezTo>
                  <a:cubicBezTo>
                    <a:pt x="721" y="743"/>
                    <a:pt x="872" y="345"/>
                    <a:pt x="645" y="118"/>
                  </a:cubicBezTo>
                  <a:cubicBezTo>
                    <a:pt x="570" y="36"/>
                    <a:pt x="476" y="0"/>
                    <a:pt x="3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62938" y="4248450"/>
              <a:ext cx="475950" cy="475950"/>
            </a:xfrm>
            <a:custGeom>
              <a:avLst/>
              <a:gdLst/>
              <a:ahLst/>
              <a:cxnLst/>
              <a:rect l="l" t="t" r="r" b="b"/>
              <a:pathLst>
                <a:path w="19038" h="19038" extrusionOk="0">
                  <a:moveTo>
                    <a:pt x="16687" y="2219"/>
                  </a:moveTo>
                  <a:lnTo>
                    <a:pt x="16687" y="11605"/>
                  </a:lnTo>
                  <a:lnTo>
                    <a:pt x="2333" y="11605"/>
                  </a:lnTo>
                  <a:lnTo>
                    <a:pt x="2333" y="2219"/>
                  </a:lnTo>
                  <a:close/>
                  <a:moveTo>
                    <a:pt x="17919" y="740"/>
                  </a:moveTo>
                  <a:cubicBezTo>
                    <a:pt x="18128" y="740"/>
                    <a:pt x="18279" y="911"/>
                    <a:pt x="18279" y="1100"/>
                  </a:cubicBezTo>
                  <a:lnTo>
                    <a:pt x="18279" y="11605"/>
                  </a:lnTo>
                  <a:lnTo>
                    <a:pt x="17426" y="11605"/>
                  </a:lnTo>
                  <a:lnTo>
                    <a:pt x="17426" y="1859"/>
                  </a:lnTo>
                  <a:cubicBezTo>
                    <a:pt x="17426" y="1650"/>
                    <a:pt x="17274" y="1480"/>
                    <a:pt x="17066" y="1480"/>
                  </a:cubicBezTo>
                  <a:lnTo>
                    <a:pt x="1954" y="1480"/>
                  </a:lnTo>
                  <a:cubicBezTo>
                    <a:pt x="1764" y="1480"/>
                    <a:pt x="1593" y="1650"/>
                    <a:pt x="1593" y="1859"/>
                  </a:cubicBezTo>
                  <a:lnTo>
                    <a:pt x="1593" y="11605"/>
                  </a:lnTo>
                  <a:lnTo>
                    <a:pt x="740" y="11605"/>
                  </a:lnTo>
                  <a:lnTo>
                    <a:pt x="740" y="1100"/>
                  </a:lnTo>
                  <a:cubicBezTo>
                    <a:pt x="740" y="911"/>
                    <a:pt x="911" y="740"/>
                    <a:pt x="1100" y="740"/>
                  </a:cubicBezTo>
                  <a:close/>
                  <a:moveTo>
                    <a:pt x="18279" y="12344"/>
                  </a:moveTo>
                  <a:lnTo>
                    <a:pt x="18279" y="14184"/>
                  </a:lnTo>
                  <a:cubicBezTo>
                    <a:pt x="18279" y="14392"/>
                    <a:pt x="18128" y="14563"/>
                    <a:pt x="17919" y="14563"/>
                  </a:cubicBezTo>
                  <a:lnTo>
                    <a:pt x="1100" y="14563"/>
                  </a:lnTo>
                  <a:cubicBezTo>
                    <a:pt x="911" y="14563"/>
                    <a:pt x="740" y="14392"/>
                    <a:pt x="740" y="14184"/>
                  </a:cubicBezTo>
                  <a:lnTo>
                    <a:pt x="740" y="12344"/>
                  </a:lnTo>
                  <a:close/>
                  <a:moveTo>
                    <a:pt x="10638" y="15321"/>
                  </a:moveTo>
                  <a:lnTo>
                    <a:pt x="10638" y="15682"/>
                  </a:lnTo>
                  <a:cubicBezTo>
                    <a:pt x="10619" y="16080"/>
                    <a:pt x="10752" y="16478"/>
                    <a:pt x="10998" y="16800"/>
                  </a:cubicBezTo>
                  <a:lnTo>
                    <a:pt x="8021" y="16800"/>
                  </a:lnTo>
                  <a:cubicBezTo>
                    <a:pt x="8268" y="16478"/>
                    <a:pt x="8401" y="16080"/>
                    <a:pt x="8401" y="15682"/>
                  </a:cubicBezTo>
                  <a:lnTo>
                    <a:pt x="8401" y="15321"/>
                  </a:lnTo>
                  <a:close/>
                  <a:moveTo>
                    <a:pt x="12496" y="17540"/>
                  </a:moveTo>
                  <a:cubicBezTo>
                    <a:pt x="12951" y="17540"/>
                    <a:pt x="13387" y="17843"/>
                    <a:pt x="13539" y="18279"/>
                  </a:cubicBezTo>
                  <a:lnTo>
                    <a:pt x="5480" y="18279"/>
                  </a:lnTo>
                  <a:cubicBezTo>
                    <a:pt x="5632" y="17843"/>
                    <a:pt x="6068" y="17540"/>
                    <a:pt x="6542" y="17540"/>
                  </a:cubicBezTo>
                  <a:close/>
                  <a:moveTo>
                    <a:pt x="1100" y="1"/>
                  </a:moveTo>
                  <a:cubicBezTo>
                    <a:pt x="494" y="1"/>
                    <a:pt x="1" y="494"/>
                    <a:pt x="1" y="1100"/>
                  </a:cubicBezTo>
                  <a:lnTo>
                    <a:pt x="1" y="14203"/>
                  </a:lnTo>
                  <a:cubicBezTo>
                    <a:pt x="1" y="14809"/>
                    <a:pt x="494" y="15321"/>
                    <a:pt x="1100" y="15321"/>
                  </a:cubicBezTo>
                  <a:lnTo>
                    <a:pt x="7661" y="15321"/>
                  </a:lnTo>
                  <a:lnTo>
                    <a:pt x="7661" y="15682"/>
                  </a:lnTo>
                  <a:cubicBezTo>
                    <a:pt x="7642" y="16307"/>
                    <a:pt x="7149" y="16800"/>
                    <a:pt x="6542" y="16800"/>
                  </a:cubicBezTo>
                  <a:cubicBezTo>
                    <a:pt x="5518" y="16800"/>
                    <a:pt x="4684" y="17635"/>
                    <a:pt x="4684" y="18659"/>
                  </a:cubicBezTo>
                  <a:cubicBezTo>
                    <a:pt x="4684" y="18867"/>
                    <a:pt x="4836" y="19038"/>
                    <a:pt x="5044" y="19038"/>
                  </a:cubicBezTo>
                  <a:lnTo>
                    <a:pt x="13975" y="19038"/>
                  </a:lnTo>
                  <a:cubicBezTo>
                    <a:pt x="14184" y="19038"/>
                    <a:pt x="14354" y="18867"/>
                    <a:pt x="14354" y="18659"/>
                  </a:cubicBezTo>
                  <a:cubicBezTo>
                    <a:pt x="14354" y="17635"/>
                    <a:pt x="13520" y="16800"/>
                    <a:pt x="12496" y="16800"/>
                  </a:cubicBezTo>
                  <a:cubicBezTo>
                    <a:pt x="11870" y="16800"/>
                    <a:pt x="11377" y="16307"/>
                    <a:pt x="11377" y="15682"/>
                  </a:cubicBezTo>
                  <a:lnTo>
                    <a:pt x="11377" y="15321"/>
                  </a:lnTo>
                  <a:lnTo>
                    <a:pt x="17919" y="15321"/>
                  </a:lnTo>
                  <a:cubicBezTo>
                    <a:pt x="18526" y="15321"/>
                    <a:pt x="19038" y="14809"/>
                    <a:pt x="19038" y="14203"/>
                  </a:cubicBezTo>
                  <a:lnTo>
                    <a:pt x="19038" y="1100"/>
                  </a:lnTo>
                  <a:cubicBezTo>
                    <a:pt x="19038" y="494"/>
                    <a:pt x="18526" y="1"/>
                    <a:pt x="17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642588" y="4346575"/>
              <a:ext cx="92925" cy="111900"/>
            </a:xfrm>
            <a:custGeom>
              <a:avLst/>
              <a:gdLst/>
              <a:ahLst/>
              <a:cxnLst/>
              <a:rect l="l" t="t" r="r" b="b"/>
              <a:pathLst>
                <a:path w="3717" h="4476" extrusionOk="0">
                  <a:moveTo>
                    <a:pt x="2977" y="759"/>
                  </a:moveTo>
                  <a:lnTo>
                    <a:pt x="2977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79" y="1"/>
                  </a:moveTo>
                  <a:cubicBezTo>
                    <a:pt x="171" y="1"/>
                    <a:pt x="0" y="171"/>
                    <a:pt x="0" y="380"/>
                  </a:cubicBezTo>
                  <a:lnTo>
                    <a:pt x="0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753988" y="4346575"/>
              <a:ext cx="93400" cy="111900"/>
            </a:xfrm>
            <a:custGeom>
              <a:avLst/>
              <a:gdLst/>
              <a:ahLst/>
              <a:cxnLst/>
              <a:rect l="l" t="t" r="r" b="b"/>
              <a:pathLst>
                <a:path w="3736" h="4476" extrusionOk="0">
                  <a:moveTo>
                    <a:pt x="2996" y="759"/>
                  </a:moveTo>
                  <a:lnTo>
                    <a:pt x="2996" y="3736"/>
                  </a:lnTo>
                  <a:lnTo>
                    <a:pt x="759" y="3736"/>
                  </a:lnTo>
                  <a:lnTo>
                    <a:pt x="759" y="759"/>
                  </a:lnTo>
                  <a:close/>
                  <a:moveTo>
                    <a:pt x="379" y="1"/>
                  </a:moveTo>
                  <a:cubicBezTo>
                    <a:pt x="171" y="1"/>
                    <a:pt x="19" y="171"/>
                    <a:pt x="19" y="380"/>
                  </a:cubicBezTo>
                  <a:lnTo>
                    <a:pt x="19" y="4096"/>
                  </a:lnTo>
                  <a:cubicBezTo>
                    <a:pt x="0" y="4305"/>
                    <a:pt x="171" y="4476"/>
                    <a:pt x="379" y="4476"/>
                  </a:cubicBezTo>
                  <a:lnTo>
                    <a:pt x="3356" y="4476"/>
                  </a:lnTo>
                  <a:cubicBezTo>
                    <a:pt x="3565" y="4476"/>
                    <a:pt x="3735" y="4305"/>
                    <a:pt x="3735" y="4096"/>
                  </a:cubicBezTo>
                  <a:lnTo>
                    <a:pt x="3735" y="380"/>
                  </a:lnTo>
                  <a:cubicBezTo>
                    <a:pt x="3735" y="171"/>
                    <a:pt x="3565" y="1"/>
                    <a:pt x="33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865838" y="4346575"/>
              <a:ext cx="92950" cy="111900"/>
            </a:xfrm>
            <a:custGeom>
              <a:avLst/>
              <a:gdLst/>
              <a:ahLst/>
              <a:cxnLst/>
              <a:rect l="l" t="t" r="r" b="b"/>
              <a:pathLst>
                <a:path w="3718" h="4476" extrusionOk="0">
                  <a:moveTo>
                    <a:pt x="2978" y="759"/>
                  </a:moveTo>
                  <a:lnTo>
                    <a:pt x="2978" y="3736"/>
                  </a:lnTo>
                  <a:lnTo>
                    <a:pt x="740" y="3736"/>
                  </a:lnTo>
                  <a:lnTo>
                    <a:pt x="740" y="759"/>
                  </a:lnTo>
                  <a:close/>
                  <a:moveTo>
                    <a:pt x="380" y="1"/>
                  </a:moveTo>
                  <a:cubicBezTo>
                    <a:pt x="172" y="1"/>
                    <a:pt x="1" y="171"/>
                    <a:pt x="1" y="380"/>
                  </a:cubicBezTo>
                  <a:lnTo>
                    <a:pt x="1" y="4096"/>
                  </a:lnTo>
                  <a:cubicBezTo>
                    <a:pt x="1" y="4305"/>
                    <a:pt x="172" y="4476"/>
                    <a:pt x="380" y="4476"/>
                  </a:cubicBezTo>
                  <a:lnTo>
                    <a:pt x="3357" y="4476"/>
                  </a:lnTo>
                  <a:cubicBezTo>
                    <a:pt x="3547" y="4476"/>
                    <a:pt x="3717" y="4305"/>
                    <a:pt x="3717" y="4096"/>
                  </a:cubicBezTo>
                  <a:lnTo>
                    <a:pt x="3717" y="380"/>
                  </a:lnTo>
                  <a:cubicBezTo>
                    <a:pt x="3717" y="171"/>
                    <a:pt x="3547" y="1"/>
                    <a:pt x="3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6397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751138" y="4476950"/>
              <a:ext cx="99100" cy="18500"/>
            </a:xfrm>
            <a:custGeom>
              <a:avLst/>
              <a:gdLst/>
              <a:ahLst/>
              <a:cxnLst/>
              <a:rect l="l" t="t" r="r" b="b"/>
              <a:pathLst>
                <a:path w="3964" h="740" extrusionOk="0">
                  <a:moveTo>
                    <a:pt x="493" y="0"/>
                  </a:moveTo>
                  <a:cubicBezTo>
                    <a:pt x="0" y="0"/>
                    <a:pt x="0" y="740"/>
                    <a:pt x="493" y="740"/>
                  </a:cubicBezTo>
                  <a:lnTo>
                    <a:pt x="3470" y="740"/>
                  </a:lnTo>
                  <a:cubicBezTo>
                    <a:pt x="3963" y="740"/>
                    <a:pt x="3963" y="0"/>
                    <a:pt x="34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862538" y="4476950"/>
              <a:ext cx="99575" cy="18500"/>
            </a:xfrm>
            <a:custGeom>
              <a:avLst/>
              <a:gdLst/>
              <a:ahLst/>
              <a:cxnLst/>
              <a:rect l="l" t="t" r="r" b="b"/>
              <a:pathLst>
                <a:path w="3983" h="740" extrusionOk="0">
                  <a:moveTo>
                    <a:pt x="512" y="0"/>
                  </a:moveTo>
                  <a:cubicBezTo>
                    <a:pt x="0" y="0"/>
                    <a:pt x="0" y="740"/>
                    <a:pt x="512" y="740"/>
                  </a:cubicBezTo>
                  <a:lnTo>
                    <a:pt x="3489" y="740"/>
                  </a:lnTo>
                  <a:cubicBezTo>
                    <a:pt x="3982" y="740"/>
                    <a:pt x="3982" y="0"/>
                    <a:pt x="34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751138" y="4575525"/>
              <a:ext cx="62125" cy="18525"/>
            </a:xfrm>
            <a:custGeom>
              <a:avLst/>
              <a:gdLst/>
              <a:ahLst/>
              <a:cxnLst/>
              <a:rect l="l" t="t" r="r" b="b"/>
              <a:pathLst>
                <a:path w="2485" h="741" extrusionOk="0">
                  <a:moveTo>
                    <a:pt x="493" y="1"/>
                  </a:moveTo>
                  <a:cubicBezTo>
                    <a:pt x="0" y="1"/>
                    <a:pt x="0" y="740"/>
                    <a:pt x="493" y="740"/>
                  </a:cubicBezTo>
                  <a:lnTo>
                    <a:pt x="1991" y="740"/>
                  </a:lnTo>
                  <a:cubicBezTo>
                    <a:pt x="2484" y="740"/>
                    <a:pt x="2484" y="1"/>
                    <a:pt x="19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2" name="Google Shape;542;p31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43" name="Google Shape;543;p31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44" name="Google Shape;544;p31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545" name="Google Shape;545;p31"/>
          <p:cNvGrpSpPr/>
          <p:nvPr/>
        </p:nvGrpSpPr>
        <p:grpSpPr>
          <a:xfrm>
            <a:off x="1614876" y="1364434"/>
            <a:ext cx="506092" cy="426611"/>
            <a:chOff x="1665363" y="1706700"/>
            <a:chExt cx="578325" cy="487500"/>
          </a:xfrm>
        </p:grpSpPr>
        <p:sp>
          <p:nvSpPr>
            <p:cNvPr id="546" name="Google Shape;546;p31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55" name="Google Shape;555;p31"/>
          <p:cNvCxnSpPr>
            <a:cxnSpLocks/>
          </p:cNvCxnSpPr>
          <p:nvPr/>
        </p:nvCxnSpPr>
        <p:spPr>
          <a:xfrm>
            <a:off x="1337875" y="1208050"/>
            <a:ext cx="0" cy="2635128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513;p31">
            <a:extLst>
              <a:ext uri="{FF2B5EF4-FFF2-40B4-BE49-F238E27FC236}">
                <a16:creationId xmlns:a16="http://schemas.microsoft.com/office/drawing/2014/main" id="{67486290-057C-E8F3-351E-7C3DBCFE55C7}"/>
              </a:ext>
            </a:extLst>
          </p:cNvPr>
          <p:cNvSpPr txBox="1">
            <a:spLocks/>
          </p:cNvSpPr>
          <p:nvPr/>
        </p:nvSpPr>
        <p:spPr>
          <a:xfrm>
            <a:off x="1526640" y="1964369"/>
            <a:ext cx="3904164" cy="444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200" dirty="0"/>
              <a:t>&lt; Um </a:t>
            </a:r>
            <a:r>
              <a:rPr lang="pt-PT" sz="1200" dirty="0" err="1"/>
              <a:t>loop</a:t>
            </a:r>
            <a:r>
              <a:rPr lang="pt-PT" sz="1200" dirty="0"/>
              <a:t> serve para repetir um conjunto de instruções automaticamente 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53986-2E40-3697-4B32-3241FEEDDF84}"/>
              </a:ext>
            </a:extLst>
          </p:cNvPr>
          <p:cNvSpPr txBox="1"/>
          <p:nvPr/>
        </p:nvSpPr>
        <p:spPr>
          <a:xfrm>
            <a:off x="1062514" y="3969412"/>
            <a:ext cx="4641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</a:p>
          <a:p>
            <a:endParaRPr lang="en-US" sz="2800" dirty="0"/>
          </a:p>
        </p:txBody>
      </p:sp>
      <p:sp>
        <p:nvSpPr>
          <p:cNvPr id="16" name="Google Shape;513;p31">
            <a:extLst>
              <a:ext uri="{FF2B5EF4-FFF2-40B4-BE49-F238E27FC236}">
                <a16:creationId xmlns:a16="http://schemas.microsoft.com/office/drawing/2014/main" id="{1DA37288-8085-7966-0E52-34D093DEB89A}"/>
              </a:ext>
            </a:extLst>
          </p:cNvPr>
          <p:cNvSpPr txBox="1">
            <a:spLocks/>
          </p:cNvSpPr>
          <p:nvPr/>
        </p:nvSpPr>
        <p:spPr>
          <a:xfrm>
            <a:off x="1526640" y="2569507"/>
            <a:ext cx="3904164" cy="57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200" dirty="0"/>
              <a:t>&lt; Em vez de escrever o mesmo código muitas vezes, usamos um </a:t>
            </a:r>
            <a:r>
              <a:rPr lang="pt-PT" sz="1200" dirty="0" err="1"/>
              <a:t>loop</a:t>
            </a:r>
            <a:r>
              <a:rPr lang="pt-PT" sz="1200" dirty="0"/>
              <a:t> para fazer isso por nós &gt;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9AF9D8-1AD5-E423-754A-C07045E8D3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76" t="9655" r="10134" b="9422"/>
          <a:stretch/>
        </p:blipFill>
        <p:spPr>
          <a:xfrm>
            <a:off x="5603284" y="1208050"/>
            <a:ext cx="3134862" cy="3258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Google Shape;513;p31">
            <a:extLst>
              <a:ext uri="{FF2B5EF4-FFF2-40B4-BE49-F238E27FC236}">
                <a16:creationId xmlns:a16="http://schemas.microsoft.com/office/drawing/2014/main" id="{ED26FAAE-000D-60DB-1523-4CE7CAAB1309}"/>
              </a:ext>
            </a:extLst>
          </p:cNvPr>
          <p:cNvSpPr txBox="1">
            <a:spLocks/>
          </p:cNvSpPr>
          <p:nvPr/>
        </p:nvSpPr>
        <p:spPr>
          <a:xfrm>
            <a:off x="1526640" y="3340950"/>
            <a:ext cx="3904164" cy="57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pt-PT" sz="1200" dirty="0"/>
              <a:t>&lt; Isso torna o código mais limpo, mais curto e mais fácil de manter &gt;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pt-PT" dirty="0" err="1">
                <a:solidFill>
                  <a:schemeClr val="accent1"/>
                </a:solidFill>
              </a:rPr>
              <a:t>Loops</a:t>
            </a:r>
            <a:r>
              <a:rPr lang="pt-PT" dirty="0">
                <a:solidFill>
                  <a:schemeClr val="accent1"/>
                </a:solidFill>
              </a:rPr>
              <a:t> - </a:t>
            </a:r>
            <a:r>
              <a:rPr lang="pt-PT" dirty="0">
                <a:solidFill>
                  <a:schemeClr val="accent1"/>
                </a:solidFill>
                <a:hlinkClick r:id="rId3"/>
              </a:rPr>
              <a:t>While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&lt; </a:t>
            </a:r>
            <a:r>
              <a:rPr lang="pt-PT" dirty="0"/>
              <a:t>Loop Condicional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7FFCA1E9-8B1F-DC9F-7F5C-0EBE58A3E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33BF2C02-70A1-55C1-1BDE-5E4E4D6AE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184" y="579639"/>
            <a:ext cx="1969682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>
                <a:solidFill>
                  <a:schemeClr val="lt1"/>
                </a:solidFill>
              </a:rPr>
              <a:t>Loops</a:t>
            </a:r>
            <a:r>
              <a:rPr lang="pt-PT" b="1" dirty="0">
                <a:solidFill>
                  <a:schemeClr val="lt1"/>
                </a:solidFill>
              </a:rPr>
              <a:t> - </a:t>
            </a:r>
            <a:r>
              <a:rPr lang="pt-PT" b="1" dirty="0">
                <a:solidFill>
                  <a:schemeClr val="lt1"/>
                </a:solidFill>
                <a:hlinkClick r:id="rId3"/>
              </a:rPr>
              <a:t>While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C92D5CC0-EE55-CDBC-E5C6-0D02EE85B1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00E2BEF6-2C66-2EF7-6607-8A0F9121136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19C7C6EE-9EEF-F936-0C77-CC0FCAB1457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697;p60">
            <a:extLst>
              <a:ext uri="{FF2B5EF4-FFF2-40B4-BE49-F238E27FC236}">
                <a16:creationId xmlns:a16="http://schemas.microsoft.com/office/drawing/2014/main" id="{CE3C6D92-84CE-1A6E-3F38-0BA8CDF937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951843" y="953139"/>
            <a:ext cx="5143168" cy="1867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O </a:t>
            </a:r>
            <a:r>
              <a:rPr lang="pt-PT" sz="1500" dirty="0" err="1"/>
              <a:t>loop</a:t>
            </a:r>
            <a:r>
              <a:rPr lang="pt-PT" sz="1500" dirty="0"/>
              <a:t> </a:t>
            </a:r>
            <a:r>
              <a:rPr lang="pt-PT" sz="1500" b="1" i="1" dirty="0" err="1"/>
              <a:t>while</a:t>
            </a:r>
            <a:r>
              <a:rPr lang="pt-PT" sz="1500" dirty="0"/>
              <a:t> repete um bloco de código enquanto uma condição for </a:t>
            </a:r>
            <a:r>
              <a:rPr lang="pt-PT" sz="1500" b="1" dirty="0"/>
              <a:t>verdadeira</a:t>
            </a:r>
            <a:r>
              <a:rPr lang="pt-PT" sz="1500" dirty="0"/>
              <a:t>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Ou seja, ele </a:t>
            </a:r>
            <a:r>
              <a:rPr lang="pt-PT" sz="1500" b="1" dirty="0"/>
              <a:t>verifica uma pergunta </a:t>
            </a:r>
            <a:r>
              <a:rPr lang="pt-PT" sz="1500" dirty="0"/>
              <a:t>(condição) — se a resposta for "</a:t>
            </a:r>
            <a:r>
              <a:rPr lang="pt-PT" sz="1500" b="1" dirty="0"/>
              <a:t>sim</a:t>
            </a:r>
            <a:r>
              <a:rPr lang="pt-PT" sz="1500" dirty="0"/>
              <a:t>", ele </a:t>
            </a:r>
            <a:r>
              <a:rPr lang="pt-PT" sz="1500" b="1" dirty="0"/>
              <a:t>repete</a:t>
            </a:r>
            <a:r>
              <a:rPr lang="pt-PT" sz="1500" dirty="0"/>
              <a:t>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Quando a condição for "</a:t>
            </a:r>
            <a:r>
              <a:rPr lang="pt-PT" sz="1500" b="1" dirty="0"/>
              <a:t>não</a:t>
            </a:r>
            <a:r>
              <a:rPr lang="pt-PT" sz="1500" dirty="0"/>
              <a:t>", o </a:t>
            </a:r>
            <a:r>
              <a:rPr lang="pt-PT" sz="1500" b="1" dirty="0" err="1"/>
              <a:t>loop</a:t>
            </a:r>
            <a:r>
              <a:rPr lang="pt-PT" sz="1500" b="1" dirty="0"/>
              <a:t> </a:t>
            </a:r>
            <a:r>
              <a:rPr lang="pt-PT" sz="1500" b="1" dirty="0" err="1"/>
              <a:t>pára</a:t>
            </a:r>
            <a:r>
              <a:rPr lang="pt-PT" sz="1500" dirty="0"/>
              <a:t>.</a:t>
            </a:r>
            <a:endParaRPr sz="1400" dirty="0"/>
          </a:p>
        </p:txBody>
      </p:sp>
      <p:pic>
        <p:nvPicPr>
          <p:cNvPr id="8" name="Picture 4" descr="While Loops (iteration) Explained - Python">
            <a:extLst>
              <a:ext uri="{FF2B5EF4-FFF2-40B4-BE49-F238E27FC236}">
                <a16:creationId xmlns:a16="http://schemas.microsoft.com/office/drawing/2014/main" id="{591D8804-C518-2078-E56C-39A4A91E5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011" y="844762"/>
            <a:ext cx="2872997" cy="2083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8F2BE0-ADD2-C02F-5AEB-FC02B33AD8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048" t="17929" r="13175" b="17929"/>
          <a:stretch/>
        </p:blipFill>
        <p:spPr>
          <a:xfrm>
            <a:off x="1110696" y="2571750"/>
            <a:ext cx="2771443" cy="1782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Google Shape;697;p60">
            <a:extLst>
              <a:ext uri="{FF2B5EF4-FFF2-40B4-BE49-F238E27FC236}">
                <a16:creationId xmlns:a16="http://schemas.microsoft.com/office/drawing/2014/main" id="{2EBAC8F8-AEFD-5733-721A-CD433E6A07D0}"/>
              </a:ext>
            </a:extLst>
          </p:cNvPr>
          <p:cNvSpPr txBox="1">
            <a:spLocks/>
          </p:cNvSpPr>
          <p:nvPr/>
        </p:nvSpPr>
        <p:spPr>
          <a:xfrm flipH="1">
            <a:off x="3882138" y="2942443"/>
            <a:ext cx="5261861" cy="135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600" b="0" i="0" u="none" strike="noStrike" cap="none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 b="0" i="0" u="none" strike="noStrike" cap="none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pPr marL="342900">
              <a:buFont typeface="+mj-lt"/>
              <a:buAutoNum type="arabicPeriod"/>
            </a:pP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</a:t>
            </a:r>
            <a:r>
              <a:rPr lang="pt-PT" sz="1400" b="1" i="1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iterador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começa em 1.</a:t>
            </a:r>
          </a:p>
          <a:p>
            <a:pPr marL="342900">
              <a:buFont typeface="+mj-lt"/>
              <a:buAutoNum type="arabicPeriod"/>
            </a:pP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</a:t>
            </a:r>
            <a:r>
              <a:rPr lang="pt-PT" sz="1400" b="1" i="1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while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pergunta: “o </a:t>
            </a:r>
            <a:r>
              <a:rPr lang="pt-PT" sz="14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iterador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é menor ou igual a 3?”</a:t>
            </a:r>
          </a:p>
          <a:p>
            <a:pPr marL="342900">
              <a:buFont typeface="+mj-lt"/>
              <a:buAutoNum type="arabicPeriod"/>
            </a:pP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 </a:t>
            </a:r>
            <a:r>
              <a:rPr lang="pt-PT" sz="1400" b="1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sim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imprime "Olá!" e soma 1 ao </a:t>
            </a:r>
            <a:r>
              <a:rPr lang="pt-PT" sz="1400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iterador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342900">
              <a:buFont typeface="+mj-lt"/>
              <a:buAutoNum type="arabicPeriod"/>
            </a:pP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Quando o </a:t>
            </a:r>
            <a:r>
              <a:rPr lang="pt-PT" sz="1400" b="1" i="1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iterador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for 4, a condição é </a:t>
            </a:r>
            <a:r>
              <a:rPr lang="pt-PT" sz="1400" b="1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falsa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 o </a:t>
            </a:r>
            <a:r>
              <a:rPr lang="pt-PT" sz="1400" b="1" dirty="0" err="1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loop</a:t>
            </a:r>
            <a:r>
              <a:rPr lang="pt-PT" sz="1400" b="1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termina</a:t>
            </a:r>
            <a:r>
              <a:rPr lang="pt-PT" sz="1400" dirty="0">
                <a:solidFill>
                  <a:schemeClr val="accent6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  <a:endParaRPr lang="pt-PT" sz="1200" dirty="0">
              <a:solidFill>
                <a:schemeClr val="accent6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730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1E1DC76F-FE44-4742-94D4-28F9B0B7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>
            <a:extLst>
              <a:ext uri="{FF2B5EF4-FFF2-40B4-BE49-F238E27FC236}">
                <a16:creationId xmlns:a16="http://schemas.microsoft.com/office/drawing/2014/main" id="{E24FBA7A-F6A8-7BAB-02A1-6C05711123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02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>
            <a:extLst>
              <a:ext uri="{FF2B5EF4-FFF2-40B4-BE49-F238E27FC236}">
                <a16:creationId xmlns:a16="http://schemas.microsoft.com/office/drawing/2014/main" id="{87050C76-CC1B-3689-0AB3-49A56BC128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pt-PT" b="1" dirty="0" err="1"/>
              <a:t>Loops</a:t>
            </a:r>
            <a:r>
              <a:rPr lang="pt-PT" b="1" dirty="0"/>
              <a:t> - </a:t>
            </a:r>
            <a:r>
              <a:rPr lang="pt-PT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r>
              <a:rPr lang="en" dirty="0">
                <a:solidFill>
                  <a:schemeClr val="accent6"/>
                </a:solidFill>
              </a:rPr>
              <a:t>]</a:t>
            </a:r>
            <a:r>
              <a:rPr lang="en" dirty="0">
                <a:solidFill>
                  <a:schemeClr val="accent1"/>
                </a:solidFill>
              </a:rPr>
              <a:t>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>
            <a:extLst>
              <a:ext uri="{FF2B5EF4-FFF2-40B4-BE49-F238E27FC236}">
                <a16:creationId xmlns:a16="http://schemas.microsoft.com/office/drawing/2014/main" id="{C5838BCF-BAA2-49AF-71AF-5718FD6E324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dirty="0"/>
              <a:t>&lt; </a:t>
            </a:r>
            <a:r>
              <a:rPr lang="pt-PT" dirty="0"/>
              <a:t>Loop sequencial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>
            <a:extLst>
              <a:ext uri="{FF2B5EF4-FFF2-40B4-BE49-F238E27FC236}">
                <a16:creationId xmlns:a16="http://schemas.microsoft.com/office/drawing/2014/main" id="{F11AC3F4-EC01-9717-72A1-82078A4129B0}"/>
              </a:ext>
            </a:extLst>
          </p:cNvPr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>
            <a:extLst>
              <a:ext uri="{FF2B5EF4-FFF2-40B4-BE49-F238E27FC236}">
                <a16:creationId xmlns:a16="http://schemas.microsoft.com/office/drawing/2014/main" id="{15652DBF-A089-46F2-D4B3-A50333BFFD59}"/>
              </a:ext>
            </a:extLst>
          </p:cNvPr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>
            <a:extLst>
              <a:ext uri="{FF2B5EF4-FFF2-40B4-BE49-F238E27FC236}">
                <a16:creationId xmlns:a16="http://schemas.microsoft.com/office/drawing/2014/main" id="{0A7CB63F-8591-C0E6-30CB-5A59FCA3534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6" name="Google Shape;506;p30">
            <a:extLst>
              <a:ext uri="{FF2B5EF4-FFF2-40B4-BE49-F238E27FC236}">
                <a16:creationId xmlns:a16="http://schemas.microsoft.com/office/drawing/2014/main" id="{FD91513D-4C89-CBDC-26BC-7663212C62C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07" name="Google Shape;507;p30">
            <a:extLst>
              <a:ext uri="{FF2B5EF4-FFF2-40B4-BE49-F238E27FC236}">
                <a16:creationId xmlns:a16="http://schemas.microsoft.com/office/drawing/2014/main" id="{1EDE1C5B-493E-E986-CED8-5FB132261B0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945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FB20A3AA-E88A-7924-F26B-32A86E54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EAAD8ADD-1350-2476-16EA-4D50170B8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184" y="579639"/>
            <a:ext cx="1969682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>
                <a:solidFill>
                  <a:schemeClr val="lt1"/>
                </a:solidFill>
              </a:rPr>
              <a:t>Loops</a:t>
            </a:r>
            <a:r>
              <a:rPr lang="pt-PT" b="1" dirty="0">
                <a:solidFill>
                  <a:schemeClr val="lt1"/>
                </a:solidFill>
              </a:rPr>
              <a:t> - </a:t>
            </a:r>
            <a:r>
              <a:rPr lang="pt-PT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ED6B96AF-A711-FCB1-CA77-AE1FFCC4619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290AEBFB-D7E4-B056-DF90-17A0A8D2476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58CA794D-B1D2-63E6-5D79-D709576577B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697;p60">
            <a:extLst>
              <a:ext uri="{FF2B5EF4-FFF2-40B4-BE49-F238E27FC236}">
                <a16:creationId xmlns:a16="http://schemas.microsoft.com/office/drawing/2014/main" id="{2320D1E4-9589-53BC-BEDD-6E84959EE6F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1017931" y="994229"/>
            <a:ext cx="4280053" cy="1915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O </a:t>
            </a:r>
            <a:r>
              <a:rPr lang="pt-PT" sz="1500" b="1" i="1" dirty="0"/>
              <a:t>for</a:t>
            </a:r>
            <a:r>
              <a:rPr lang="pt-PT" sz="1500" dirty="0"/>
              <a:t> é ideal quando </a:t>
            </a:r>
            <a:r>
              <a:rPr lang="pt-PT" sz="1500" b="1" dirty="0"/>
              <a:t>sabemos à partida quantas vezes </a:t>
            </a:r>
            <a:r>
              <a:rPr lang="pt-PT" sz="1500" dirty="0"/>
              <a:t>queremos repetir algo.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Também é usado para </a:t>
            </a:r>
            <a:r>
              <a:rPr lang="pt-PT" sz="1500" b="1" dirty="0"/>
              <a:t>percorrer sequências</a:t>
            </a:r>
            <a:r>
              <a:rPr lang="pt-PT" sz="15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/>
              <a:t>Listas</a:t>
            </a:r>
            <a:r>
              <a:rPr lang="pt-PT" sz="1400" dirty="0"/>
              <a:t> (</a:t>
            </a:r>
            <a:r>
              <a:rPr lang="pt-PT" sz="1400" dirty="0" err="1"/>
              <a:t>ex</a:t>
            </a:r>
            <a:r>
              <a:rPr lang="pt-PT" sz="1400" dirty="0"/>
              <a:t>: frutas)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 err="1"/>
              <a:t>Strings</a:t>
            </a:r>
            <a:r>
              <a:rPr lang="pt-PT" sz="1400" dirty="0"/>
              <a:t> (</a:t>
            </a:r>
            <a:r>
              <a:rPr lang="pt-PT" sz="1400" dirty="0" err="1"/>
              <a:t>ex</a:t>
            </a:r>
            <a:r>
              <a:rPr lang="pt-PT" sz="1400" dirty="0"/>
              <a:t>: letras de uma palavra)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/>
              <a:t>Intervalos de números</a:t>
            </a:r>
            <a:endParaRPr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41FCCE-52B5-6142-D28B-E71EE8EBA6BD}"/>
              </a:ext>
            </a:extLst>
          </p:cNvPr>
          <p:cNvSpPr/>
          <p:nvPr/>
        </p:nvSpPr>
        <p:spPr>
          <a:xfrm>
            <a:off x="5552987" y="941498"/>
            <a:ext cx="3190875" cy="3753227"/>
          </a:xfrm>
          <a:prstGeom prst="rect">
            <a:avLst/>
          </a:prstGeom>
          <a:solidFill>
            <a:srgbClr val="282C34"/>
          </a:solidFill>
          <a:ln w="5715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F9E2A-EFA8-5CA4-3D65-A16621CBA98C}"/>
              </a:ext>
            </a:extLst>
          </p:cNvPr>
          <p:cNvSpPr txBox="1"/>
          <p:nvPr/>
        </p:nvSpPr>
        <p:spPr>
          <a:xfrm>
            <a:off x="6364393" y="1002458"/>
            <a:ext cx="176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Redressed" panose="020B0604020202020204" charset="0"/>
              </a:rPr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F189A0-991F-36FA-F97B-1EF786E3A006}"/>
              </a:ext>
            </a:extLst>
          </p:cNvPr>
          <p:cNvCxnSpPr/>
          <p:nvPr/>
        </p:nvCxnSpPr>
        <p:spPr>
          <a:xfrm>
            <a:off x="5552987" y="1763089"/>
            <a:ext cx="3190875" cy="0"/>
          </a:xfrm>
          <a:prstGeom prst="line">
            <a:avLst/>
          </a:prstGeom>
          <a:ln w="38100"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9D9443D-AB37-DDAB-E590-425D259E8BED}"/>
              </a:ext>
            </a:extLst>
          </p:cNvPr>
          <p:cNvSpPr txBox="1"/>
          <p:nvPr/>
        </p:nvSpPr>
        <p:spPr>
          <a:xfrm>
            <a:off x="6173646" y="2041173"/>
            <a:ext cx="10896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i="0" dirty="0">
                <a:solidFill>
                  <a:srgbClr val="ABB2B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Olá! 0 Olá! 1 Olá! 2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73D629-E92B-767F-96C9-56C11FD1534F}"/>
              </a:ext>
            </a:extLst>
          </p:cNvPr>
          <p:cNvSpPr txBox="1"/>
          <p:nvPr/>
        </p:nvSpPr>
        <p:spPr>
          <a:xfrm>
            <a:off x="5817010" y="2034819"/>
            <a:ext cx="49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&gt;&gt;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B1F27E-197A-49CF-975F-A1D1C84E5B45}"/>
              </a:ext>
            </a:extLst>
          </p:cNvPr>
          <p:cNvCxnSpPr>
            <a:cxnSpLocks/>
          </p:cNvCxnSpPr>
          <p:nvPr/>
        </p:nvCxnSpPr>
        <p:spPr>
          <a:xfrm flipV="1">
            <a:off x="5740109" y="1981034"/>
            <a:ext cx="0" cy="255421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5A0D4-5103-28B5-DFF5-39B98684768B}"/>
              </a:ext>
            </a:extLst>
          </p:cNvPr>
          <p:cNvCxnSpPr>
            <a:cxnSpLocks/>
          </p:cNvCxnSpPr>
          <p:nvPr/>
        </p:nvCxnSpPr>
        <p:spPr>
          <a:xfrm flipV="1">
            <a:off x="8551889" y="1981034"/>
            <a:ext cx="0" cy="255421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173BAB-C0E6-10FB-092A-011C0FFF9EBF}"/>
              </a:ext>
            </a:extLst>
          </p:cNvPr>
          <p:cNvCxnSpPr>
            <a:cxnSpLocks/>
          </p:cNvCxnSpPr>
          <p:nvPr/>
        </p:nvCxnSpPr>
        <p:spPr>
          <a:xfrm flipH="1">
            <a:off x="5740109" y="4535248"/>
            <a:ext cx="28117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3613F1-D2AE-350B-574D-9E46D62D9F87}"/>
              </a:ext>
            </a:extLst>
          </p:cNvPr>
          <p:cNvCxnSpPr>
            <a:cxnSpLocks/>
          </p:cNvCxnSpPr>
          <p:nvPr/>
        </p:nvCxnSpPr>
        <p:spPr>
          <a:xfrm flipH="1">
            <a:off x="5731521" y="1981034"/>
            <a:ext cx="28203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A17E259-913D-9660-EF72-2BFC8AB8BA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41" t="22112" r="13783" b="22606"/>
          <a:stretch/>
        </p:blipFill>
        <p:spPr>
          <a:xfrm>
            <a:off x="1782892" y="3166032"/>
            <a:ext cx="2750129" cy="12727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52F9C1-F6E8-099F-F1F6-47E38802B2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03" t="22193" r="14907" b="23899"/>
          <a:stretch/>
        </p:blipFill>
        <p:spPr>
          <a:xfrm>
            <a:off x="-2989243" y="3168499"/>
            <a:ext cx="2569491" cy="126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6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8C841AD2-50EC-06E5-2344-D4DE67126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B4E7F638-CD03-9731-C574-BC49F3348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184" y="579639"/>
            <a:ext cx="1969682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>
                <a:solidFill>
                  <a:schemeClr val="lt1"/>
                </a:solidFill>
              </a:rPr>
              <a:t>Loops</a:t>
            </a:r>
            <a:r>
              <a:rPr lang="pt-PT" b="1" dirty="0">
                <a:solidFill>
                  <a:schemeClr val="lt1"/>
                </a:solidFill>
              </a:rPr>
              <a:t> - </a:t>
            </a:r>
            <a:r>
              <a:rPr lang="pt-PT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2D79E243-7262-201C-9DBD-A6B5CD77110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B5C85361-0E6B-A952-8FB3-ED80787D7E8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3967C908-59D5-F2FB-C9BC-87030EC6890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697;p60">
            <a:extLst>
              <a:ext uri="{FF2B5EF4-FFF2-40B4-BE49-F238E27FC236}">
                <a16:creationId xmlns:a16="http://schemas.microsoft.com/office/drawing/2014/main" id="{FA654C1A-E930-9F15-F5C2-9EC22721A5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1017931" y="994229"/>
            <a:ext cx="4280053" cy="1915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O </a:t>
            </a:r>
            <a:r>
              <a:rPr lang="pt-PT" sz="1500" b="1" i="1" dirty="0"/>
              <a:t>for</a:t>
            </a:r>
            <a:r>
              <a:rPr lang="pt-PT" sz="1500" dirty="0"/>
              <a:t> é ideal quando </a:t>
            </a:r>
            <a:r>
              <a:rPr lang="pt-PT" sz="1500" b="1" dirty="0"/>
              <a:t>sabemos à partida quantas vezes </a:t>
            </a:r>
            <a:r>
              <a:rPr lang="pt-PT" sz="1500" dirty="0"/>
              <a:t>queremos repetir algo.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Também é usado para </a:t>
            </a:r>
            <a:r>
              <a:rPr lang="pt-PT" sz="1500" b="1" dirty="0"/>
              <a:t>percorrer sequências</a:t>
            </a:r>
            <a:r>
              <a:rPr lang="pt-PT" sz="15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/>
              <a:t>Listas</a:t>
            </a:r>
            <a:r>
              <a:rPr lang="pt-PT" sz="1400" dirty="0"/>
              <a:t> (</a:t>
            </a:r>
            <a:r>
              <a:rPr lang="pt-PT" sz="1400" dirty="0" err="1"/>
              <a:t>ex</a:t>
            </a:r>
            <a:r>
              <a:rPr lang="pt-PT" sz="1400" dirty="0"/>
              <a:t>: frutas)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 err="1"/>
              <a:t>Strings</a:t>
            </a:r>
            <a:r>
              <a:rPr lang="pt-PT" sz="1400" dirty="0"/>
              <a:t> (</a:t>
            </a:r>
            <a:r>
              <a:rPr lang="pt-PT" sz="1400" dirty="0" err="1"/>
              <a:t>ex</a:t>
            </a:r>
            <a:r>
              <a:rPr lang="pt-PT" sz="1400" dirty="0"/>
              <a:t>: letras de uma palavra)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/>
              <a:t>Intervalos de números</a:t>
            </a:r>
            <a:endParaRPr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766ABC-0766-3AFC-D738-69C5E9BE18D7}"/>
              </a:ext>
            </a:extLst>
          </p:cNvPr>
          <p:cNvSpPr/>
          <p:nvPr/>
        </p:nvSpPr>
        <p:spPr>
          <a:xfrm>
            <a:off x="5552987" y="941498"/>
            <a:ext cx="3190875" cy="3753227"/>
          </a:xfrm>
          <a:prstGeom prst="rect">
            <a:avLst/>
          </a:prstGeom>
          <a:solidFill>
            <a:srgbClr val="282C34"/>
          </a:solidFill>
          <a:ln w="5715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26C41-1E18-D399-F31B-0EAAEA333A78}"/>
              </a:ext>
            </a:extLst>
          </p:cNvPr>
          <p:cNvSpPr txBox="1"/>
          <p:nvPr/>
        </p:nvSpPr>
        <p:spPr>
          <a:xfrm>
            <a:off x="6364393" y="1002458"/>
            <a:ext cx="176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Redressed" panose="020B0604020202020204" charset="0"/>
              </a:rPr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F3A4E-A613-EAA8-7144-C49FB1098955}"/>
              </a:ext>
            </a:extLst>
          </p:cNvPr>
          <p:cNvCxnSpPr/>
          <p:nvPr/>
        </p:nvCxnSpPr>
        <p:spPr>
          <a:xfrm>
            <a:off x="5552987" y="1763089"/>
            <a:ext cx="3190875" cy="0"/>
          </a:xfrm>
          <a:prstGeom prst="line">
            <a:avLst/>
          </a:prstGeom>
          <a:ln w="38100"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AE03EC3-BABF-7051-2F05-A0AD225BF9C7}"/>
              </a:ext>
            </a:extLst>
          </p:cNvPr>
          <p:cNvSpPr txBox="1"/>
          <p:nvPr/>
        </p:nvSpPr>
        <p:spPr>
          <a:xfrm>
            <a:off x="6173646" y="2041173"/>
            <a:ext cx="1089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t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pt-PT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52ED6-4B34-034D-6B0C-FFB7E33A93EB}"/>
              </a:ext>
            </a:extLst>
          </p:cNvPr>
          <p:cNvSpPr txBox="1"/>
          <p:nvPr/>
        </p:nvSpPr>
        <p:spPr>
          <a:xfrm>
            <a:off x="5817010" y="2034819"/>
            <a:ext cx="49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&gt;&gt;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D3A85B-A9FD-2AF4-D26B-265DA85774A5}"/>
              </a:ext>
            </a:extLst>
          </p:cNvPr>
          <p:cNvCxnSpPr>
            <a:cxnSpLocks/>
          </p:cNvCxnSpPr>
          <p:nvPr/>
        </p:nvCxnSpPr>
        <p:spPr>
          <a:xfrm flipV="1">
            <a:off x="5740109" y="1981034"/>
            <a:ext cx="0" cy="255421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5D9DDC-B06B-46A0-E72B-51322A0C9753}"/>
              </a:ext>
            </a:extLst>
          </p:cNvPr>
          <p:cNvCxnSpPr>
            <a:cxnSpLocks/>
          </p:cNvCxnSpPr>
          <p:nvPr/>
        </p:nvCxnSpPr>
        <p:spPr>
          <a:xfrm flipV="1">
            <a:off x="8551889" y="1981034"/>
            <a:ext cx="0" cy="255421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1405EA-FFF7-3BB5-1052-5694BF2777DE}"/>
              </a:ext>
            </a:extLst>
          </p:cNvPr>
          <p:cNvCxnSpPr>
            <a:cxnSpLocks/>
          </p:cNvCxnSpPr>
          <p:nvPr/>
        </p:nvCxnSpPr>
        <p:spPr>
          <a:xfrm flipH="1">
            <a:off x="5740109" y="4535248"/>
            <a:ext cx="28117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1A98EB-D3BE-88E6-76B2-20DFA61512E7}"/>
              </a:ext>
            </a:extLst>
          </p:cNvPr>
          <p:cNvCxnSpPr>
            <a:cxnSpLocks/>
          </p:cNvCxnSpPr>
          <p:nvPr/>
        </p:nvCxnSpPr>
        <p:spPr>
          <a:xfrm flipH="1">
            <a:off x="5731521" y="1981034"/>
            <a:ext cx="28203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423DA80-A3C6-3085-9FBD-E2F8EFB619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3" t="22193" r="14907" b="23899"/>
          <a:stretch/>
        </p:blipFill>
        <p:spPr>
          <a:xfrm>
            <a:off x="1857929" y="3168499"/>
            <a:ext cx="2569491" cy="12678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C08D85-EAC6-7429-F54E-3EDC755F5B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32" t="21049" r="10509" b="20386"/>
          <a:stretch/>
        </p:blipFill>
        <p:spPr>
          <a:xfrm>
            <a:off x="-3944997" y="3238989"/>
            <a:ext cx="3359727" cy="1126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DFE5B-C8FA-56AC-2A1D-386B28E153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441" t="22112" r="13783" b="22606"/>
          <a:stretch/>
        </p:blipFill>
        <p:spPr>
          <a:xfrm>
            <a:off x="-3256954" y="3166032"/>
            <a:ext cx="2750129" cy="127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8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>
          <a:extLst>
            <a:ext uri="{FF2B5EF4-FFF2-40B4-BE49-F238E27FC236}">
              <a16:creationId xmlns:a16="http://schemas.microsoft.com/office/drawing/2014/main" id="{67EC6C2C-4D36-80EC-A4F2-5232BFB6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F226BC3E-70D5-9772-F568-3FB843A07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184" y="579639"/>
            <a:ext cx="1969682" cy="37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 err="1">
                <a:solidFill>
                  <a:schemeClr val="lt1"/>
                </a:solidFill>
              </a:rPr>
              <a:t>Loops</a:t>
            </a:r>
            <a:r>
              <a:rPr lang="pt-PT" b="1" dirty="0">
                <a:solidFill>
                  <a:schemeClr val="lt1"/>
                </a:solidFill>
              </a:rPr>
              <a:t> - </a:t>
            </a:r>
            <a:r>
              <a:rPr lang="pt-PT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79" name="Google Shape;879;p44">
            <a:extLst>
              <a:ext uri="{FF2B5EF4-FFF2-40B4-BE49-F238E27FC236}">
                <a16:creationId xmlns:a16="http://schemas.microsoft.com/office/drawing/2014/main" id="{E9BC1A96-F9B4-DAF3-0D65-F1EF9A7CC74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 err="1">
                <a:solidFill>
                  <a:schemeClr val="accent3"/>
                </a:solidFill>
              </a:rPr>
              <a:t>Python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0" name="Google Shape;880;p44">
            <a:extLst>
              <a:ext uri="{FF2B5EF4-FFF2-40B4-BE49-F238E27FC236}">
                <a16:creationId xmlns:a16="http://schemas.microsoft.com/office/drawing/2014/main" id="{DA1D33E2-9EC5-4436-3FF8-1CFFB4A753A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81" name="Google Shape;881;p44">
            <a:extLst>
              <a:ext uri="{FF2B5EF4-FFF2-40B4-BE49-F238E27FC236}">
                <a16:creationId xmlns:a16="http://schemas.microsoft.com/office/drawing/2014/main" id="{C1F21818-C5E2-E2F8-2EB6-25086BADDD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lesson2.ipynb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697;p60">
            <a:extLst>
              <a:ext uri="{FF2B5EF4-FFF2-40B4-BE49-F238E27FC236}">
                <a16:creationId xmlns:a16="http://schemas.microsoft.com/office/drawing/2014/main" id="{47DB2EB0-7D5C-B408-9123-0F84A5185C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1017931" y="994229"/>
            <a:ext cx="4280053" cy="1915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O </a:t>
            </a:r>
            <a:r>
              <a:rPr lang="pt-PT" sz="1500" b="1" i="1" dirty="0"/>
              <a:t>for</a:t>
            </a:r>
            <a:r>
              <a:rPr lang="pt-PT" sz="1500" dirty="0"/>
              <a:t> é ideal quando </a:t>
            </a:r>
            <a:r>
              <a:rPr lang="pt-PT" sz="1500" b="1" dirty="0"/>
              <a:t>sabemos à partida quantas vezes </a:t>
            </a:r>
            <a:r>
              <a:rPr lang="pt-PT" sz="1500" dirty="0"/>
              <a:t>queremos repetir algo.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pt-PT" sz="1500" dirty="0"/>
              <a:t>Também é usado para </a:t>
            </a:r>
            <a:r>
              <a:rPr lang="pt-PT" sz="1500" b="1" dirty="0"/>
              <a:t>percorrer sequências</a:t>
            </a:r>
            <a:r>
              <a:rPr lang="pt-PT" sz="15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/>
              <a:t>Listas</a:t>
            </a:r>
            <a:r>
              <a:rPr lang="pt-PT" sz="1400" dirty="0"/>
              <a:t> (</a:t>
            </a:r>
            <a:r>
              <a:rPr lang="pt-PT" sz="1400" dirty="0" err="1"/>
              <a:t>ex</a:t>
            </a:r>
            <a:r>
              <a:rPr lang="pt-PT" sz="1400" dirty="0"/>
              <a:t>: frutas)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 err="1"/>
              <a:t>Strings</a:t>
            </a:r>
            <a:r>
              <a:rPr lang="pt-PT" sz="1400" dirty="0"/>
              <a:t> (</a:t>
            </a:r>
            <a:r>
              <a:rPr lang="pt-PT" sz="1400" dirty="0" err="1"/>
              <a:t>ex</a:t>
            </a:r>
            <a:r>
              <a:rPr lang="pt-PT" sz="1400" dirty="0"/>
              <a:t>: letras de uma palavra)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PT" sz="1400" b="1" dirty="0"/>
              <a:t>Intervalos de números</a:t>
            </a:r>
            <a:endParaRPr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0A719-FF3D-2E2B-B253-5961CDF309C0}"/>
              </a:ext>
            </a:extLst>
          </p:cNvPr>
          <p:cNvSpPr/>
          <p:nvPr/>
        </p:nvSpPr>
        <p:spPr>
          <a:xfrm>
            <a:off x="5552987" y="941498"/>
            <a:ext cx="3190875" cy="3753227"/>
          </a:xfrm>
          <a:prstGeom prst="rect">
            <a:avLst/>
          </a:prstGeom>
          <a:solidFill>
            <a:srgbClr val="282C34"/>
          </a:solidFill>
          <a:ln w="57150"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AF6704-0D10-7C9A-CEBC-E52E49D3DBAA}"/>
              </a:ext>
            </a:extLst>
          </p:cNvPr>
          <p:cNvSpPr txBox="1"/>
          <p:nvPr/>
        </p:nvSpPr>
        <p:spPr>
          <a:xfrm>
            <a:off x="6364393" y="1002458"/>
            <a:ext cx="176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Redressed" panose="020B0604020202020204" charset="0"/>
              </a:rPr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BD6C83-2736-912E-BD2E-5BAF201FDD3B}"/>
              </a:ext>
            </a:extLst>
          </p:cNvPr>
          <p:cNvCxnSpPr/>
          <p:nvPr/>
        </p:nvCxnSpPr>
        <p:spPr>
          <a:xfrm>
            <a:off x="5552987" y="1763089"/>
            <a:ext cx="3190875" cy="0"/>
          </a:xfrm>
          <a:prstGeom prst="line">
            <a:avLst/>
          </a:prstGeom>
          <a:ln w="38100"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028C749-4232-9C0A-A851-9781F996CBD7}"/>
              </a:ext>
            </a:extLst>
          </p:cNvPr>
          <p:cNvSpPr txBox="1"/>
          <p:nvPr/>
        </p:nvSpPr>
        <p:spPr>
          <a:xfrm>
            <a:off x="6173646" y="2041173"/>
            <a:ext cx="108966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maçã 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banana </a:t>
            </a:r>
            <a:endParaRPr lang="pt-PT" dirty="0">
              <a:effectLst/>
            </a:endParaRPr>
          </a:p>
          <a:p>
            <a:pPr marR="0" algn="l" rtl="0">
              <a:spcBef>
                <a:spcPts val="0"/>
              </a:spcBef>
              <a:spcAft>
                <a:spcPts val="0"/>
              </a:spcAft>
            </a:pPr>
            <a:r>
              <a:rPr lang="pt-PT" sz="1800" b="1" i="0" dirty="0">
                <a:solidFill>
                  <a:srgbClr val="ABB2BF"/>
                </a:solidFill>
                <a:effectLst>
                  <a:outerShdw blurRad="381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Consolas" panose="020B0609020204030204" pitchFamily="49" charset="0"/>
                <a:ea typeface="Arial" panose="020B0604020202020204" pitchFamily="34" charset="0"/>
                <a:cs typeface="Arial" panose="020B0604020202020204" pitchFamily="34" charset="0"/>
              </a:rPr>
              <a:t>laranja</a:t>
            </a:r>
            <a:endParaRPr lang="pt-PT" dirty="0">
              <a:effectLst/>
            </a:endParaRPr>
          </a:p>
          <a:p>
            <a:endParaRPr lang="pt-PT" b="1" dirty="0">
              <a:solidFill>
                <a:srgbClr val="ABB2B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48325-4975-9CCF-BE43-440DF5964ABF}"/>
              </a:ext>
            </a:extLst>
          </p:cNvPr>
          <p:cNvSpPr txBox="1"/>
          <p:nvPr/>
        </p:nvSpPr>
        <p:spPr>
          <a:xfrm>
            <a:off x="5817010" y="2034819"/>
            <a:ext cx="495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&gt;&gt;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EC2335-1246-4A51-FC02-2BA971EF6B65}"/>
              </a:ext>
            </a:extLst>
          </p:cNvPr>
          <p:cNvCxnSpPr>
            <a:cxnSpLocks/>
          </p:cNvCxnSpPr>
          <p:nvPr/>
        </p:nvCxnSpPr>
        <p:spPr>
          <a:xfrm flipV="1">
            <a:off x="5740109" y="1981034"/>
            <a:ext cx="0" cy="255421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914180-0437-C7DB-B4DF-853577DC1A45}"/>
              </a:ext>
            </a:extLst>
          </p:cNvPr>
          <p:cNvCxnSpPr>
            <a:cxnSpLocks/>
          </p:cNvCxnSpPr>
          <p:nvPr/>
        </p:nvCxnSpPr>
        <p:spPr>
          <a:xfrm flipV="1">
            <a:off x="8551889" y="1981034"/>
            <a:ext cx="0" cy="255421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205C72-E1CD-E337-1787-B3A5B528B9C9}"/>
              </a:ext>
            </a:extLst>
          </p:cNvPr>
          <p:cNvCxnSpPr>
            <a:cxnSpLocks/>
          </p:cNvCxnSpPr>
          <p:nvPr/>
        </p:nvCxnSpPr>
        <p:spPr>
          <a:xfrm flipH="1">
            <a:off x="5740109" y="4535248"/>
            <a:ext cx="28117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B9BF75-E38B-739C-0E89-E8FA887FDE6A}"/>
              </a:ext>
            </a:extLst>
          </p:cNvPr>
          <p:cNvCxnSpPr>
            <a:cxnSpLocks/>
          </p:cNvCxnSpPr>
          <p:nvPr/>
        </p:nvCxnSpPr>
        <p:spPr>
          <a:xfrm flipH="1">
            <a:off x="5731521" y="1981034"/>
            <a:ext cx="28203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D1C757B-FB36-99F4-5962-BAA26A6578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3" t="22193" r="14907" b="23899"/>
          <a:stretch/>
        </p:blipFill>
        <p:spPr>
          <a:xfrm>
            <a:off x="-3272779" y="3168499"/>
            <a:ext cx="2569491" cy="1267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D73B1-D2A7-B262-5A0B-F4A819C664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32" t="21049" r="10509" b="20386"/>
          <a:stretch/>
        </p:blipFill>
        <p:spPr>
          <a:xfrm>
            <a:off x="1408029" y="3238989"/>
            <a:ext cx="3359727" cy="112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72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</a:t>
            </a:r>
            <a:r>
              <a:rPr lang="en" sz="5000"/>
              <a:t> </a:t>
            </a:r>
            <a:r>
              <a:rPr lang="en" sz="5000">
                <a:solidFill>
                  <a:schemeClr val="accent6"/>
                </a:solidFill>
              </a:rPr>
              <a:t>{</a:t>
            </a:r>
            <a:r>
              <a:rPr lang="en" sz="2800">
                <a:solidFill>
                  <a:schemeClr val="accent3"/>
                </a:solidFill>
              </a:rPr>
              <a:t> </a:t>
            </a:r>
            <a:r>
              <a:rPr lang="en" sz="6000">
                <a:solidFill>
                  <a:schemeClr val="accent2"/>
                </a:solidFill>
              </a:rPr>
              <a:t>You;</a:t>
            </a:r>
            <a:r>
              <a:rPr lang="en" sz="5000">
                <a:solidFill>
                  <a:schemeClr val="accent2"/>
                </a:solidFill>
              </a:rPr>
              <a:t> </a:t>
            </a:r>
            <a:endParaRPr sz="5000">
              <a:solidFill>
                <a:schemeClr val="accent2"/>
              </a:solidFill>
            </a:endParaRPr>
          </a:p>
        </p:txBody>
      </p:sp>
      <p:sp>
        <p:nvSpPr>
          <p:cNvPr id="822" name="Google Shape;822;p4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Python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823" name="Google Shape;823;p4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lesson0.py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24" name="Google Shape;824;p40"/>
          <p:cNvSpPr txBox="1"/>
          <p:nvPr/>
        </p:nvSpPr>
        <p:spPr>
          <a:xfrm>
            <a:off x="2544750" y="3415438"/>
            <a:ext cx="506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825" name="Google Shape;825;p40"/>
          <p:cNvCxnSpPr>
            <a:endCxn id="824" idx="0"/>
          </p:cNvCxnSpPr>
          <p:nvPr/>
        </p:nvCxnSpPr>
        <p:spPr>
          <a:xfrm>
            <a:off x="2797800" y="2876338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6" name="Google Shape;826;p4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3"/>
                </a:solidFill>
              </a:rPr>
              <a:t>lesson0.ipynb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Google Shape;822;p40">
            <a:extLst>
              <a:ext uri="{FF2B5EF4-FFF2-40B4-BE49-F238E27FC236}">
                <a16:creationId xmlns:a16="http://schemas.microsoft.com/office/drawing/2014/main" id="{91C57C21-603E-F342-2987-BD2716C07C18}"/>
              </a:ext>
            </a:extLst>
          </p:cNvPr>
          <p:cNvSpPr txBox="1">
            <a:spLocks/>
          </p:cNvSpPr>
          <p:nvPr/>
        </p:nvSpPr>
        <p:spPr>
          <a:xfrm>
            <a:off x="2858964" y="2966187"/>
            <a:ext cx="542397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pt-PT">
                <a:solidFill>
                  <a:schemeClr val="accent3"/>
                </a:solidFill>
              </a:rPr>
              <a:t>Made by: </a:t>
            </a:r>
            <a:r>
              <a:rPr lang="pt-PT" sz="1600" b="1">
                <a:solidFill>
                  <a:schemeClr val="accent3"/>
                </a:solidFill>
              </a:rPr>
              <a:t>D</a:t>
            </a:r>
            <a:r>
              <a:rPr lang="pt-PT">
                <a:solidFill>
                  <a:schemeClr val="accent3"/>
                </a:solidFill>
              </a:rPr>
              <a:t>iogo Freitas &amp; </a:t>
            </a:r>
            <a:r>
              <a:rPr lang="pt-PT" sz="1600" b="1">
                <a:solidFill>
                  <a:schemeClr val="accent3"/>
                </a:solidFill>
              </a:rPr>
              <a:t>J</a:t>
            </a:r>
            <a:r>
              <a:rPr lang="pt-PT">
                <a:solidFill>
                  <a:schemeClr val="accent3"/>
                </a:solidFill>
              </a:rPr>
              <a:t>oão Francisco Botas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5" name="Google Shape;15375;p7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320658-45b1-444d-b7a9-3efd9c4379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65209DBFF0BD4CA334E984111739BD" ma:contentTypeVersion="18" ma:contentTypeDescription="Criar um novo documento." ma:contentTypeScope="" ma:versionID="58ab01216903763b651f1645b3b88d73">
  <xsd:schema xmlns:xsd="http://www.w3.org/2001/XMLSchema" xmlns:xs="http://www.w3.org/2001/XMLSchema" xmlns:p="http://schemas.microsoft.com/office/2006/metadata/properties" xmlns:ns3="e5320658-45b1-444d-b7a9-3efd9c437958" xmlns:ns4="3f59f02c-74f8-4e70-b149-5783d454d21b" targetNamespace="http://schemas.microsoft.com/office/2006/metadata/properties" ma:root="true" ma:fieldsID="095824ff48cee5bb69c36370f5aa33c7" ns3:_="" ns4:_="">
    <xsd:import namespace="e5320658-45b1-444d-b7a9-3efd9c437958"/>
    <xsd:import namespace="3f59f02c-74f8-4e70-b149-5783d454d2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0658-45b1-444d-b7a9-3efd9c437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9f02c-74f8-4e70-b149-5783d454d21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8D5C2D-34F7-49CB-9E33-7ECF4FD1D57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5320658-45b1-444d-b7a9-3efd9c437958"/>
    <ds:schemaRef ds:uri="http://purl.org/dc/elements/1.1/"/>
    <ds:schemaRef ds:uri="http://schemas.microsoft.com/office/2006/metadata/properties"/>
    <ds:schemaRef ds:uri="3f59f02c-74f8-4e70-b149-5783d454d21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BF96409-10EE-4E1A-B70C-9E7CDBF15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485B3A-E43F-4C5D-B96C-118FAEF3AD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320658-45b1-444d-b7a9-3efd9c437958"/>
    <ds:schemaRef ds:uri="3f59f02c-74f8-4e70-b149-5783d454d2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430</Words>
  <Application>Microsoft Office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Fira Code</vt:lpstr>
      <vt:lpstr>Proxima Nova Semibold</vt:lpstr>
      <vt:lpstr>Arial</vt:lpstr>
      <vt:lpstr>Consolas</vt:lpstr>
      <vt:lpstr>Proxima Nova</vt:lpstr>
      <vt:lpstr>Redressed</vt:lpstr>
      <vt:lpstr>Programming Language Workshop for Beginners by Slidesgo</vt:lpstr>
      <vt:lpstr>Slidesgo Final Pages</vt:lpstr>
      <vt:lpstr>Python ‘Language’{</vt:lpstr>
      <vt:lpstr>O que são Loops? &lt; /1 &gt; { </vt:lpstr>
      <vt:lpstr>01 {</vt:lpstr>
      <vt:lpstr>Loops - While</vt:lpstr>
      <vt:lpstr>02 {</vt:lpstr>
      <vt:lpstr>Loops - For</vt:lpstr>
      <vt:lpstr>Loops - For</vt:lpstr>
      <vt:lpstr>Loops - For</vt:lpstr>
      <vt:lpstr>Thank { You;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Diogo Freitas</dc:creator>
  <cp:lastModifiedBy>Diogo Alonso de Freitas</cp:lastModifiedBy>
  <cp:revision>5</cp:revision>
  <dcterms:modified xsi:type="dcterms:W3CDTF">2026-06-18T18:17:40Z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0x0101005B65209DBFF0BD4CA334E984111739BD</vt:lpwstr>
  </property>
</Properties>
</file>