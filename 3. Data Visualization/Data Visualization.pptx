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58" r:id="rId3"/>
    <p:sldId id="259" r:id="rId4"/>
    <p:sldId id="312" r:id="rId5"/>
    <p:sldId id="313" r:id="rId6"/>
    <p:sldId id="314" r:id="rId7"/>
    <p:sldId id="315" r:id="rId8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0"/>
      <p:bold r:id="rId11"/>
    </p:embeddedFont>
    <p:embeddedFont>
      <p:font typeface="Livvic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FF05DF-2059-49BD-8E51-6122804B1EDC}" v="1" dt="2026-07-02T18:21:13.589"/>
    <p1510:client id="{CAD3CC20-47B4-8588-F635-A26352E07DAC}" v="10" dt="2026-07-02T16:41:49.701"/>
    <p1510:client id="{D37A3C59-5913-4614-971F-9E01F111CE14}" v="1322" dt="2026-07-02T17:47:36.737"/>
  </p1510:revLst>
</p1510:revInfo>
</file>

<file path=ppt/tableStyles.xml><?xml version="1.0" encoding="utf-8"?>
<a:tblStyleLst xmlns:a="http://schemas.openxmlformats.org/drawingml/2006/main" def="{F79E5C73-CB60-4C57-98AB-6179EFCD7AC7}">
  <a:tblStyle styleId="{F79E5C73-CB60-4C57-98AB-6179EFCD7A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0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D9B87BEC-C8DF-5D66-DB23-0A041A1C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AC7FB88-ADD3-EC0F-D474-1D1BA5AD9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BBB8EA88-28FD-BEF5-26E2-863A4154F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056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AECEDCE-6E5E-8D27-D629-7ACA2B37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8F879C3C-34DD-DF8F-3822-F0A3A2C2B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BD3FCE03-DDD2-AF3A-6FF0-22DE9A6C4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855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E912A29-BD8E-ACD4-53A0-8B0B8AFC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8054853A-B16C-9E8E-79E0-E2923A9BC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9223080-0F73-76C3-27B7-1C8B7C003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452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D210FA13-A3D1-4A8E-97A2-897325B7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F27F11AA-E22F-5C38-51D4-20402AFEE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CE028CDE-41C6-6C41-63E9-CA93246EA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87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321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9" r:id="rId5"/>
    <p:sldLayoutId id="2147483670" r:id="rId6"/>
    <p:sldLayoutId id="214748367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 </a:t>
            </a:r>
            <a:r>
              <a:rPr lang="en" dirty="0">
                <a:solidFill>
                  <a:schemeClr val="accent2"/>
                </a:solidFill>
              </a:rPr>
              <a:t>‘Language’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1607570" y="2765300"/>
            <a:ext cx="5139594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Visualization, Pandas, ML Models &gt;</a:t>
            </a:r>
            <a:endParaRPr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Python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AI</a:t>
            </a:r>
            <a:r>
              <a:rPr lang="en" dirty="0">
                <a:solidFill>
                  <a:schemeClr val="lt1"/>
                </a:solidFill>
              </a:rPr>
              <a:t> </a:t>
            </a:r>
            <a:r>
              <a:rPr lang="en" dirty="0">
                <a:solidFill>
                  <a:schemeClr val="lt2"/>
                </a:solidFill>
              </a:rPr>
              <a:t>for </a:t>
            </a:r>
            <a:r>
              <a:rPr lang="en" dirty="0">
                <a:solidFill>
                  <a:schemeClr val="accent1"/>
                </a:solidFill>
              </a:rPr>
              <a:t>Tech Leaders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forbeginners.</a:t>
            </a:r>
            <a:r>
              <a:rPr lang="en" sz="1400" dirty="0"/>
              <a:t>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workshop.py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1" name="Google Shape;481;p29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Seaborn and Matplotlib &gt;</a:t>
            </a:r>
            <a:endParaRPr dirty="0"/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Visualization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A couple of functions &gt;</a:t>
            </a:r>
            <a:endParaRPr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Pandas</a:t>
            </a:r>
            <a:endParaRPr dirty="0"/>
          </a:p>
        </p:txBody>
      </p:sp>
      <p:sp>
        <p:nvSpPr>
          <p:cNvPr id="486" name="Google Shape;486;p29"/>
          <p:cNvSpPr txBox="1">
            <a:spLocks noGrp="1"/>
          </p:cNvSpPr>
          <p:nvPr>
            <p:ph type="title" idx="6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7" name="Google Shape;487;p29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Classification and Regression &gt;</a:t>
            </a:r>
            <a:endParaRPr dirty="0"/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Models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</a:t>
            </a:r>
            <a:r>
              <a:rPr lang="en" dirty="0">
                <a:solidFill>
                  <a:schemeClr val="accent2"/>
                </a:solidFill>
              </a:rPr>
              <a:t>‘Contents’</a:t>
            </a:r>
            <a:r>
              <a:rPr lang="en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Python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forbeginners.py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workshop.py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Data Visualization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Seaborn and Matplotlib &gt;</a:t>
            </a:r>
            <a:endParaRPr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Python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forbeginners.py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workshop.py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CC816CA7-8FA4-2614-CFFE-C0289D326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0B3149B5-DE37-40EB-7153-649CDA505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7784" y="679569"/>
            <a:ext cx="7700634" cy="2403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pt-PT" sz="1800" dirty="0">
                <a:solidFill>
                  <a:schemeClr val="tx2"/>
                </a:solidFill>
              </a:rPr>
              <a:t>Ficheiros – Caracteres especiais</a:t>
            </a:r>
          </a:p>
          <a:p>
            <a:pPr marL="0" lvl="0" indent="0"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  <a:cs typeface="Arial" panose="020B0604020202020204" pitchFamily="34" charset="0"/>
              </a:rPr>
              <a:t>Quando se escreve uma string no código, nem todos os caracteres visíveis representam exatamente o que parecem. Algumas sequências iniciadas por uma barra invertida ( </a:t>
            </a:r>
            <a:r>
              <a:rPr lang="pt-PT" sz="1400" dirty="0">
                <a:solidFill>
                  <a:schemeClr val="bg2"/>
                </a:solidFill>
                <a:latin typeface="Livvic" pitchFamily="2" charset="0"/>
                <a:cs typeface="Arial" panose="020B0604020202020204" pitchFamily="34" charset="0"/>
              </a:rPr>
              <a:t>\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  <a:cs typeface="Arial" panose="020B0604020202020204" pitchFamily="34" charset="0"/>
              </a:rPr>
              <a:t> ) têm significados especiais. Estas são conhecidas como sequências de escape.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  <a:cs typeface="Arial" panose="020B0604020202020204" pitchFamily="34" charset="0"/>
              </a:rPr>
              <a:t>São úteis para representar caracteres invisíveis, como:</a:t>
            </a:r>
          </a:p>
          <a:p>
            <a:pPr marL="742950" lvl="5" indent="-285750"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Quebras de linha;</a:t>
            </a:r>
          </a:p>
          <a:p>
            <a:pPr marL="742950" lvl="5" indent="-285750"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Tabulações;</a:t>
            </a:r>
          </a:p>
          <a:p>
            <a:pPr marL="742950" lvl="5" indent="-2857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Ou mesmo para incluir caracteres especiais numa string, como </a:t>
            </a: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aspas</a:t>
            </a:r>
            <a:r>
              <a:rPr lang="pt-PT" sz="1200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 ou </a:t>
            </a: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barras invertidas</a:t>
            </a:r>
            <a:r>
              <a:rPr lang="pt-PT" sz="1200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.</a:t>
            </a:r>
            <a:endParaRPr lang="en-US" sz="1200" dirty="0">
              <a:solidFill>
                <a:schemeClr val="accent3">
                  <a:lumMod val="90000"/>
                </a:schemeClr>
              </a:solidFill>
              <a:latin typeface="Livvic" pitchFamily="2" charset="0"/>
              <a:cs typeface="Arial" panose="020B060402020202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2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7E3562B4-30F0-82B3-A8EE-B479359B7D6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pt-PT" dirty="0">
                <a:solidFill>
                  <a:schemeClr val="accent3"/>
                </a:solidFill>
              </a:rPr>
              <a:t>Python</a:t>
            </a:r>
            <a:r>
              <a:rPr lang="en" sz="1400" dirty="0">
                <a:solidFill>
                  <a:schemeClr val="accent3"/>
                </a:solidFill>
              </a:rPr>
              <a:t>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99763FA-20D6-D50C-73EE-58DA91E89AE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36DE9D35-DB49-88E0-4A39-6D47AE65C09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9F8E2-6E1D-493E-288B-0662F85B4062}"/>
              </a:ext>
            </a:extLst>
          </p:cNvPr>
          <p:cNvSpPr txBox="1"/>
          <p:nvPr/>
        </p:nvSpPr>
        <p:spPr>
          <a:xfrm>
            <a:off x="1368804" y="3172690"/>
            <a:ext cx="7449614" cy="116955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‘Uma noite destas, vindo da cidade para o Engenho Novo, encontrei no trem da Central um rapaz aqui do bairro, que eu conheço de vista e de chapéu.</a:t>
            </a:r>
          </a:p>
          <a:p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	Comprimentou-me, sentou-se ao pé de mim, falou da lua e dos ministros, e acabou recitando-me versos.</a:t>
            </a:r>
          </a:p>
          <a:p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A viagem era curta, e os versos pode ser que não “fossem inteiramente maus”.’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05D2C-0631-9D29-3488-4F19E1B262F2}"/>
              </a:ext>
            </a:extLst>
          </p:cNvPr>
          <p:cNvSpPr txBox="1"/>
          <p:nvPr/>
        </p:nvSpPr>
        <p:spPr>
          <a:xfrm>
            <a:off x="3887447" y="2864913"/>
            <a:ext cx="2161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</a:t>
            </a:r>
            <a:endParaRPr 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B735F63A-5AD3-2290-281D-14AB3579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6F20CE3B-A7AC-3358-FC43-6CB73E918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7784" y="679569"/>
            <a:ext cx="7700634" cy="2403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pt-PT" sz="1800" dirty="0">
                <a:solidFill>
                  <a:schemeClr val="tx2"/>
                </a:solidFill>
              </a:rPr>
              <a:t>Ficheiros – Caracteres especiais</a:t>
            </a:r>
          </a:p>
          <a:p>
            <a:pPr marL="0" lvl="0" indent="0"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  <a:cs typeface="Arial" panose="020B0604020202020204" pitchFamily="34" charset="0"/>
              </a:rPr>
              <a:t>Quando se escreve uma string no código, nem todos os caracteres visíveis representam exatamente o que parecem. Algumas sequências iniciadas por uma barra invertida ( </a:t>
            </a:r>
            <a:r>
              <a:rPr lang="pt-PT" sz="1400" dirty="0">
                <a:solidFill>
                  <a:schemeClr val="bg2"/>
                </a:solidFill>
                <a:latin typeface="Livvic" pitchFamily="2" charset="0"/>
                <a:cs typeface="Arial" panose="020B0604020202020204" pitchFamily="34" charset="0"/>
              </a:rPr>
              <a:t>\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  <a:cs typeface="Arial" panose="020B0604020202020204" pitchFamily="34" charset="0"/>
              </a:rPr>
              <a:t> ) têm significados especiais. Estas são conhecidas como sequências de escape.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  <a:cs typeface="Arial" panose="020B0604020202020204" pitchFamily="34" charset="0"/>
              </a:rPr>
              <a:t>São úteis para representar caracteres invisíveis, como:</a:t>
            </a:r>
          </a:p>
          <a:p>
            <a:pPr marL="742950" lvl="5" indent="-285750"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Quebras de linha;</a:t>
            </a:r>
          </a:p>
          <a:p>
            <a:pPr marL="742950" lvl="5" indent="-285750"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Tabulações;</a:t>
            </a:r>
          </a:p>
          <a:p>
            <a:pPr marL="742950" lvl="5" indent="-2857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Ou mesmo para incluir caracteres especiais numa string, como </a:t>
            </a: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aspas</a:t>
            </a:r>
            <a:r>
              <a:rPr lang="pt-PT" sz="1200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 ou </a:t>
            </a:r>
            <a:r>
              <a:rPr lang="pt-PT" sz="1200" b="1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barras invertidas</a:t>
            </a:r>
            <a:r>
              <a:rPr lang="pt-PT" sz="1200" dirty="0">
                <a:solidFill>
                  <a:schemeClr val="accent3">
                    <a:lumMod val="90000"/>
                  </a:schemeClr>
                </a:solidFill>
                <a:latin typeface="Livvic" pitchFamily="2" charset="0"/>
                <a:cs typeface="Arial" panose="020B0604020202020204" pitchFamily="34" charset="0"/>
              </a:rPr>
              <a:t>.</a:t>
            </a:r>
            <a:endParaRPr lang="en-US" sz="1200" dirty="0">
              <a:solidFill>
                <a:schemeClr val="accent3">
                  <a:lumMod val="90000"/>
                </a:schemeClr>
              </a:solidFill>
              <a:latin typeface="Livvic" pitchFamily="2" charset="0"/>
              <a:cs typeface="Arial" panose="020B060402020202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2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FC114F3C-F3E4-6087-ECF1-8E77F19AC46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pt-PT" dirty="0">
                <a:solidFill>
                  <a:schemeClr val="accent3"/>
                </a:solidFill>
              </a:rPr>
              <a:t>Python</a:t>
            </a:r>
            <a:r>
              <a:rPr lang="en" sz="1400" dirty="0">
                <a:solidFill>
                  <a:schemeClr val="accent3"/>
                </a:solidFill>
              </a:rPr>
              <a:t>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D6F7147-9510-EDC3-56B1-A5BA64AC05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E4247E42-653C-D76C-9B7D-3A73D15608E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C03F2-6939-B90F-58B6-A0D033A33004}"/>
              </a:ext>
            </a:extLst>
          </p:cNvPr>
          <p:cNvSpPr txBox="1"/>
          <p:nvPr/>
        </p:nvSpPr>
        <p:spPr>
          <a:xfrm>
            <a:off x="1368804" y="3172690"/>
            <a:ext cx="7449614" cy="116955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‘Uma noite destas, vindo da cidade para o Engenho Novo, encontrei no trem da Central um rapaz aqui do bairro, que eu conheço de vista e de chapéu.</a:t>
            </a:r>
            <a:r>
              <a:rPr lang="pt-PT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 </a:t>
            </a:r>
            <a:r>
              <a:rPr lang="pt-PT" b="1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\n</a:t>
            </a:r>
          </a:p>
          <a:p>
            <a:r>
              <a:rPr lang="pt-PT" b="1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\t</a:t>
            </a:r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Comprimentou-me, sentou-se ao pé de mim, falou da lua e dos ministros, e acabou recitando-me versos. </a:t>
            </a:r>
            <a:r>
              <a:rPr lang="pt-PT" b="1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\n</a:t>
            </a:r>
          </a:p>
          <a:p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A viagem era curta, e os versos pode ser que não </a:t>
            </a:r>
            <a:r>
              <a:rPr lang="pt-PT" b="1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\“</a:t>
            </a:r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fossem inteiramente maus</a:t>
            </a:r>
            <a:r>
              <a:rPr lang="pt-PT" b="1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\”</a:t>
            </a:r>
            <a:r>
              <a:rPr lang="pt-PT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vvic" pitchFamily="2" charset="0"/>
              </a:rPr>
              <a:t>.’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BDADC-BAE7-8CA4-0135-63F4EAA191FF}"/>
              </a:ext>
            </a:extLst>
          </p:cNvPr>
          <p:cNvSpPr txBox="1"/>
          <p:nvPr/>
        </p:nvSpPr>
        <p:spPr>
          <a:xfrm>
            <a:off x="3887447" y="2864913"/>
            <a:ext cx="2161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</a:t>
            </a:r>
            <a:endParaRPr 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269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C0D440A-1509-83A3-496B-5EBE22F7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4AB43C47-95B5-22A6-8A9F-41AF23CA57C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pt-PT" dirty="0">
                <a:solidFill>
                  <a:schemeClr val="accent3"/>
                </a:solidFill>
              </a:rPr>
              <a:t>Python</a:t>
            </a:r>
            <a:r>
              <a:rPr lang="en" sz="1400" dirty="0">
                <a:solidFill>
                  <a:schemeClr val="accent3"/>
                </a:solidFill>
              </a:rPr>
              <a:t>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96AAF65-60FE-371C-2E1B-914D05FC470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8A73997-0365-F69E-C2C3-07235510265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lesson3.ipynb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89123C-E1A1-9296-3CAD-039AE61E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44" y="679569"/>
            <a:ext cx="576240" cy="3722200"/>
          </a:xfrm>
          <a:prstGeom prst="rect">
            <a:avLst/>
          </a:prstGeom>
        </p:spPr>
      </p:pic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7995EDCF-18C7-E012-4040-1B933AEF2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5404" y="1758364"/>
            <a:ext cx="4024480" cy="2156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Matplotlib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é a biblioteca base para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visualização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em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Python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Muito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flexível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personalizável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Permite criar praticamente qualquer tipo de gráfico.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Requer mais linhas de código para configurações avançadas.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Ideal para gráficos altamente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personalizados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detalhados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.</a:t>
            </a:r>
            <a:endParaRPr lang="en-US" sz="1400" dirty="0">
              <a:solidFill>
                <a:schemeClr val="accent3"/>
              </a:solidFill>
              <a:latin typeface="Livvic" pitchFamily="2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PT" sz="1200" dirty="0">
              <a:solidFill>
                <a:schemeClr val="accent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4B169-5267-00A6-B11D-CAA4E33B7993}"/>
              </a:ext>
            </a:extLst>
          </p:cNvPr>
          <p:cNvSpPr txBox="1"/>
          <p:nvPr/>
        </p:nvSpPr>
        <p:spPr>
          <a:xfrm>
            <a:off x="2282190" y="603369"/>
            <a:ext cx="457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buNone/>
            </a:pPr>
            <a:r>
              <a:rPr lang="pt-PT" sz="18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Ficheiros – Caracteres especiais</a:t>
            </a:r>
          </a:p>
        </p:txBody>
      </p:sp>
      <p:pic>
        <p:nvPicPr>
          <p:cNvPr id="9" name="Picture 4" descr="Data Visualization - Insights with Matplotlib - Learn by Insight...">
            <a:extLst>
              <a:ext uri="{FF2B5EF4-FFF2-40B4-BE49-F238E27FC236}">
                <a16:creationId xmlns:a16="http://schemas.microsoft.com/office/drawing/2014/main" id="{2EB59C15-3A1C-1DEB-A67F-35E6BC7B0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01" y="1036414"/>
            <a:ext cx="2730644" cy="65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472;p28">
            <a:extLst>
              <a:ext uri="{FF2B5EF4-FFF2-40B4-BE49-F238E27FC236}">
                <a16:creationId xmlns:a16="http://schemas.microsoft.com/office/drawing/2014/main" id="{D0E0410A-C0CA-0DF9-5B04-6C558197A206}"/>
              </a:ext>
            </a:extLst>
          </p:cNvPr>
          <p:cNvSpPr txBox="1">
            <a:spLocks/>
          </p:cNvSpPr>
          <p:nvPr/>
        </p:nvSpPr>
        <p:spPr>
          <a:xfrm>
            <a:off x="4845760" y="1755482"/>
            <a:ext cx="4024480" cy="215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39700" indent="0">
              <a:buNone/>
            </a:pP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Seaborn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é uma biblioteca construída sobre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Matplotlib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, focada em gráficos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estatísticos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Sintaxe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simples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concisa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Visualizações com design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elegante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moderno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por defeito.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Facilita a criação de gráficos complexos, como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boxplots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,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violin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plots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heatmaps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Excelente para análise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exploratória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e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apresentação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rápida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de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 </a:t>
            </a:r>
            <a:r>
              <a:rPr lang="pt-PT" sz="1400" b="1" dirty="0">
                <a:solidFill>
                  <a:schemeClr val="accent3"/>
                </a:solidFill>
                <a:latin typeface="Livvic" pitchFamily="2" charset="0"/>
              </a:rPr>
              <a:t>dados</a:t>
            </a:r>
            <a:r>
              <a:rPr lang="pt-PT" sz="1400" dirty="0">
                <a:solidFill>
                  <a:schemeClr val="accent3"/>
                </a:solidFill>
                <a:latin typeface="Livvic" pitchFamily="2" charset="0"/>
              </a:rPr>
              <a:t>.</a:t>
            </a:r>
            <a:endParaRPr lang="en-US" sz="1400" dirty="0">
              <a:solidFill>
                <a:schemeClr val="accent3"/>
              </a:solidFill>
              <a:latin typeface="Livvic" pitchFamily="2" charset="0"/>
            </a:endParaRPr>
          </a:p>
          <a:p>
            <a:pPr marL="0" indent="0">
              <a:buFont typeface="Fira Code"/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pt-PT" sz="14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pt-PT" sz="1200" dirty="0">
              <a:solidFill>
                <a:schemeClr val="accent3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444A093-A4DE-05AB-5540-CAD25DBB2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2156" y="1036569"/>
            <a:ext cx="2284579" cy="6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22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24A3286-2898-91A4-E0B9-5A174B44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E17C95A5-D36E-534C-6751-65CD46F04E2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pt-PT" dirty="0">
                <a:solidFill>
                  <a:schemeClr val="accent3"/>
                </a:solidFill>
              </a:rPr>
              <a:t>Python</a:t>
            </a:r>
            <a:r>
              <a:rPr lang="en" sz="1400" dirty="0">
                <a:solidFill>
                  <a:schemeClr val="accent3"/>
                </a:solidFill>
              </a:rPr>
              <a:t>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8F21F70-E4AF-A2CF-D5C5-40DC52A1CA7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C5332FD7-62C4-F1B6-6433-15EC6F6A2A6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lesson3.ipynb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5413F-4127-57CB-4E7B-A9DE1ABF6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44" y="679569"/>
            <a:ext cx="576240" cy="3722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72F33A-2767-F1F8-ECFB-ACE37FC5E894}"/>
              </a:ext>
            </a:extLst>
          </p:cNvPr>
          <p:cNvSpPr txBox="1"/>
          <p:nvPr/>
        </p:nvSpPr>
        <p:spPr>
          <a:xfrm>
            <a:off x="2282190" y="603369"/>
            <a:ext cx="457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buNone/>
            </a:pPr>
            <a:r>
              <a:rPr lang="pt-PT" sz="18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Ficheiros – Caracteres especiais</a:t>
            </a:r>
          </a:p>
        </p:txBody>
      </p:sp>
      <p:pic>
        <p:nvPicPr>
          <p:cNvPr id="9" name="Picture 4" descr="Data Visualization - Insights with Matplotlib - Learn by Insight...">
            <a:extLst>
              <a:ext uri="{FF2B5EF4-FFF2-40B4-BE49-F238E27FC236}">
                <a16:creationId xmlns:a16="http://schemas.microsoft.com/office/drawing/2014/main" id="{2C344F53-9425-EEAE-0D40-AF84FC3B2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01" y="1036414"/>
            <a:ext cx="2730644" cy="65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318A8E7-45F5-52FE-8B62-F2691F257C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2156" y="1036569"/>
            <a:ext cx="2284579" cy="65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6619F6-8388-9B8D-FA2E-545244D5B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544" y="1691769"/>
            <a:ext cx="3525993" cy="2103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380DB9-E9B8-5DDF-D800-F8DFBC552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1466" y="1691769"/>
            <a:ext cx="3641101" cy="2103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60E078-46B9-3821-D24F-C2E6895A7D9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793" t="23498" r="14669" b="23609"/>
          <a:stretch/>
        </p:blipFill>
        <p:spPr>
          <a:xfrm>
            <a:off x="5869336" y="3835908"/>
            <a:ext cx="1856981" cy="739806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9053E3-747E-DEC7-C645-47828122386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2070" t="23719" r="12954" b="23609"/>
          <a:stretch/>
        </p:blipFill>
        <p:spPr>
          <a:xfrm>
            <a:off x="1311787" y="3835908"/>
            <a:ext cx="2080260" cy="74195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06405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517</Words>
  <Application>Microsoft Office PowerPoint</Application>
  <PresentationFormat>On-screen Show (16:9)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Livvic</vt:lpstr>
      <vt:lpstr>Fira Code</vt:lpstr>
      <vt:lpstr>Programming Language Workshop for Beginners by Slidesgo</vt:lpstr>
      <vt:lpstr>Python ‘Language’ {</vt:lpstr>
      <vt:lpstr>01</vt:lpstr>
      <vt:lpstr>01 {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Diogo Freitas</dc:creator>
  <cp:lastModifiedBy>Diogo Alonso de Freitas</cp:lastModifiedBy>
  <cp:revision>3</cp:revision>
  <dcterms:modified xsi:type="dcterms:W3CDTF">2026-07-02T18:22:34Z</dcterms:modified>
</cp:coreProperties>
</file>