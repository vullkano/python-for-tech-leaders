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4"/>
  </p:sldMasterIdLst>
  <p:notesMasterIdLst>
    <p:notesMasterId r:id="rId18"/>
  </p:notesMasterIdLst>
  <p:sldIdLst>
    <p:sldId id="340" r:id="rId5"/>
    <p:sldId id="259" r:id="rId6"/>
    <p:sldId id="341" r:id="rId7"/>
    <p:sldId id="267" r:id="rId8"/>
    <p:sldId id="342" r:id="rId9"/>
    <p:sldId id="343" r:id="rId10"/>
    <p:sldId id="346" r:id="rId11"/>
    <p:sldId id="345" r:id="rId12"/>
    <p:sldId id="348" r:id="rId13"/>
    <p:sldId id="349" r:id="rId14"/>
    <p:sldId id="287" r:id="rId15"/>
    <p:sldId id="260" r:id="rId16"/>
    <p:sldId id="352" r:id="rId17"/>
  </p:sldIdLst>
  <p:sldSz cx="9144000" cy="5143500" type="screen16x9"/>
  <p:notesSz cx="6858000" cy="9144000"/>
  <p:embeddedFontLst>
    <p:embeddedFont>
      <p:font typeface="Aptos Narrow" panose="020B0004020202020204" pitchFamily="34" charset="0"/>
      <p:regular r:id="rId19"/>
      <p:bold r:id="rId20"/>
      <p:italic r:id="rId21"/>
      <p:boldItalic r:id="rId22"/>
    </p:embeddedFon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Livvic" pitchFamily="2" charset="0"/>
      <p:regular r:id="rId27"/>
      <p:bold r:id="rId28"/>
      <p:italic r:id="rId29"/>
      <p:boldItalic r:id="rId30"/>
    </p:embeddedFont>
    <p:embeddedFont>
      <p:font typeface="Livvic Light" pitchFamily="2" charset="0"/>
      <p:regular r:id="rId31"/>
      <p:bold r:id="rId32"/>
      <p:italic r:id="rId33"/>
      <p:boldItalic r:id="rId34"/>
    </p:embeddedFont>
    <p:embeddedFont>
      <p:font typeface="Redressed" panose="020B0604020202020204" charset="0"/>
      <p:regular r:id="rId35"/>
    </p:embeddedFont>
    <p:embeddedFont>
      <p:font typeface="Roboto Slab Light" pitchFamily="2" charset="0"/>
      <p:regular r:id="rId36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199F6B-8855-4490-9670-4F6A882FD6F1}" v="835" dt="2025-07-22T17:08:03.926"/>
  </p1510:revLst>
</p1510:revInfo>
</file>

<file path=ppt/tableStyles.xml><?xml version="1.0" encoding="utf-8"?>
<a:tblStyleLst xmlns:a="http://schemas.openxmlformats.org/drawingml/2006/main" def="{362DAB19-7682-4E7A-98F4-9A42130B1AC9}">
  <a:tblStyle styleId="{362DAB19-7682-4E7A-98F4-9A42130B1AC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1244cc8daa9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g1244cc8daa9_1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8">
          <a:extLst>
            <a:ext uri="{FF2B5EF4-FFF2-40B4-BE49-F238E27FC236}">
              <a16:creationId xmlns:a16="http://schemas.microsoft.com/office/drawing/2014/main" id="{D264478E-6983-03EB-90AD-4F84BB85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Google Shape;1219;g1244cc8daa9_1_2212:notes">
            <a:extLst>
              <a:ext uri="{FF2B5EF4-FFF2-40B4-BE49-F238E27FC236}">
                <a16:creationId xmlns:a16="http://schemas.microsoft.com/office/drawing/2014/main" id="{303A4209-7550-A02A-9E63-B68A685DE8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0" name="Google Shape;1220;g1244cc8daa9_1_2212:notes">
            <a:extLst>
              <a:ext uri="{FF2B5EF4-FFF2-40B4-BE49-F238E27FC236}">
                <a16:creationId xmlns:a16="http://schemas.microsoft.com/office/drawing/2014/main" id="{CBA2723C-EBB9-DA43-2652-5E4B45AE93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665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Google Shape;1219;g1244cc8daa9_1_2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0" name="Google Shape;1220;g1244cc8daa9_1_2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>
          <a:extLst>
            <a:ext uri="{FF2B5EF4-FFF2-40B4-BE49-F238E27FC236}">
              <a16:creationId xmlns:a16="http://schemas.microsoft.com/office/drawing/2014/main" id="{378BA13E-3876-7420-632E-373DA89C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70c1df8b91_0_5:notes">
            <a:extLst>
              <a:ext uri="{FF2B5EF4-FFF2-40B4-BE49-F238E27FC236}">
                <a16:creationId xmlns:a16="http://schemas.microsoft.com/office/drawing/2014/main" id="{283FBA56-B2CE-ABAA-6976-579D2810D0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70c1df8b91_0_5:notes">
            <a:extLst>
              <a:ext uri="{FF2B5EF4-FFF2-40B4-BE49-F238E27FC236}">
                <a16:creationId xmlns:a16="http://schemas.microsoft.com/office/drawing/2014/main" id="{DA7C9F2A-C2F5-E582-23B1-54795520D8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1909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>
          <a:extLst>
            <a:ext uri="{FF2B5EF4-FFF2-40B4-BE49-F238E27FC236}">
              <a16:creationId xmlns:a16="http://schemas.microsoft.com/office/drawing/2014/main" id="{98796D50-F791-584C-2675-A2138F538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70c1df8b91_0_5:notes">
            <a:extLst>
              <a:ext uri="{FF2B5EF4-FFF2-40B4-BE49-F238E27FC236}">
                <a16:creationId xmlns:a16="http://schemas.microsoft.com/office/drawing/2014/main" id="{B3793B1C-8DBE-2AB1-1318-B13A25A96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70c1df8b91_0_5:notes">
            <a:extLst>
              <a:ext uri="{FF2B5EF4-FFF2-40B4-BE49-F238E27FC236}">
                <a16:creationId xmlns:a16="http://schemas.microsoft.com/office/drawing/2014/main" id="{59F3BA60-E5F5-860D-EBD0-E4ECABADD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332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>
          <a:extLst>
            <a:ext uri="{FF2B5EF4-FFF2-40B4-BE49-F238E27FC236}">
              <a16:creationId xmlns:a16="http://schemas.microsoft.com/office/drawing/2014/main" id="{CFE05FCD-CE66-08F3-3846-C59F6A6A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1244cc8daa9_1_263:notes">
            <a:extLst>
              <a:ext uri="{FF2B5EF4-FFF2-40B4-BE49-F238E27FC236}">
                <a16:creationId xmlns:a16="http://schemas.microsoft.com/office/drawing/2014/main" id="{0DE10964-B0A1-AAB0-4E34-5BC8329DA8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1244cc8daa9_1_263:notes">
            <a:extLst>
              <a:ext uri="{FF2B5EF4-FFF2-40B4-BE49-F238E27FC236}">
                <a16:creationId xmlns:a16="http://schemas.microsoft.com/office/drawing/2014/main" id="{4E0EAA9F-53A9-AB47-FB11-74C6B8C5C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03613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>
          <a:extLst>
            <a:ext uri="{FF2B5EF4-FFF2-40B4-BE49-F238E27FC236}">
              <a16:creationId xmlns:a16="http://schemas.microsoft.com/office/drawing/2014/main" id="{0C017887-9F83-CF83-3183-B3B0DA05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70c1df8b91_0_5:notes">
            <a:extLst>
              <a:ext uri="{FF2B5EF4-FFF2-40B4-BE49-F238E27FC236}">
                <a16:creationId xmlns:a16="http://schemas.microsoft.com/office/drawing/2014/main" id="{29EDC428-1470-2E92-607F-DC67647DC9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70c1df8b91_0_5:notes">
            <a:extLst>
              <a:ext uri="{FF2B5EF4-FFF2-40B4-BE49-F238E27FC236}">
                <a16:creationId xmlns:a16="http://schemas.microsoft.com/office/drawing/2014/main" id="{A0CA7431-69D1-E587-3705-FFB3BB7739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3458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>
          <a:extLst>
            <a:ext uri="{FF2B5EF4-FFF2-40B4-BE49-F238E27FC236}">
              <a16:creationId xmlns:a16="http://schemas.microsoft.com/office/drawing/2014/main" id="{1976C4A4-6F58-64CC-3107-1904F54EC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70c1df8b91_0_5:notes">
            <a:extLst>
              <a:ext uri="{FF2B5EF4-FFF2-40B4-BE49-F238E27FC236}">
                <a16:creationId xmlns:a16="http://schemas.microsoft.com/office/drawing/2014/main" id="{CBDE5D30-EE4E-5132-D620-4DF76C0D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70c1df8b91_0_5:notes">
            <a:extLst>
              <a:ext uri="{FF2B5EF4-FFF2-40B4-BE49-F238E27FC236}">
                <a16:creationId xmlns:a16="http://schemas.microsoft.com/office/drawing/2014/main" id="{FCF654F0-F7E2-A778-41CA-53CC162149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3932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>
          <a:extLst>
            <a:ext uri="{FF2B5EF4-FFF2-40B4-BE49-F238E27FC236}">
              <a16:creationId xmlns:a16="http://schemas.microsoft.com/office/drawing/2014/main" id="{9B56FF04-FB6B-2017-7F83-C8A4E4D44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70c1df8b91_0_5:notes">
            <a:extLst>
              <a:ext uri="{FF2B5EF4-FFF2-40B4-BE49-F238E27FC236}">
                <a16:creationId xmlns:a16="http://schemas.microsoft.com/office/drawing/2014/main" id="{938741A8-4431-423F-C416-F420655A42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70c1df8b91_0_5:notes">
            <a:extLst>
              <a:ext uri="{FF2B5EF4-FFF2-40B4-BE49-F238E27FC236}">
                <a16:creationId xmlns:a16="http://schemas.microsoft.com/office/drawing/2014/main" id="{63791327-3446-C980-5415-461D35F30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53118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3" name="Google Shape;2983;g1244cc8daa9_1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4" name="Google Shape;2984;g1244cc8daa9_1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70c1df8b9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70c1df8b9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>
          <a:extLst>
            <a:ext uri="{FF2B5EF4-FFF2-40B4-BE49-F238E27FC236}">
              <a16:creationId xmlns:a16="http://schemas.microsoft.com/office/drawing/2014/main" id="{3841862B-B559-4C02-F719-AF31DF13C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70c1df8b91_0_10:notes">
            <a:extLst>
              <a:ext uri="{FF2B5EF4-FFF2-40B4-BE49-F238E27FC236}">
                <a16:creationId xmlns:a16="http://schemas.microsoft.com/office/drawing/2014/main" id="{C81E0E8E-1A92-8D59-091A-55DB496C31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70c1df8b91_0_10:notes">
            <a:extLst>
              <a:ext uri="{FF2B5EF4-FFF2-40B4-BE49-F238E27FC236}">
                <a16:creationId xmlns:a16="http://schemas.microsoft.com/office/drawing/2014/main" id="{484A63FB-7242-CFC3-DA4F-80669AF2C0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70784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subTitle" idx="1"/>
          </p:nvPr>
        </p:nvSpPr>
        <p:spPr>
          <a:xfrm>
            <a:off x="3077650" y="3419200"/>
            <a:ext cx="29886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923750" y="981600"/>
            <a:ext cx="5296500" cy="22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>
            <a:spLocks noGrp="1"/>
          </p:cNvSpPr>
          <p:nvPr>
            <p:ph type="subTitle" idx="1"/>
          </p:nvPr>
        </p:nvSpPr>
        <p:spPr>
          <a:xfrm flipH="1">
            <a:off x="835078" y="2109829"/>
            <a:ext cx="3569100" cy="208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1101028" y="1456631"/>
            <a:ext cx="3037200" cy="5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30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ctrTitle"/>
          </p:nvPr>
        </p:nvSpPr>
        <p:spPr>
          <a:xfrm>
            <a:off x="5826034" y="1395800"/>
            <a:ext cx="2711700" cy="9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b="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ubTitle" idx="1"/>
          </p:nvPr>
        </p:nvSpPr>
        <p:spPr>
          <a:xfrm>
            <a:off x="5375734" y="2462926"/>
            <a:ext cx="3162000" cy="201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600">
                <a:solidFill>
                  <a:schemeClr val="accent3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6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ctrTitle"/>
          </p:nvPr>
        </p:nvSpPr>
        <p:spPr>
          <a:xfrm>
            <a:off x="3134250" y="3878388"/>
            <a:ext cx="28755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800">
                <a:latin typeface="Livvic"/>
                <a:ea typeface="Livvic"/>
                <a:cs typeface="Livvic"/>
                <a:sym typeface="Livvic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subTitle" idx="1"/>
          </p:nvPr>
        </p:nvSpPr>
        <p:spPr>
          <a:xfrm>
            <a:off x="1754500" y="700900"/>
            <a:ext cx="5634900" cy="19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Redressed"/>
                <a:ea typeface="Redressed"/>
                <a:cs typeface="Redressed"/>
                <a:sym typeface="Redres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6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2831550" y="2415825"/>
            <a:ext cx="3480900" cy="89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3054600" y="3362775"/>
            <a:ext cx="3034800" cy="5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2" hasCustomPrompt="1"/>
          </p:nvPr>
        </p:nvSpPr>
        <p:spPr>
          <a:xfrm>
            <a:off x="4027800" y="1255175"/>
            <a:ext cx="10884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5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6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3022475" y="539500"/>
            <a:ext cx="4445700" cy="15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subTitle" idx="1"/>
          </p:nvPr>
        </p:nvSpPr>
        <p:spPr>
          <a:xfrm>
            <a:off x="3022475" y="2271400"/>
            <a:ext cx="2590500" cy="5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 hasCustomPrompt="1"/>
          </p:nvPr>
        </p:nvSpPr>
        <p:spPr>
          <a:xfrm>
            <a:off x="1675850" y="910150"/>
            <a:ext cx="10884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5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6_1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61500" y="2439975"/>
            <a:ext cx="43239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subTitle" idx="1"/>
          </p:nvPr>
        </p:nvSpPr>
        <p:spPr>
          <a:xfrm>
            <a:off x="1950725" y="3393325"/>
            <a:ext cx="3034800" cy="5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Livvic"/>
              <a:buNone/>
              <a:defRPr sz="1200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title" idx="2" hasCustomPrompt="1"/>
          </p:nvPr>
        </p:nvSpPr>
        <p:spPr>
          <a:xfrm>
            <a:off x="3897125" y="1224675"/>
            <a:ext cx="10884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52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None/>
              <a:defRPr sz="36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2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subTitle" idx="1"/>
          </p:nvPr>
        </p:nvSpPr>
        <p:spPr>
          <a:xfrm flipH="1">
            <a:off x="737525" y="1520500"/>
            <a:ext cx="4240800" cy="274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80" name="Google Shape;80;p21"/>
          <p:cNvSpPr txBox="1">
            <a:spLocks noGrp="1"/>
          </p:cNvSpPr>
          <p:nvPr>
            <p:ph type="title"/>
          </p:nvPr>
        </p:nvSpPr>
        <p:spPr>
          <a:xfrm>
            <a:off x="737425" y="798531"/>
            <a:ext cx="3037200" cy="5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000" b="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3000" b="0"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24514" y="539500"/>
            <a:ext cx="3694960" cy="40293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8585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2800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8585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ivvic Light"/>
              <a:buChar char="●"/>
              <a:defRPr sz="1800"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ivvic Light"/>
              <a:buChar char="○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ivvic Light"/>
              <a:buChar char="■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ivvic Light"/>
              <a:buChar char="●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ivvic Light"/>
              <a:buChar char="○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ivvic Light"/>
              <a:buChar char="■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ivvic Light"/>
              <a:buChar char="●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ivvic Light"/>
              <a:buChar char="○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ivvic Light"/>
              <a:buChar char="■"/>
              <a:defRPr>
                <a:solidFill>
                  <a:schemeClr val="dk1"/>
                </a:solidFill>
                <a:latin typeface="Livvic Light"/>
                <a:ea typeface="Livvic Light"/>
                <a:cs typeface="Livvic Light"/>
                <a:sym typeface="Livvic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5" r:id="rId5"/>
    <p:sldLayoutId id="2147483656" r:id="rId6"/>
    <p:sldLayoutId id="2147483660" r:id="rId7"/>
    <p:sldLayoutId id="2147483661" r:id="rId8"/>
    <p:sldLayoutId id="2147483662" r:id="rId9"/>
    <p:sldLayoutId id="2147483667" r:id="rId10"/>
    <p:sldLayoutId id="2147483691" r:id="rId11"/>
    <p:sldLayoutId id="2147483692" r:id="rId12"/>
    <p:sldLayoutId id="214748369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5"/>
          <p:cNvSpPr txBox="1">
            <a:spLocks noGrp="1"/>
          </p:cNvSpPr>
          <p:nvPr>
            <p:ph type="subTitle" idx="1"/>
          </p:nvPr>
        </p:nvSpPr>
        <p:spPr>
          <a:xfrm>
            <a:off x="3077650" y="2524697"/>
            <a:ext cx="2988600" cy="9432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" sz="1400"/>
              <a:t>Módulo V</a:t>
            </a:r>
          </a:p>
          <a:p>
            <a:pPr marL="0" lvl="0" indent="0" algn="ctr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" sz="1400"/>
              <a:t>Para além da edição: O digital na Investigação Linguística</a:t>
            </a:r>
            <a:endParaRPr sz="1400"/>
          </a:p>
        </p:txBody>
      </p:sp>
      <p:pic>
        <p:nvPicPr>
          <p:cNvPr id="469" name="Google Shape;469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23171" y="3172332"/>
            <a:ext cx="3216325" cy="2149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6573226" y="-505463"/>
            <a:ext cx="3633526" cy="31839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1" name="Google Shape;471;p55"/>
          <p:cNvGrpSpPr/>
          <p:nvPr/>
        </p:nvGrpSpPr>
        <p:grpSpPr>
          <a:xfrm>
            <a:off x="3438669" y="2455122"/>
            <a:ext cx="2255901" cy="69575"/>
            <a:chOff x="446800" y="1721825"/>
            <a:chExt cx="259025" cy="18325"/>
          </a:xfrm>
        </p:grpSpPr>
        <p:sp>
          <p:nvSpPr>
            <p:cNvPr id="472" name="Google Shape;472;p55"/>
            <p:cNvSpPr/>
            <p:nvPr/>
          </p:nvSpPr>
          <p:spPr>
            <a:xfrm>
              <a:off x="447225" y="1724725"/>
              <a:ext cx="258600" cy="15425"/>
            </a:xfrm>
            <a:custGeom>
              <a:avLst/>
              <a:gdLst/>
              <a:ahLst/>
              <a:cxnLst/>
              <a:rect l="l" t="t" r="r" b="b"/>
              <a:pathLst>
                <a:path w="10344" h="617" extrusionOk="0">
                  <a:moveTo>
                    <a:pt x="371" y="0"/>
                  </a:moveTo>
                  <a:cubicBezTo>
                    <a:pt x="274" y="0"/>
                    <a:pt x="176" y="4"/>
                    <a:pt x="77" y="13"/>
                  </a:cubicBezTo>
                  <a:cubicBezTo>
                    <a:pt x="1" y="13"/>
                    <a:pt x="3" y="132"/>
                    <a:pt x="78" y="132"/>
                  </a:cubicBezTo>
                  <a:cubicBezTo>
                    <a:pt x="79" y="132"/>
                    <a:pt x="80" y="132"/>
                    <a:pt x="81" y="132"/>
                  </a:cubicBezTo>
                  <a:cubicBezTo>
                    <a:pt x="246" y="140"/>
                    <a:pt x="410" y="177"/>
                    <a:pt x="574" y="189"/>
                  </a:cubicBezTo>
                  <a:cubicBezTo>
                    <a:pt x="738" y="206"/>
                    <a:pt x="902" y="226"/>
                    <a:pt x="1062" y="247"/>
                  </a:cubicBezTo>
                  <a:cubicBezTo>
                    <a:pt x="1226" y="263"/>
                    <a:pt x="1395" y="271"/>
                    <a:pt x="1555" y="292"/>
                  </a:cubicBezTo>
                  <a:cubicBezTo>
                    <a:pt x="1719" y="317"/>
                    <a:pt x="1883" y="325"/>
                    <a:pt x="2047" y="349"/>
                  </a:cubicBezTo>
                  <a:cubicBezTo>
                    <a:pt x="2211" y="378"/>
                    <a:pt x="2375" y="431"/>
                    <a:pt x="2543" y="448"/>
                  </a:cubicBezTo>
                  <a:cubicBezTo>
                    <a:pt x="2712" y="464"/>
                    <a:pt x="2880" y="485"/>
                    <a:pt x="3052" y="497"/>
                  </a:cubicBezTo>
                  <a:cubicBezTo>
                    <a:pt x="3093" y="500"/>
                    <a:pt x="3134" y="501"/>
                    <a:pt x="3175" y="501"/>
                  </a:cubicBezTo>
                  <a:cubicBezTo>
                    <a:pt x="3273" y="501"/>
                    <a:pt x="3371" y="495"/>
                    <a:pt x="3470" y="495"/>
                  </a:cubicBezTo>
                  <a:cubicBezTo>
                    <a:pt x="3501" y="495"/>
                    <a:pt x="3531" y="496"/>
                    <a:pt x="3561" y="497"/>
                  </a:cubicBezTo>
                  <a:cubicBezTo>
                    <a:pt x="3729" y="501"/>
                    <a:pt x="3898" y="518"/>
                    <a:pt x="4066" y="526"/>
                  </a:cubicBezTo>
                  <a:cubicBezTo>
                    <a:pt x="4152" y="530"/>
                    <a:pt x="4235" y="530"/>
                    <a:pt x="4318" y="530"/>
                  </a:cubicBezTo>
                  <a:cubicBezTo>
                    <a:pt x="4400" y="530"/>
                    <a:pt x="4482" y="530"/>
                    <a:pt x="4566" y="534"/>
                  </a:cubicBezTo>
                  <a:cubicBezTo>
                    <a:pt x="4730" y="538"/>
                    <a:pt x="4895" y="591"/>
                    <a:pt x="5063" y="596"/>
                  </a:cubicBezTo>
                  <a:cubicBezTo>
                    <a:pt x="5078" y="596"/>
                    <a:pt x="5093" y="596"/>
                    <a:pt x="5108" y="596"/>
                  </a:cubicBezTo>
                  <a:cubicBezTo>
                    <a:pt x="5243" y="596"/>
                    <a:pt x="5380" y="583"/>
                    <a:pt x="5514" y="583"/>
                  </a:cubicBezTo>
                  <a:cubicBezTo>
                    <a:pt x="5529" y="583"/>
                    <a:pt x="5544" y="583"/>
                    <a:pt x="5559" y="583"/>
                  </a:cubicBezTo>
                  <a:cubicBezTo>
                    <a:pt x="5615" y="585"/>
                    <a:pt x="5671" y="585"/>
                    <a:pt x="5727" y="585"/>
                  </a:cubicBezTo>
                  <a:cubicBezTo>
                    <a:pt x="5837" y="585"/>
                    <a:pt x="5948" y="583"/>
                    <a:pt x="6060" y="583"/>
                  </a:cubicBezTo>
                  <a:cubicBezTo>
                    <a:pt x="6224" y="583"/>
                    <a:pt x="6392" y="616"/>
                    <a:pt x="6556" y="616"/>
                  </a:cubicBezTo>
                  <a:cubicBezTo>
                    <a:pt x="6721" y="616"/>
                    <a:pt x="6889" y="600"/>
                    <a:pt x="7053" y="600"/>
                  </a:cubicBezTo>
                  <a:cubicBezTo>
                    <a:pt x="7221" y="596"/>
                    <a:pt x="7385" y="563"/>
                    <a:pt x="7554" y="559"/>
                  </a:cubicBezTo>
                  <a:cubicBezTo>
                    <a:pt x="7570" y="558"/>
                    <a:pt x="7587" y="557"/>
                    <a:pt x="7603" y="557"/>
                  </a:cubicBezTo>
                  <a:cubicBezTo>
                    <a:pt x="7735" y="557"/>
                    <a:pt x="7869" y="580"/>
                    <a:pt x="8000" y="580"/>
                  </a:cubicBezTo>
                  <a:cubicBezTo>
                    <a:pt x="8017" y="580"/>
                    <a:pt x="8033" y="580"/>
                    <a:pt x="8050" y="579"/>
                  </a:cubicBezTo>
                  <a:cubicBezTo>
                    <a:pt x="8243" y="571"/>
                    <a:pt x="8428" y="522"/>
                    <a:pt x="8616" y="509"/>
                  </a:cubicBezTo>
                  <a:cubicBezTo>
                    <a:pt x="8805" y="497"/>
                    <a:pt x="8994" y="477"/>
                    <a:pt x="9178" y="460"/>
                  </a:cubicBezTo>
                  <a:cubicBezTo>
                    <a:pt x="9367" y="440"/>
                    <a:pt x="9560" y="448"/>
                    <a:pt x="9749" y="427"/>
                  </a:cubicBezTo>
                  <a:cubicBezTo>
                    <a:pt x="9938" y="403"/>
                    <a:pt x="10122" y="370"/>
                    <a:pt x="10311" y="341"/>
                  </a:cubicBezTo>
                  <a:cubicBezTo>
                    <a:pt x="10340" y="337"/>
                    <a:pt x="10344" y="267"/>
                    <a:pt x="10311" y="267"/>
                  </a:cubicBezTo>
                  <a:cubicBezTo>
                    <a:pt x="10143" y="271"/>
                    <a:pt x="9974" y="280"/>
                    <a:pt x="9810" y="284"/>
                  </a:cubicBezTo>
                  <a:cubicBezTo>
                    <a:pt x="9642" y="288"/>
                    <a:pt x="9474" y="308"/>
                    <a:pt x="9310" y="312"/>
                  </a:cubicBezTo>
                  <a:cubicBezTo>
                    <a:pt x="9141" y="317"/>
                    <a:pt x="8977" y="325"/>
                    <a:pt x="8809" y="329"/>
                  </a:cubicBezTo>
                  <a:cubicBezTo>
                    <a:pt x="8641" y="333"/>
                    <a:pt x="8477" y="345"/>
                    <a:pt x="8309" y="349"/>
                  </a:cubicBezTo>
                  <a:cubicBezTo>
                    <a:pt x="8296" y="350"/>
                    <a:pt x="8283" y="350"/>
                    <a:pt x="8270" y="350"/>
                  </a:cubicBezTo>
                  <a:cubicBezTo>
                    <a:pt x="8115" y="350"/>
                    <a:pt x="7963" y="329"/>
                    <a:pt x="7808" y="329"/>
                  </a:cubicBezTo>
                  <a:cubicBezTo>
                    <a:pt x="7640" y="333"/>
                    <a:pt x="7476" y="382"/>
                    <a:pt x="7307" y="386"/>
                  </a:cubicBezTo>
                  <a:cubicBezTo>
                    <a:pt x="7300" y="387"/>
                    <a:pt x="7293" y="387"/>
                    <a:pt x="7285" y="387"/>
                  </a:cubicBezTo>
                  <a:cubicBezTo>
                    <a:pt x="7132" y="387"/>
                    <a:pt x="6982" y="349"/>
                    <a:pt x="6829" y="349"/>
                  </a:cubicBezTo>
                  <a:cubicBezTo>
                    <a:pt x="6821" y="349"/>
                    <a:pt x="6814" y="349"/>
                    <a:pt x="6807" y="349"/>
                  </a:cubicBezTo>
                  <a:lnTo>
                    <a:pt x="6306" y="349"/>
                  </a:lnTo>
                  <a:cubicBezTo>
                    <a:pt x="6160" y="349"/>
                    <a:pt x="6011" y="362"/>
                    <a:pt x="5862" y="362"/>
                  </a:cubicBezTo>
                  <a:cubicBezTo>
                    <a:pt x="5843" y="362"/>
                    <a:pt x="5824" y="362"/>
                    <a:pt x="5806" y="362"/>
                  </a:cubicBezTo>
                  <a:cubicBezTo>
                    <a:pt x="5751" y="360"/>
                    <a:pt x="5696" y="360"/>
                    <a:pt x="5640" y="360"/>
                  </a:cubicBezTo>
                  <a:cubicBezTo>
                    <a:pt x="5529" y="360"/>
                    <a:pt x="5417" y="362"/>
                    <a:pt x="5305" y="362"/>
                  </a:cubicBezTo>
                  <a:cubicBezTo>
                    <a:pt x="5193" y="362"/>
                    <a:pt x="5082" y="365"/>
                    <a:pt x="4972" y="365"/>
                  </a:cubicBezTo>
                  <a:cubicBezTo>
                    <a:pt x="4916" y="365"/>
                    <a:pt x="4860" y="364"/>
                    <a:pt x="4804" y="362"/>
                  </a:cubicBezTo>
                  <a:cubicBezTo>
                    <a:pt x="4636" y="354"/>
                    <a:pt x="4472" y="329"/>
                    <a:pt x="4304" y="321"/>
                  </a:cubicBezTo>
                  <a:cubicBezTo>
                    <a:pt x="4220" y="317"/>
                    <a:pt x="4137" y="317"/>
                    <a:pt x="4053" y="317"/>
                  </a:cubicBezTo>
                  <a:cubicBezTo>
                    <a:pt x="3970" y="317"/>
                    <a:pt x="3887" y="317"/>
                    <a:pt x="3803" y="312"/>
                  </a:cubicBezTo>
                  <a:cubicBezTo>
                    <a:pt x="3635" y="308"/>
                    <a:pt x="3471" y="255"/>
                    <a:pt x="3307" y="247"/>
                  </a:cubicBezTo>
                  <a:cubicBezTo>
                    <a:pt x="3138" y="239"/>
                    <a:pt x="2974" y="230"/>
                    <a:pt x="2806" y="218"/>
                  </a:cubicBezTo>
                  <a:cubicBezTo>
                    <a:pt x="2638" y="210"/>
                    <a:pt x="2474" y="198"/>
                    <a:pt x="2305" y="185"/>
                  </a:cubicBezTo>
                  <a:cubicBezTo>
                    <a:pt x="2117" y="173"/>
                    <a:pt x="1924" y="173"/>
                    <a:pt x="1731" y="152"/>
                  </a:cubicBezTo>
                  <a:cubicBezTo>
                    <a:pt x="1542" y="136"/>
                    <a:pt x="1354" y="111"/>
                    <a:pt x="1165" y="79"/>
                  </a:cubicBezTo>
                  <a:cubicBezTo>
                    <a:pt x="984" y="50"/>
                    <a:pt x="804" y="21"/>
                    <a:pt x="623" y="9"/>
                  </a:cubicBezTo>
                  <a:cubicBezTo>
                    <a:pt x="539" y="3"/>
                    <a:pt x="456" y="0"/>
                    <a:pt x="371" y="0"/>
                  </a:cubicBezTo>
                  <a:close/>
                </a:path>
              </a:pathLst>
            </a:custGeom>
            <a:solidFill>
              <a:srgbClr val="5D3D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55"/>
            <p:cNvSpPr/>
            <p:nvPr/>
          </p:nvSpPr>
          <p:spPr>
            <a:xfrm>
              <a:off x="446800" y="1721825"/>
              <a:ext cx="258725" cy="10325"/>
            </a:xfrm>
            <a:custGeom>
              <a:avLst/>
              <a:gdLst/>
              <a:ahLst/>
              <a:cxnLst/>
              <a:rect l="l" t="t" r="r" b="b"/>
              <a:pathLst>
                <a:path w="10349" h="413" extrusionOk="0">
                  <a:moveTo>
                    <a:pt x="825" y="1"/>
                  </a:moveTo>
                  <a:cubicBezTo>
                    <a:pt x="792" y="1"/>
                    <a:pt x="759" y="1"/>
                    <a:pt x="726" y="2"/>
                  </a:cubicBezTo>
                  <a:cubicBezTo>
                    <a:pt x="558" y="2"/>
                    <a:pt x="390" y="14"/>
                    <a:pt x="222" y="26"/>
                  </a:cubicBezTo>
                  <a:cubicBezTo>
                    <a:pt x="0" y="43"/>
                    <a:pt x="4" y="232"/>
                    <a:pt x="222" y="252"/>
                  </a:cubicBezTo>
                  <a:cubicBezTo>
                    <a:pt x="390" y="268"/>
                    <a:pt x="550" y="318"/>
                    <a:pt x="718" y="330"/>
                  </a:cubicBezTo>
                  <a:cubicBezTo>
                    <a:pt x="882" y="346"/>
                    <a:pt x="1046" y="355"/>
                    <a:pt x="1215" y="367"/>
                  </a:cubicBezTo>
                  <a:cubicBezTo>
                    <a:pt x="1263" y="371"/>
                    <a:pt x="1312" y="372"/>
                    <a:pt x="1361" y="372"/>
                  </a:cubicBezTo>
                  <a:cubicBezTo>
                    <a:pt x="1442" y="372"/>
                    <a:pt x="1523" y="369"/>
                    <a:pt x="1605" y="369"/>
                  </a:cubicBezTo>
                  <a:cubicBezTo>
                    <a:pt x="1642" y="369"/>
                    <a:pt x="1678" y="369"/>
                    <a:pt x="1715" y="371"/>
                  </a:cubicBezTo>
                  <a:cubicBezTo>
                    <a:pt x="1879" y="379"/>
                    <a:pt x="2043" y="387"/>
                    <a:pt x="2212" y="392"/>
                  </a:cubicBezTo>
                  <a:cubicBezTo>
                    <a:pt x="2380" y="396"/>
                    <a:pt x="2544" y="412"/>
                    <a:pt x="2708" y="412"/>
                  </a:cubicBezTo>
                  <a:cubicBezTo>
                    <a:pt x="2876" y="408"/>
                    <a:pt x="3045" y="387"/>
                    <a:pt x="3209" y="383"/>
                  </a:cubicBezTo>
                  <a:cubicBezTo>
                    <a:pt x="3377" y="383"/>
                    <a:pt x="3545" y="412"/>
                    <a:pt x="3709" y="412"/>
                  </a:cubicBezTo>
                  <a:cubicBezTo>
                    <a:pt x="3878" y="412"/>
                    <a:pt x="4046" y="371"/>
                    <a:pt x="4210" y="371"/>
                  </a:cubicBezTo>
                  <a:cubicBezTo>
                    <a:pt x="4368" y="371"/>
                    <a:pt x="4527" y="400"/>
                    <a:pt x="4682" y="400"/>
                  </a:cubicBezTo>
                  <a:cubicBezTo>
                    <a:pt x="4691" y="400"/>
                    <a:pt x="4701" y="400"/>
                    <a:pt x="4711" y="400"/>
                  </a:cubicBezTo>
                  <a:cubicBezTo>
                    <a:pt x="4879" y="400"/>
                    <a:pt x="5047" y="371"/>
                    <a:pt x="5211" y="371"/>
                  </a:cubicBezTo>
                  <a:cubicBezTo>
                    <a:pt x="5361" y="371"/>
                    <a:pt x="5510" y="384"/>
                    <a:pt x="5660" y="384"/>
                  </a:cubicBezTo>
                  <a:cubicBezTo>
                    <a:pt x="5678" y="384"/>
                    <a:pt x="5697" y="384"/>
                    <a:pt x="5716" y="383"/>
                  </a:cubicBezTo>
                  <a:cubicBezTo>
                    <a:pt x="5884" y="383"/>
                    <a:pt x="6052" y="367"/>
                    <a:pt x="6221" y="363"/>
                  </a:cubicBezTo>
                  <a:cubicBezTo>
                    <a:pt x="6389" y="363"/>
                    <a:pt x="6557" y="387"/>
                    <a:pt x="6725" y="387"/>
                  </a:cubicBezTo>
                  <a:cubicBezTo>
                    <a:pt x="6893" y="383"/>
                    <a:pt x="7062" y="375"/>
                    <a:pt x="7230" y="371"/>
                  </a:cubicBezTo>
                  <a:cubicBezTo>
                    <a:pt x="7398" y="367"/>
                    <a:pt x="7566" y="346"/>
                    <a:pt x="7735" y="342"/>
                  </a:cubicBezTo>
                  <a:cubicBezTo>
                    <a:pt x="7903" y="334"/>
                    <a:pt x="8067" y="342"/>
                    <a:pt x="8231" y="330"/>
                  </a:cubicBezTo>
                  <a:cubicBezTo>
                    <a:pt x="8399" y="322"/>
                    <a:pt x="8564" y="305"/>
                    <a:pt x="8732" y="293"/>
                  </a:cubicBezTo>
                  <a:cubicBezTo>
                    <a:pt x="8896" y="285"/>
                    <a:pt x="9064" y="285"/>
                    <a:pt x="9228" y="273"/>
                  </a:cubicBezTo>
                  <a:cubicBezTo>
                    <a:pt x="9392" y="260"/>
                    <a:pt x="9557" y="207"/>
                    <a:pt x="9721" y="190"/>
                  </a:cubicBezTo>
                  <a:cubicBezTo>
                    <a:pt x="9747" y="188"/>
                    <a:pt x="9774" y="188"/>
                    <a:pt x="9801" y="188"/>
                  </a:cubicBezTo>
                  <a:cubicBezTo>
                    <a:pt x="9914" y="188"/>
                    <a:pt x="10028" y="202"/>
                    <a:pt x="10140" y="202"/>
                  </a:cubicBezTo>
                  <a:cubicBezTo>
                    <a:pt x="10168" y="202"/>
                    <a:pt x="10195" y="201"/>
                    <a:pt x="10221" y="199"/>
                  </a:cubicBezTo>
                  <a:cubicBezTo>
                    <a:pt x="10312" y="190"/>
                    <a:pt x="10348" y="84"/>
                    <a:pt x="10242" y="71"/>
                  </a:cubicBezTo>
                  <a:cubicBezTo>
                    <a:pt x="10057" y="53"/>
                    <a:pt x="9878" y="21"/>
                    <a:pt x="9694" y="21"/>
                  </a:cubicBezTo>
                  <a:cubicBezTo>
                    <a:pt x="9674" y="21"/>
                    <a:pt x="9654" y="21"/>
                    <a:pt x="9634" y="22"/>
                  </a:cubicBezTo>
                  <a:cubicBezTo>
                    <a:pt x="9433" y="30"/>
                    <a:pt x="9232" y="35"/>
                    <a:pt x="9027" y="47"/>
                  </a:cubicBezTo>
                  <a:cubicBezTo>
                    <a:pt x="8826" y="55"/>
                    <a:pt x="8625" y="71"/>
                    <a:pt x="8424" y="71"/>
                  </a:cubicBezTo>
                  <a:cubicBezTo>
                    <a:pt x="8223" y="76"/>
                    <a:pt x="8022" y="113"/>
                    <a:pt x="7821" y="113"/>
                  </a:cubicBezTo>
                  <a:cubicBezTo>
                    <a:pt x="7648" y="113"/>
                    <a:pt x="7480" y="67"/>
                    <a:pt x="7308" y="67"/>
                  </a:cubicBezTo>
                  <a:cubicBezTo>
                    <a:pt x="7136" y="67"/>
                    <a:pt x="6967" y="80"/>
                    <a:pt x="6795" y="80"/>
                  </a:cubicBezTo>
                  <a:cubicBezTo>
                    <a:pt x="6776" y="79"/>
                    <a:pt x="6757" y="79"/>
                    <a:pt x="6738" y="79"/>
                  </a:cubicBezTo>
                  <a:cubicBezTo>
                    <a:pt x="6585" y="79"/>
                    <a:pt x="6435" y="92"/>
                    <a:pt x="6282" y="92"/>
                  </a:cubicBezTo>
                  <a:lnTo>
                    <a:pt x="5769" y="88"/>
                  </a:lnTo>
                  <a:cubicBezTo>
                    <a:pt x="5597" y="88"/>
                    <a:pt x="5429" y="59"/>
                    <a:pt x="5256" y="59"/>
                  </a:cubicBezTo>
                  <a:cubicBezTo>
                    <a:pt x="5084" y="55"/>
                    <a:pt x="4924" y="51"/>
                    <a:pt x="4756" y="51"/>
                  </a:cubicBezTo>
                  <a:cubicBezTo>
                    <a:pt x="4732" y="50"/>
                    <a:pt x="4708" y="50"/>
                    <a:pt x="4684" y="50"/>
                  </a:cubicBezTo>
                  <a:cubicBezTo>
                    <a:pt x="4540" y="50"/>
                    <a:pt x="4399" y="59"/>
                    <a:pt x="4255" y="59"/>
                  </a:cubicBezTo>
                  <a:cubicBezTo>
                    <a:pt x="4240" y="59"/>
                    <a:pt x="4225" y="59"/>
                    <a:pt x="4209" y="59"/>
                  </a:cubicBezTo>
                  <a:cubicBezTo>
                    <a:pt x="4057" y="59"/>
                    <a:pt x="3907" y="76"/>
                    <a:pt x="3755" y="76"/>
                  </a:cubicBezTo>
                  <a:cubicBezTo>
                    <a:pt x="3586" y="76"/>
                    <a:pt x="3422" y="55"/>
                    <a:pt x="3254" y="51"/>
                  </a:cubicBezTo>
                  <a:cubicBezTo>
                    <a:pt x="3086" y="51"/>
                    <a:pt x="2922" y="59"/>
                    <a:pt x="2753" y="59"/>
                  </a:cubicBezTo>
                  <a:cubicBezTo>
                    <a:pt x="2585" y="55"/>
                    <a:pt x="2417" y="22"/>
                    <a:pt x="2249" y="14"/>
                  </a:cubicBezTo>
                  <a:cubicBezTo>
                    <a:pt x="2164" y="12"/>
                    <a:pt x="2080" y="12"/>
                    <a:pt x="1996" y="12"/>
                  </a:cubicBezTo>
                  <a:cubicBezTo>
                    <a:pt x="1911" y="12"/>
                    <a:pt x="1826" y="12"/>
                    <a:pt x="1740" y="10"/>
                  </a:cubicBezTo>
                  <a:cubicBezTo>
                    <a:pt x="1696" y="8"/>
                    <a:pt x="1652" y="7"/>
                    <a:pt x="1608" y="7"/>
                  </a:cubicBezTo>
                  <a:cubicBezTo>
                    <a:pt x="1509" y="7"/>
                    <a:pt x="1410" y="11"/>
                    <a:pt x="1311" y="11"/>
                  </a:cubicBezTo>
                  <a:cubicBezTo>
                    <a:pt x="1286" y="11"/>
                    <a:pt x="1260" y="11"/>
                    <a:pt x="1235" y="10"/>
                  </a:cubicBezTo>
                  <a:cubicBezTo>
                    <a:pt x="1099" y="7"/>
                    <a:pt x="963" y="1"/>
                    <a:pt x="825" y="1"/>
                  </a:cubicBezTo>
                  <a:close/>
                </a:path>
              </a:pathLst>
            </a:custGeom>
            <a:solidFill>
              <a:srgbClr val="5D3D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74" name="Google Shape;474;p55"/>
          <p:cNvPicPr preferRelativeResize="0"/>
          <p:nvPr/>
        </p:nvPicPr>
        <p:blipFill rotWithShape="1">
          <a:blip r:embed="rId5">
            <a:alphaModFix/>
          </a:blip>
          <a:srcRect t="199" b="199"/>
          <a:stretch/>
        </p:blipFill>
        <p:spPr>
          <a:xfrm rot="902439">
            <a:off x="6802692" y="3092866"/>
            <a:ext cx="1432117" cy="1957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5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723688">
            <a:off x="721651" y="-179734"/>
            <a:ext cx="2255899" cy="2953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B95DF45-7CEC-BE6B-FCA0-A202B52D7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prstClr val="black"/>
              <a:schemeClr val="bg1">
                <a:lumMod val="75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5393" y="3498307"/>
            <a:ext cx="2635593" cy="1146666"/>
          </a:xfrm>
          <a:prstGeom prst="rect">
            <a:avLst/>
          </a:prstGeom>
          <a:ln w="1905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68;p55">
            <a:extLst>
              <a:ext uri="{FF2B5EF4-FFF2-40B4-BE49-F238E27FC236}">
                <a16:creationId xmlns:a16="http://schemas.microsoft.com/office/drawing/2014/main" id="{D33DDE40-E54B-2A4E-FEA9-E48DD40BC9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438669" y="1481511"/>
            <a:ext cx="2253288" cy="9432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AULA III</a:t>
            </a:r>
            <a:endParaRPr sz="44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58"/>
          <p:cNvSpPr/>
          <p:nvPr/>
        </p:nvSpPr>
        <p:spPr>
          <a:xfrm>
            <a:off x="4027800" y="1182829"/>
            <a:ext cx="1088400" cy="9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58"/>
          <p:cNvSpPr/>
          <p:nvPr/>
        </p:nvSpPr>
        <p:spPr>
          <a:xfrm>
            <a:off x="4027760" y="1182824"/>
            <a:ext cx="1088480" cy="986491"/>
          </a:xfrm>
          <a:custGeom>
            <a:avLst/>
            <a:gdLst/>
            <a:ahLst/>
            <a:cxnLst/>
            <a:rect l="l" t="t" r="r" b="b"/>
            <a:pathLst>
              <a:path w="21868" h="19819" extrusionOk="0">
                <a:moveTo>
                  <a:pt x="103" y="1"/>
                </a:moveTo>
                <a:lnTo>
                  <a:pt x="91" y="2738"/>
                </a:lnTo>
                <a:cubicBezTo>
                  <a:pt x="83" y="3694"/>
                  <a:pt x="71" y="4658"/>
                  <a:pt x="62" y="5643"/>
                </a:cubicBezTo>
                <a:cubicBezTo>
                  <a:pt x="46" y="7641"/>
                  <a:pt x="34" y="9414"/>
                  <a:pt x="17" y="11297"/>
                </a:cubicBezTo>
                <a:cubicBezTo>
                  <a:pt x="17" y="12274"/>
                  <a:pt x="25" y="13172"/>
                  <a:pt x="25" y="13997"/>
                </a:cubicBezTo>
                <a:cubicBezTo>
                  <a:pt x="30" y="14408"/>
                  <a:pt x="30" y="14801"/>
                  <a:pt x="25" y="15175"/>
                </a:cubicBezTo>
                <a:cubicBezTo>
                  <a:pt x="25" y="15593"/>
                  <a:pt x="21" y="16004"/>
                  <a:pt x="21" y="16406"/>
                </a:cubicBezTo>
                <a:cubicBezTo>
                  <a:pt x="13" y="17222"/>
                  <a:pt x="9" y="18006"/>
                  <a:pt x="5" y="18765"/>
                </a:cubicBezTo>
                <a:cubicBezTo>
                  <a:pt x="1" y="19114"/>
                  <a:pt x="1" y="19426"/>
                  <a:pt x="1" y="19705"/>
                </a:cubicBezTo>
                <a:lnTo>
                  <a:pt x="739" y="19717"/>
                </a:lnTo>
                <a:lnTo>
                  <a:pt x="1347" y="19725"/>
                </a:lnTo>
                <a:lnTo>
                  <a:pt x="3349" y="19762"/>
                </a:lnTo>
                <a:cubicBezTo>
                  <a:pt x="4010" y="19771"/>
                  <a:pt x="4724" y="19775"/>
                  <a:pt x="5343" y="19775"/>
                </a:cubicBezTo>
                <a:cubicBezTo>
                  <a:pt x="6578" y="19771"/>
                  <a:pt x="7502" y="19754"/>
                  <a:pt x="8207" y="19754"/>
                </a:cubicBezTo>
                <a:cubicBezTo>
                  <a:pt x="8893" y="19754"/>
                  <a:pt x="9418" y="19762"/>
                  <a:pt x="9812" y="19766"/>
                </a:cubicBezTo>
                <a:cubicBezTo>
                  <a:pt x="10620" y="19779"/>
                  <a:pt x="11465" y="19799"/>
                  <a:pt x="12348" y="19807"/>
                </a:cubicBezTo>
                <a:lnTo>
                  <a:pt x="13016" y="19816"/>
                </a:lnTo>
                <a:lnTo>
                  <a:pt x="14723" y="19816"/>
                </a:lnTo>
                <a:cubicBezTo>
                  <a:pt x="15323" y="19817"/>
                  <a:pt x="15893" y="19818"/>
                  <a:pt x="16430" y="19818"/>
                </a:cubicBezTo>
                <a:cubicBezTo>
                  <a:pt x="17188" y="19818"/>
                  <a:pt x="17881" y="19816"/>
                  <a:pt x="18498" y="19812"/>
                </a:cubicBezTo>
                <a:cubicBezTo>
                  <a:pt x="19553" y="19803"/>
                  <a:pt x="20390" y="19795"/>
                  <a:pt x="20964" y="19779"/>
                </a:cubicBezTo>
                <a:cubicBezTo>
                  <a:pt x="21539" y="19766"/>
                  <a:pt x="21855" y="19750"/>
                  <a:pt x="21859" y="19729"/>
                </a:cubicBezTo>
                <a:cubicBezTo>
                  <a:pt x="21867" y="19709"/>
                  <a:pt x="21564" y="19688"/>
                  <a:pt x="21001" y="19668"/>
                </a:cubicBezTo>
                <a:cubicBezTo>
                  <a:pt x="20439" y="19652"/>
                  <a:pt x="19614" y="19631"/>
                  <a:pt x="18572" y="19615"/>
                </a:cubicBezTo>
                <a:lnTo>
                  <a:pt x="14826" y="19557"/>
                </a:lnTo>
                <a:lnTo>
                  <a:pt x="13718" y="19545"/>
                </a:lnTo>
                <a:lnTo>
                  <a:pt x="13148" y="19537"/>
                </a:lnTo>
                <a:lnTo>
                  <a:pt x="12631" y="19533"/>
                </a:lnTo>
                <a:lnTo>
                  <a:pt x="10185" y="19483"/>
                </a:lnTo>
                <a:cubicBezTo>
                  <a:pt x="9818" y="19480"/>
                  <a:pt x="9238" y="19470"/>
                  <a:pt x="8503" y="19470"/>
                </a:cubicBezTo>
                <a:cubicBezTo>
                  <a:pt x="8384" y="19470"/>
                  <a:pt x="8261" y="19470"/>
                  <a:pt x="8134" y="19471"/>
                </a:cubicBezTo>
                <a:cubicBezTo>
                  <a:pt x="7243" y="19475"/>
                  <a:pt x="6234" y="19491"/>
                  <a:pt x="5216" y="19500"/>
                </a:cubicBezTo>
                <a:cubicBezTo>
                  <a:pt x="5131" y="19500"/>
                  <a:pt x="5045" y="19500"/>
                  <a:pt x="4958" y="19500"/>
                </a:cubicBezTo>
                <a:cubicBezTo>
                  <a:pt x="4041" y="19500"/>
                  <a:pt x="2966" y="19481"/>
                  <a:pt x="1622" y="19463"/>
                </a:cubicBezTo>
                <a:lnTo>
                  <a:pt x="460" y="19450"/>
                </a:lnTo>
                <a:lnTo>
                  <a:pt x="259" y="19450"/>
                </a:lnTo>
                <a:lnTo>
                  <a:pt x="263" y="18790"/>
                </a:lnTo>
                <a:cubicBezTo>
                  <a:pt x="263" y="18018"/>
                  <a:pt x="268" y="17226"/>
                  <a:pt x="272" y="16406"/>
                </a:cubicBezTo>
                <a:cubicBezTo>
                  <a:pt x="272" y="15987"/>
                  <a:pt x="276" y="15569"/>
                  <a:pt x="276" y="15138"/>
                </a:cubicBezTo>
                <a:cubicBezTo>
                  <a:pt x="276" y="14674"/>
                  <a:pt x="272" y="14219"/>
                  <a:pt x="272" y="13772"/>
                </a:cubicBezTo>
                <a:cubicBezTo>
                  <a:pt x="263" y="12877"/>
                  <a:pt x="255" y="12011"/>
                  <a:pt x="255" y="11178"/>
                </a:cubicBezTo>
                <a:cubicBezTo>
                  <a:pt x="259" y="9381"/>
                  <a:pt x="268" y="7510"/>
                  <a:pt x="276" y="5590"/>
                </a:cubicBezTo>
                <a:cubicBezTo>
                  <a:pt x="284" y="4638"/>
                  <a:pt x="288" y="3653"/>
                  <a:pt x="292" y="2631"/>
                </a:cubicBezTo>
                <a:lnTo>
                  <a:pt x="296" y="190"/>
                </a:lnTo>
                <a:lnTo>
                  <a:pt x="493" y="190"/>
                </a:lnTo>
                <a:lnTo>
                  <a:pt x="6554" y="194"/>
                </a:lnTo>
                <a:lnTo>
                  <a:pt x="9898" y="194"/>
                </a:lnTo>
                <a:cubicBezTo>
                  <a:pt x="10267" y="194"/>
                  <a:pt x="10633" y="196"/>
                  <a:pt x="11012" y="196"/>
                </a:cubicBezTo>
                <a:cubicBezTo>
                  <a:pt x="11201" y="196"/>
                  <a:pt x="11394" y="195"/>
                  <a:pt x="11593" y="194"/>
                </a:cubicBezTo>
                <a:lnTo>
                  <a:pt x="13267" y="177"/>
                </a:lnTo>
                <a:cubicBezTo>
                  <a:pt x="13804" y="169"/>
                  <a:pt x="14329" y="165"/>
                  <a:pt x="14838" y="165"/>
                </a:cubicBezTo>
                <a:cubicBezTo>
                  <a:pt x="15004" y="164"/>
                  <a:pt x="15172" y="163"/>
                  <a:pt x="15342" y="163"/>
                </a:cubicBezTo>
                <a:cubicBezTo>
                  <a:pt x="15682" y="163"/>
                  <a:pt x="16030" y="165"/>
                  <a:pt x="16377" y="165"/>
                </a:cubicBezTo>
                <a:cubicBezTo>
                  <a:pt x="17419" y="173"/>
                  <a:pt x="18470" y="186"/>
                  <a:pt x="19532" y="190"/>
                </a:cubicBezTo>
                <a:lnTo>
                  <a:pt x="20722" y="190"/>
                </a:lnTo>
                <a:lnTo>
                  <a:pt x="21670" y="186"/>
                </a:lnTo>
                <a:lnTo>
                  <a:pt x="21670" y="378"/>
                </a:lnTo>
                <a:lnTo>
                  <a:pt x="21670" y="735"/>
                </a:lnTo>
                <a:lnTo>
                  <a:pt x="21670" y="2163"/>
                </a:lnTo>
                <a:cubicBezTo>
                  <a:pt x="21670" y="2643"/>
                  <a:pt x="21670" y="3115"/>
                  <a:pt x="21670" y="3583"/>
                </a:cubicBezTo>
                <a:cubicBezTo>
                  <a:pt x="21666" y="4519"/>
                  <a:pt x="21662" y="5425"/>
                  <a:pt x="21662" y="6299"/>
                </a:cubicBezTo>
                <a:cubicBezTo>
                  <a:pt x="21662" y="7153"/>
                  <a:pt x="21654" y="7961"/>
                  <a:pt x="21646" y="8770"/>
                </a:cubicBezTo>
                <a:cubicBezTo>
                  <a:pt x="21637" y="9578"/>
                  <a:pt x="21629" y="10390"/>
                  <a:pt x="21629" y="11166"/>
                </a:cubicBezTo>
                <a:cubicBezTo>
                  <a:pt x="21633" y="11937"/>
                  <a:pt x="21637" y="12647"/>
                  <a:pt x="21641" y="13300"/>
                </a:cubicBezTo>
                <a:cubicBezTo>
                  <a:pt x="21646" y="13952"/>
                  <a:pt x="21650" y="14543"/>
                  <a:pt x="21654" y="15080"/>
                </a:cubicBezTo>
                <a:cubicBezTo>
                  <a:pt x="21658" y="15630"/>
                  <a:pt x="21662" y="16160"/>
                  <a:pt x="21662" y="16627"/>
                </a:cubicBezTo>
                <a:cubicBezTo>
                  <a:pt x="21670" y="17567"/>
                  <a:pt x="21683" y="18306"/>
                  <a:pt x="21695" y="18810"/>
                </a:cubicBezTo>
                <a:cubicBezTo>
                  <a:pt x="21711" y="19315"/>
                  <a:pt x="21732" y="19586"/>
                  <a:pt x="21756" y="19594"/>
                </a:cubicBezTo>
                <a:cubicBezTo>
                  <a:pt x="21757" y="19594"/>
                  <a:pt x="21757" y="19594"/>
                  <a:pt x="21758" y="19594"/>
                </a:cubicBezTo>
                <a:cubicBezTo>
                  <a:pt x="21782" y="19594"/>
                  <a:pt x="21806" y="19325"/>
                  <a:pt x="21818" y="18835"/>
                </a:cubicBezTo>
                <a:cubicBezTo>
                  <a:pt x="21834" y="18334"/>
                  <a:pt x="21843" y="17592"/>
                  <a:pt x="21851" y="16644"/>
                </a:cubicBezTo>
                <a:cubicBezTo>
                  <a:pt x="21855" y="16168"/>
                  <a:pt x="21855" y="15659"/>
                  <a:pt x="21859" y="15064"/>
                </a:cubicBezTo>
                <a:cubicBezTo>
                  <a:pt x="21863" y="14457"/>
                  <a:pt x="21859" y="13817"/>
                  <a:pt x="21855" y="13148"/>
                </a:cubicBezTo>
                <a:cubicBezTo>
                  <a:pt x="21851" y="12483"/>
                  <a:pt x="21847" y="11786"/>
                  <a:pt x="21843" y="11096"/>
                </a:cubicBezTo>
                <a:cubicBezTo>
                  <a:pt x="21843" y="10407"/>
                  <a:pt x="21847" y="9656"/>
                  <a:pt x="21851" y="8839"/>
                </a:cubicBezTo>
                <a:cubicBezTo>
                  <a:pt x="21859" y="8035"/>
                  <a:pt x="21859" y="7120"/>
                  <a:pt x="21859" y="6213"/>
                </a:cubicBezTo>
                <a:cubicBezTo>
                  <a:pt x="21859" y="5327"/>
                  <a:pt x="21855" y="4412"/>
                  <a:pt x="21855" y="3468"/>
                </a:cubicBezTo>
                <a:cubicBezTo>
                  <a:pt x="21855" y="2996"/>
                  <a:pt x="21855" y="2516"/>
                  <a:pt x="21855" y="2028"/>
                </a:cubicBezTo>
                <a:cubicBezTo>
                  <a:pt x="21851" y="1527"/>
                  <a:pt x="21851" y="1023"/>
                  <a:pt x="21847" y="522"/>
                </a:cubicBezTo>
                <a:cubicBezTo>
                  <a:pt x="21843" y="350"/>
                  <a:pt x="21843" y="181"/>
                  <a:pt x="21843" y="9"/>
                </a:cubicBezTo>
                <a:lnTo>
                  <a:pt x="20620" y="17"/>
                </a:lnTo>
                <a:lnTo>
                  <a:pt x="19393" y="21"/>
                </a:lnTo>
                <a:lnTo>
                  <a:pt x="16266" y="5"/>
                </a:lnTo>
                <a:cubicBezTo>
                  <a:pt x="15905" y="5"/>
                  <a:pt x="15529" y="3"/>
                  <a:pt x="15148" y="3"/>
                </a:cubicBezTo>
                <a:cubicBezTo>
                  <a:pt x="14957" y="3"/>
                  <a:pt x="14764" y="4"/>
                  <a:pt x="14572" y="5"/>
                </a:cubicBezTo>
                <a:lnTo>
                  <a:pt x="12910" y="21"/>
                </a:lnTo>
                <a:cubicBezTo>
                  <a:pt x="12368" y="30"/>
                  <a:pt x="11843" y="38"/>
                  <a:pt x="11330" y="38"/>
                </a:cubicBezTo>
                <a:lnTo>
                  <a:pt x="9701" y="38"/>
                </a:lnTo>
                <a:lnTo>
                  <a:pt x="6361" y="26"/>
                </a:lnTo>
                <a:lnTo>
                  <a:pt x="321" y="1"/>
                </a:ln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58"/>
          <p:cNvSpPr txBox="1">
            <a:spLocks noGrp="1"/>
          </p:cNvSpPr>
          <p:nvPr>
            <p:ph type="title"/>
          </p:nvPr>
        </p:nvSpPr>
        <p:spPr>
          <a:xfrm>
            <a:off x="2831550" y="2415825"/>
            <a:ext cx="3480900" cy="89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Ficheiros</a:t>
            </a:r>
            <a:endParaRPr/>
          </a:p>
        </p:txBody>
      </p:sp>
      <p:sp>
        <p:nvSpPr>
          <p:cNvPr id="502" name="Google Shape;502;p58"/>
          <p:cNvSpPr txBox="1">
            <a:spLocks noGrp="1"/>
          </p:cNvSpPr>
          <p:nvPr>
            <p:ph type="title" idx="2"/>
          </p:nvPr>
        </p:nvSpPr>
        <p:spPr>
          <a:xfrm>
            <a:off x="4027800" y="1255175"/>
            <a:ext cx="10884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03" name="Google Shape;503;p58"/>
          <p:cNvSpPr txBox="1">
            <a:spLocks noGrp="1"/>
          </p:cNvSpPr>
          <p:nvPr>
            <p:ph type="subTitle" idx="1"/>
          </p:nvPr>
        </p:nvSpPr>
        <p:spPr>
          <a:xfrm>
            <a:off x="3054600" y="3362775"/>
            <a:ext cx="3034800" cy="5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Manipulação de Ficheiros</a:t>
            </a:r>
            <a:endParaRPr/>
          </a:p>
        </p:txBody>
      </p:sp>
      <p:pic>
        <p:nvPicPr>
          <p:cNvPr id="504" name="Google Shape;504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6094691">
            <a:off x="253850" y="1671801"/>
            <a:ext cx="2862025" cy="30260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5" name="Google Shape;505;p58"/>
          <p:cNvGrpSpPr/>
          <p:nvPr/>
        </p:nvGrpSpPr>
        <p:grpSpPr>
          <a:xfrm>
            <a:off x="5947182" y="244645"/>
            <a:ext cx="3037805" cy="2862747"/>
            <a:chOff x="5947182" y="244645"/>
            <a:chExt cx="3037805" cy="2862747"/>
          </a:xfrm>
        </p:grpSpPr>
        <p:pic>
          <p:nvPicPr>
            <p:cNvPr id="506" name="Google Shape;506;p5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3675432">
              <a:off x="5925778" y="769441"/>
              <a:ext cx="1798724" cy="1016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7" name="Google Shape;507;p5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8528202">
              <a:off x="7063752" y="1646192"/>
              <a:ext cx="1798725" cy="1016151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1">
          <a:extLst>
            <a:ext uri="{FF2B5EF4-FFF2-40B4-BE49-F238E27FC236}">
              <a16:creationId xmlns:a16="http://schemas.microsoft.com/office/drawing/2014/main" id="{82108B25-FEB9-0FB2-9E07-D9D6BACA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p66">
            <a:extLst>
              <a:ext uri="{FF2B5EF4-FFF2-40B4-BE49-F238E27FC236}">
                <a16:creationId xmlns:a16="http://schemas.microsoft.com/office/drawing/2014/main" id="{7529103B-F69E-05A0-A7EA-D92668B84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8443" y="237422"/>
            <a:ext cx="7927113" cy="5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Ficheiros - </a:t>
            </a:r>
            <a:r>
              <a:rPr lang="pt-PT"/>
              <a:t>Caracteres Especiais e Sequências de Escape</a:t>
            </a:r>
            <a:endParaRPr/>
          </a:p>
        </p:txBody>
      </p:sp>
      <p:pic>
        <p:nvPicPr>
          <p:cNvPr id="1224" name="Google Shape;1224;p66">
            <a:extLst>
              <a:ext uri="{FF2B5EF4-FFF2-40B4-BE49-F238E27FC236}">
                <a16:creationId xmlns:a16="http://schemas.microsoft.com/office/drawing/2014/main" id="{7D11695D-36C4-750F-BD1A-58F5FE75F430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78647">
            <a:off x="6063581" y="1030062"/>
            <a:ext cx="2426864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8B86D9-2943-1B49-7550-B38F24835086}"/>
              </a:ext>
            </a:extLst>
          </p:cNvPr>
          <p:cNvSpPr txBox="1"/>
          <p:nvPr/>
        </p:nvSpPr>
        <p:spPr>
          <a:xfrm>
            <a:off x="608442" y="914400"/>
            <a:ext cx="54806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>
                <a:latin typeface="Livvic" pitchFamily="2" charset="0"/>
                <a:cs typeface="Arial" panose="020B0604020202020204" pitchFamily="34" charset="0"/>
              </a:rPr>
              <a:t>Quando se escreve uma </a:t>
            </a:r>
            <a:r>
              <a:rPr lang="pt-PT" err="1">
                <a:latin typeface="Livvic" pitchFamily="2" charset="0"/>
                <a:cs typeface="Arial" panose="020B0604020202020204" pitchFamily="34" charset="0"/>
              </a:rPr>
              <a:t>string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 no código, nem todos os caracteres visíveis representam exatamente o que parecem. Algumas sequências iniciadas por uma barra invertida ( </a:t>
            </a:r>
            <a:r>
              <a:rPr lang="pt-PT">
                <a:solidFill>
                  <a:srgbClr val="0070C0"/>
                </a:solidFill>
                <a:latin typeface="Livvic" pitchFamily="2" charset="0"/>
                <a:cs typeface="Arial" panose="020B0604020202020204" pitchFamily="34" charset="0"/>
              </a:rPr>
              <a:t>\ 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) têm significados especiais. Estas são conhecidas como sequências de escape.</a:t>
            </a:r>
          </a:p>
          <a:p>
            <a:r>
              <a:rPr lang="pt-PT">
                <a:latin typeface="Livvic" pitchFamily="2" charset="0"/>
                <a:cs typeface="Arial" panose="020B0604020202020204" pitchFamily="34" charset="0"/>
              </a:rPr>
              <a:t>São úteis para representar caracteres invisíveis, como:</a:t>
            </a:r>
          </a:p>
          <a:p>
            <a:pPr marL="285750" lvl="4" indent="-285750">
              <a:buFont typeface="Arial" panose="020B0604020202020204" pitchFamily="34" charset="0"/>
              <a:buChar char="•"/>
            </a:pPr>
            <a:r>
              <a:rPr lang="pt-PT" b="1">
                <a:latin typeface="Livvic" pitchFamily="2" charset="0"/>
                <a:cs typeface="Arial" panose="020B0604020202020204" pitchFamily="34" charset="0"/>
              </a:rPr>
              <a:t>Quebras de linha</a:t>
            </a:r>
          </a:p>
          <a:p>
            <a:pPr marL="285750" lvl="4" indent="-285750">
              <a:buFont typeface="Arial" panose="020B0604020202020204" pitchFamily="34" charset="0"/>
              <a:buChar char="•"/>
            </a:pPr>
            <a:r>
              <a:rPr lang="pt-PT" b="1">
                <a:latin typeface="Livvic" pitchFamily="2" charset="0"/>
                <a:cs typeface="Arial" panose="020B0604020202020204" pitchFamily="34" charset="0"/>
              </a:rPr>
              <a:t>Tabulações</a:t>
            </a:r>
          </a:p>
          <a:p>
            <a:pPr marL="285750" lvl="4" indent="-285750">
              <a:buFont typeface="Arial" panose="020B0604020202020204" pitchFamily="34" charset="0"/>
              <a:buChar char="•"/>
            </a:pPr>
            <a:r>
              <a:rPr lang="pt-PT">
                <a:latin typeface="Livvic" pitchFamily="2" charset="0"/>
                <a:cs typeface="Arial" panose="020B0604020202020204" pitchFamily="34" charset="0"/>
              </a:rPr>
              <a:t>Ou mesmo para incluir caracteres especiais numa </a:t>
            </a:r>
            <a:r>
              <a:rPr lang="pt-PT" err="1">
                <a:latin typeface="Livvic" pitchFamily="2" charset="0"/>
                <a:cs typeface="Arial" panose="020B0604020202020204" pitchFamily="34" charset="0"/>
              </a:rPr>
              <a:t>string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, como </a:t>
            </a:r>
            <a:r>
              <a:rPr lang="pt-PT" b="1">
                <a:latin typeface="Livvic" pitchFamily="2" charset="0"/>
                <a:cs typeface="Arial" panose="020B0604020202020204" pitchFamily="34" charset="0"/>
              </a:rPr>
              <a:t>aspas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 ou </a:t>
            </a:r>
            <a:r>
              <a:rPr lang="pt-PT" b="1">
                <a:latin typeface="Livvic" pitchFamily="2" charset="0"/>
                <a:cs typeface="Arial" panose="020B0604020202020204" pitchFamily="34" charset="0"/>
              </a:rPr>
              <a:t>barras invertidas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.</a:t>
            </a:r>
            <a:endParaRPr lang="en-US">
              <a:latin typeface="Livvic" pitchFamily="2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5C935F-1F70-9580-2D09-48037CFAB60D}"/>
              </a:ext>
            </a:extLst>
          </p:cNvPr>
          <p:cNvSpPr txBox="1"/>
          <p:nvPr/>
        </p:nvSpPr>
        <p:spPr>
          <a:xfrm>
            <a:off x="608443" y="3350468"/>
            <a:ext cx="7927113" cy="11695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Uma noite destas, vindo da cidade para o Engenho Novo, encontrei no trem da Central um rapaz aqui do bairro, que eu conheço de vista e de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chapéo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.</a:t>
            </a:r>
          </a:p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	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Comprimentou-me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, sentou-se ao pé de mim, falou da lua e dos ministros, e acabou recitando-me versos.</a:t>
            </a:r>
          </a:p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A viagem era curta, e os versos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póde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 ser que não “fossem inteiramente maus”.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A03072-46B8-E30C-D163-8426EA2FC1EE}"/>
              </a:ext>
            </a:extLst>
          </p:cNvPr>
          <p:cNvSpPr txBox="1"/>
          <p:nvPr/>
        </p:nvSpPr>
        <p:spPr>
          <a:xfrm>
            <a:off x="-9107057" y="3363168"/>
            <a:ext cx="7927113" cy="11695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Uma noite destas, vindo da cidade para o Engenho Novo, encontrei no trem da Central um rapaz aqui do bairro, que eu conheço de vista e de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chapéo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.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\n</a:t>
            </a:r>
            <a:endParaRPr lang="pt-PT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Livvic" pitchFamily="2" charset="0"/>
            </a:endParaRPr>
          </a:p>
          <a:p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pt-PT" err="1">
                <a:solidFill>
                  <a:srgbClr val="0070C0"/>
                </a:solidFill>
                <a:latin typeface="Consolas" panose="020B0609020204030204" pitchFamily="49" charset="0"/>
              </a:rPr>
              <a:t>t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Comprimentou-me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, sentou-se ao pé de mim, falou da lua e dos ministros, e acabou recitando-me versos.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\n</a:t>
            </a:r>
            <a:endParaRPr lang="pt-PT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Livvic" pitchFamily="2" charset="0"/>
            </a:endParaRPr>
          </a:p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A viagem era curta, e os versos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póde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 ser que não 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pt-PT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“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fossem inteiramente maus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pt-PT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”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9FCC4-400F-2ACB-5645-D45BD90B0F14}"/>
              </a:ext>
            </a:extLst>
          </p:cNvPr>
          <p:cNvSpPr txBox="1"/>
          <p:nvPr/>
        </p:nvSpPr>
        <p:spPr>
          <a:xfrm>
            <a:off x="4104206" y="2994208"/>
            <a:ext cx="935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ivvic" pitchFamily="2" charset="0"/>
              </a:rPr>
              <a:t>Exemplo</a:t>
            </a:r>
            <a:endPara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Livvic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4192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p66"/>
          <p:cNvSpPr txBox="1">
            <a:spLocks noGrp="1"/>
          </p:cNvSpPr>
          <p:nvPr>
            <p:ph type="title"/>
          </p:nvPr>
        </p:nvSpPr>
        <p:spPr>
          <a:xfrm>
            <a:off x="608443" y="237422"/>
            <a:ext cx="7927113" cy="5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Ficheiros - </a:t>
            </a:r>
            <a:r>
              <a:rPr lang="pt-PT"/>
              <a:t>Caracteres Especiais e Sequências de Escape</a:t>
            </a:r>
            <a:endParaRPr/>
          </a:p>
        </p:txBody>
      </p:sp>
      <p:pic>
        <p:nvPicPr>
          <p:cNvPr id="1224" name="Google Shape;1224;p66"/>
          <p:cNvPicPr preferRelativeResize="0"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78647">
            <a:off x="6063581" y="1030062"/>
            <a:ext cx="2426864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90CB58-4627-0855-9F44-05479019B037}"/>
              </a:ext>
            </a:extLst>
          </p:cNvPr>
          <p:cNvSpPr txBox="1"/>
          <p:nvPr/>
        </p:nvSpPr>
        <p:spPr>
          <a:xfrm>
            <a:off x="608442" y="914400"/>
            <a:ext cx="54806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>
                <a:latin typeface="Livvic" pitchFamily="2" charset="0"/>
                <a:cs typeface="Arial" panose="020B0604020202020204" pitchFamily="34" charset="0"/>
              </a:rPr>
              <a:t>Quando se escreve uma </a:t>
            </a:r>
            <a:r>
              <a:rPr lang="pt-PT" err="1">
                <a:latin typeface="Livvic" pitchFamily="2" charset="0"/>
                <a:cs typeface="Arial" panose="020B0604020202020204" pitchFamily="34" charset="0"/>
              </a:rPr>
              <a:t>string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 no código, nem todos os caracteres visíveis representam exatamente o que parecem. Algumas sequências iniciadas por uma barra invertida ( </a:t>
            </a:r>
            <a:r>
              <a:rPr lang="pt-PT">
                <a:solidFill>
                  <a:srgbClr val="0070C0"/>
                </a:solidFill>
                <a:latin typeface="Livvic" pitchFamily="2" charset="0"/>
                <a:cs typeface="Arial" panose="020B0604020202020204" pitchFamily="34" charset="0"/>
              </a:rPr>
              <a:t>\ 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) têm significados especiais. Estas são conhecidas como sequências de escape.</a:t>
            </a:r>
          </a:p>
          <a:p>
            <a:r>
              <a:rPr lang="pt-PT">
                <a:latin typeface="Livvic" pitchFamily="2" charset="0"/>
                <a:cs typeface="Arial" panose="020B0604020202020204" pitchFamily="34" charset="0"/>
              </a:rPr>
              <a:t>São úteis para representar caracteres invisíveis, como:</a:t>
            </a:r>
          </a:p>
          <a:p>
            <a:pPr marL="285750" lvl="4" indent="-285750">
              <a:buFont typeface="Arial" panose="020B0604020202020204" pitchFamily="34" charset="0"/>
              <a:buChar char="•"/>
            </a:pPr>
            <a:r>
              <a:rPr lang="pt-PT" b="1">
                <a:latin typeface="Livvic" pitchFamily="2" charset="0"/>
                <a:cs typeface="Arial" panose="020B0604020202020204" pitchFamily="34" charset="0"/>
              </a:rPr>
              <a:t>Quebras de linha</a:t>
            </a:r>
          </a:p>
          <a:p>
            <a:pPr marL="285750" lvl="4" indent="-285750">
              <a:buFont typeface="Arial" panose="020B0604020202020204" pitchFamily="34" charset="0"/>
              <a:buChar char="•"/>
            </a:pPr>
            <a:r>
              <a:rPr lang="pt-PT" b="1">
                <a:latin typeface="Livvic" pitchFamily="2" charset="0"/>
                <a:cs typeface="Arial" panose="020B0604020202020204" pitchFamily="34" charset="0"/>
              </a:rPr>
              <a:t>Tabulações</a:t>
            </a:r>
          </a:p>
          <a:p>
            <a:pPr marL="285750" lvl="4" indent="-285750">
              <a:buFont typeface="Arial" panose="020B0604020202020204" pitchFamily="34" charset="0"/>
              <a:buChar char="•"/>
            </a:pPr>
            <a:r>
              <a:rPr lang="pt-PT">
                <a:latin typeface="Livvic" pitchFamily="2" charset="0"/>
                <a:cs typeface="Arial" panose="020B0604020202020204" pitchFamily="34" charset="0"/>
              </a:rPr>
              <a:t>Ou mesmo para incluir caracteres especiais numa </a:t>
            </a:r>
            <a:r>
              <a:rPr lang="pt-PT" err="1">
                <a:latin typeface="Livvic" pitchFamily="2" charset="0"/>
                <a:cs typeface="Arial" panose="020B0604020202020204" pitchFamily="34" charset="0"/>
              </a:rPr>
              <a:t>string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, como </a:t>
            </a:r>
            <a:r>
              <a:rPr lang="pt-PT" b="1">
                <a:latin typeface="Livvic" pitchFamily="2" charset="0"/>
                <a:cs typeface="Arial" panose="020B0604020202020204" pitchFamily="34" charset="0"/>
              </a:rPr>
              <a:t>aspas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 ou </a:t>
            </a:r>
            <a:r>
              <a:rPr lang="pt-PT" b="1">
                <a:latin typeface="Livvic" pitchFamily="2" charset="0"/>
                <a:cs typeface="Arial" panose="020B0604020202020204" pitchFamily="34" charset="0"/>
              </a:rPr>
              <a:t>barras invertidas</a:t>
            </a:r>
            <a:r>
              <a:rPr lang="pt-PT">
                <a:latin typeface="Livvic" pitchFamily="2" charset="0"/>
                <a:cs typeface="Arial" panose="020B0604020202020204" pitchFamily="34" charset="0"/>
              </a:rPr>
              <a:t>.</a:t>
            </a:r>
            <a:endParaRPr lang="en-US">
              <a:latin typeface="Livvic" pitchFamily="2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56C63C-B328-3DE3-1D9C-668BD7AB656A}"/>
              </a:ext>
            </a:extLst>
          </p:cNvPr>
          <p:cNvSpPr txBox="1"/>
          <p:nvPr/>
        </p:nvSpPr>
        <p:spPr>
          <a:xfrm>
            <a:off x="10274965" y="3350468"/>
            <a:ext cx="7927113" cy="11695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Uma noite destas, vindo da cidade para o Engenho Novo, encontrei no trem da Central um rapaz aqui do bairro, que eu conheço de vista e de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chapéo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.</a:t>
            </a:r>
          </a:p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	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Comprimentou-me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, sentou-se ao pé de mim, falou da lua e dos ministros, e acabou recitando-me versos.</a:t>
            </a:r>
          </a:p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A viagem era curta, e os versos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póde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 ser que não “fossem inteiramente maus”.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388732-6DA1-FA32-A8F1-74DCB61C8838}"/>
              </a:ext>
            </a:extLst>
          </p:cNvPr>
          <p:cNvSpPr txBox="1"/>
          <p:nvPr/>
        </p:nvSpPr>
        <p:spPr>
          <a:xfrm>
            <a:off x="608443" y="3350468"/>
            <a:ext cx="7927113" cy="11695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Uma noite destas, vindo da cidade para o Engenho Novo, encontrei no trem da Central um rapaz aqui do bairro, que eu conheço de vista e de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chapéo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.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\n</a:t>
            </a:r>
            <a:endParaRPr lang="pt-PT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Livvic" pitchFamily="2" charset="0"/>
            </a:endParaRPr>
          </a:p>
          <a:p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pt-PT" err="1">
                <a:solidFill>
                  <a:srgbClr val="0070C0"/>
                </a:solidFill>
                <a:latin typeface="Consolas" panose="020B0609020204030204" pitchFamily="49" charset="0"/>
              </a:rPr>
              <a:t>t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Comprimentou-me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, sentou-se ao pé de mim, falou da lua e dos ministros, e acabou recitando-me versos.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\n</a:t>
            </a:r>
            <a:endParaRPr lang="pt-PT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Livvic" pitchFamily="2" charset="0"/>
            </a:endParaRPr>
          </a:p>
          <a:p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A viagem era curta, e os versos </a:t>
            </a:r>
            <a:r>
              <a:rPr lang="pt-PT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póde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 ser que não 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pt-PT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“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fossem inteiramente maus</a:t>
            </a:r>
            <a:r>
              <a:rPr lang="pt-PT" b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pt-PT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”</a:t>
            </a:r>
            <a:r>
              <a:rPr lang="pt-PT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Livvic" pitchFamily="2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16B6BA-6520-8FC8-257B-A53BE2B111BA}"/>
              </a:ext>
            </a:extLst>
          </p:cNvPr>
          <p:cNvSpPr txBox="1"/>
          <p:nvPr/>
        </p:nvSpPr>
        <p:spPr>
          <a:xfrm>
            <a:off x="4104206" y="2994208"/>
            <a:ext cx="935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ivvic" pitchFamily="2" charset="0"/>
              </a:rPr>
              <a:t>Exemplo</a:t>
            </a:r>
            <a:endPara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Livvic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>
          <a:extLst>
            <a:ext uri="{FF2B5EF4-FFF2-40B4-BE49-F238E27FC236}">
              <a16:creationId xmlns:a16="http://schemas.microsoft.com/office/drawing/2014/main" id="{32A0DE8A-8AA4-6F32-ED4B-0E0AB31D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443682C-8A65-8667-CED3-4EEBC7885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995764"/>
              </p:ext>
            </p:extLst>
          </p:nvPr>
        </p:nvGraphicFramePr>
        <p:xfrm>
          <a:off x="1201141" y="871693"/>
          <a:ext cx="6731496" cy="192405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682874">
                  <a:extLst>
                    <a:ext uri="{9D8B030D-6E8A-4147-A177-3AD203B41FA5}">
                      <a16:colId xmlns:a16="http://schemas.microsoft.com/office/drawing/2014/main" val="721165056"/>
                    </a:ext>
                  </a:extLst>
                </a:gridCol>
                <a:gridCol w="1682874">
                  <a:extLst>
                    <a:ext uri="{9D8B030D-6E8A-4147-A177-3AD203B41FA5}">
                      <a16:colId xmlns:a16="http://schemas.microsoft.com/office/drawing/2014/main" val="187777471"/>
                    </a:ext>
                  </a:extLst>
                </a:gridCol>
                <a:gridCol w="1682874">
                  <a:extLst>
                    <a:ext uri="{9D8B030D-6E8A-4147-A177-3AD203B41FA5}">
                      <a16:colId xmlns:a16="http://schemas.microsoft.com/office/drawing/2014/main" val="1453131158"/>
                    </a:ext>
                  </a:extLst>
                </a:gridCol>
                <a:gridCol w="1682874">
                  <a:extLst>
                    <a:ext uri="{9D8B030D-6E8A-4147-A177-3AD203B41FA5}">
                      <a16:colId xmlns:a16="http://schemas.microsoft.com/office/drawing/2014/main" val="21428293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400" b="1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Sequência</a:t>
                      </a:r>
                      <a:endParaRPr lang="pt-PT" sz="1400" b="1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400" b="1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Significado</a:t>
                      </a:r>
                      <a:endParaRPr lang="pt-PT" sz="1400" b="1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400" b="1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Exemplo (</a:t>
                      </a:r>
                      <a:r>
                        <a:rPr lang="pt-PT" sz="1400" b="1" u="none" strike="noStrike" err="1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String</a:t>
                      </a:r>
                      <a:r>
                        <a:rPr lang="pt-PT" sz="1400" b="1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 no código)</a:t>
                      </a:r>
                      <a:endParaRPr lang="pt-PT" sz="1400" b="1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400" b="1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Resultado real na consola</a:t>
                      </a:r>
                      <a:endParaRPr lang="pt-PT" sz="1400" b="1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1543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\n</a:t>
                      </a:r>
                      <a:endParaRPr lang="pt-PT" sz="1200" b="1" i="0" u="none" strike="noStrike">
                        <a:solidFill>
                          <a:srgbClr val="00206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Nova linha (</a:t>
                      </a:r>
                      <a:r>
                        <a:rPr lang="pt-PT" sz="1200" b="0" u="none" strike="noStrike" err="1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newline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)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linha 1</a:t>
                      </a:r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</a:t>
                      </a:r>
                      <a:r>
                        <a:rPr lang="pt-PT" sz="1200" b="1" u="none" strike="noStrike" err="1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n</a:t>
                      </a:r>
                      <a:r>
                        <a:rPr lang="pt-PT" sz="1200" b="0" u="none" strike="noStrike" err="1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linha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 2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linha 1</a:t>
                      </a:r>
                      <a:b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</a:b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Linha 2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91999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\t</a:t>
                      </a:r>
                      <a:endParaRPr lang="pt-PT" sz="1200" b="1" i="0" u="none" strike="noStrike">
                        <a:solidFill>
                          <a:srgbClr val="00206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Tabulação horizontal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palavra1</a:t>
                      </a:r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\t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palavra2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palavra1    palavra2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05955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\\</a:t>
                      </a:r>
                      <a:endParaRPr lang="pt-PT" sz="1200" b="1" i="0" u="none" strike="noStrike">
                        <a:solidFill>
                          <a:srgbClr val="00206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Barra invertida literal (</a:t>
                      </a:r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)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c:</a:t>
                      </a:r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\\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ficheiro</a:t>
                      </a:r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\\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texto.txt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c:\ficheiro\texto.txt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6828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\'</a:t>
                      </a:r>
                      <a:endParaRPr lang="pt-PT" sz="1200" b="1" i="0" u="none" strike="noStrike">
                        <a:solidFill>
                          <a:srgbClr val="00206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Aspa simples literal (')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'É assim: </a:t>
                      </a:r>
                      <a:r>
                        <a:rPr lang="pt-PT" sz="1200" b="0" u="none" strike="noStrike" err="1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it</a:t>
                      </a:r>
                      <a:r>
                        <a:rPr lang="pt-PT" sz="1200" b="1" u="none" strike="noStrike">
                          <a:solidFill>
                            <a:srgbClr val="002060"/>
                          </a:solidFill>
                          <a:effectLst/>
                          <a:latin typeface="Livvic" pitchFamily="2" charset="0"/>
                        </a:rPr>
                        <a:t>\'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s fine'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É assim: </a:t>
                      </a:r>
                      <a:r>
                        <a:rPr lang="pt-PT" sz="1200" b="0" u="none" strike="noStrike" err="1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it's</a:t>
                      </a:r>
                      <a:r>
                        <a:rPr lang="pt-PT" sz="1200" b="0" u="none" strike="noStrike">
                          <a:solidFill>
                            <a:srgbClr val="000000"/>
                          </a:solidFill>
                          <a:effectLst/>
                          <a:latin typeface="Livvic" pitchFamily="2" charset="0"/>
                        </a:rPr>
                        <a:t> fine</a:t>
                      </a:r>
                      <a:endParaRPr lang="pt-PT" sz="1200" b="0" i="0" u="none" strike="noStrike">
                        <a:solidFill>
                          <a:srgbClr val="000000"/>
                        </a:solidFill>
                        <a:effectLst/>
                        <a:latin typeface="Livvic" pitchFamily="2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811776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B01B0DB-9FB2-D12F-509D-79594779530D}"/>
              </a:ext>
            </a:extLst>
          </p:cNvPr>
          <p:cNvSpPr txBox="1"/>
          <p:nvPr/>
        </p:nvSpPr>
        <p:spPr>
          <a:xfrm>
            <a:off x="1003545" y="3159414"/>
            <a:ext cx="33708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 </a:t>
            </a:r>
            <a:r>
              <a:rPr lang="en-US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importante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/>
              <a:t>Em </a:t>
            </a:r>
            <a:r>
              <a:rPr lang="pt-PT" b="1" err="1"/>
              <a:t>strings</a:t>
            </a:r>
            <a:r>
              <a:rPr lang="pt-PT" b="1"/>
              <a:t> normais</a:t>
            </a:r>
            <a:r>
              <a:rPr lang="pt-PT"/>
              <a:t>, a barra invertida é interpretada.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/>
              <a:t>Para evitar isso, pode-se usar </a:t>
            </a:r>
            <a:r>
              <a:rPr lang="pt-PT" err="1"/>
              <a:t>raw</a:t>
            </a:r>
            <a:r>
              <a:rPr lang="pt-PT"/>
              <a:t> </a:t>
            </a:r>
            <a:r>
              <a:rPr lang="pt-PT" err="1"/>
              <a:t>strings</a:t>
            </a:r>
            <a:r>
              <a:rPr lang="pt-PT"/>
              <a:t> com o prefixo </a:t>
            </a:r>
            <a:r>
              <a:rPr lang="pt-PT" b="1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</a:t>
            </a:r>
            <a:r>
              <a:rPr lang="pt-PT"/>
              <a:t>, por exemplo:</a:t>
            </a:r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95EBBD-4A30-2992-E7A2-1332580A37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98" t="21388" r="9805" b="21405"/>
          <a:stretch/>
        </p:blipFill>
        <p:spPr>
          <a:xfrm>
            <a:off x="4769679" y="3235036"/>
            <a:ext cx="3370776" cy="1075027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" name="Google Shape;1222;p66">
            <a:extLst>
              <a:ext uri="{FF2B5EF4-FFF2-40B4-BE49-F238E27FC236}">
                <a16:creationId xmlns:a16="http://schemas.microsoft.com/office/drawing/2014/main" id="{3EF76897-F793-5A04-628D-8D74B216853D}"/>
              </a:ext>
            </a:extLst>
          </p:cNvPr>
          <p:cNvSpPr txBox="1">
            <a:spLocks/>
          </p:cNvSpPr>
          <p:nvPr/>
        </p:nvSpPr>
        <p:spPr>
          <a:xfrm>
            <a:off x="608443" y="237422"/>
            <a:ext cx="7927113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pPr algn="l"/>
            <a:r>
              <a:rPr lang="pt-PT"/>
              <a:t>Ficheiros - Caracteres Especiais e Sequências de Escape</a:t>
            </a:r>
          </a:p>
        </p:txBody>
      </p:sp>
    </p:spTree>
    <p:extLst>
      <p:ext uri="{BB962C8B-B14F-4D97-AF65-F5344CB8AC3E}">
        <p14:creationId xmlns:p14="http://schemas.microsoft.com/office/powerpoint/2010/main" val="2881969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>
          <a:extLst>
            <a:ext uri="{FF2B5EF4-FFF2-40B4-BE49-F238E27FC236}">
              <a16:creationId xmlns:a16="http://schemas.microsoft.com/office/drawing/2014/main" id="{0B693308-E00A-C69B-8E55-B254463DA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60">
            <a:extLst>
              <a:ext uri="{FF2B5EF4-FFF2-40B4-BE49-F238E27FC236}">
                <a16:creationId xmlns:a16="http://schemas.microsoft.com/office/drawing/2014/main" id="{02B3A5E9-159A-50E3-8DDC-643E3E05922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flipH="1">
            <a:off x="6065661" y="1573163"/>
            <a:ext cx="2912082" cy="26968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600"/>
              <a:t>Quando trabalhamos com grandes quantidades de texto, é comum termos de ler, escrever e processar ficheiros de texto.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600"/>
              <a:t>O </a:t>
            </a:r>
            <a:r>
              <a:rPr lang="pt-PT" sz="1600" err="1"/>
              <a:t>Python</a:t>
            </a:r>
            <a:r>
              <a:rPr lang="pt-PT" sz="1600"/>
              <a:t> oferece uma forma simples e intuitiva de interagir com ficheiros através da função </a:t>
            </a:r>
            <a:r>
              <a:rPr lang="pt-PT" sz="1600" b="1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open()</a:t>
            </a:r>
            <a:r>
              <a:rPr lang="pt-PT" sz="1600"/>
              <a:t>.</a:t>
            </a:r>
            <a:endParaRPr sz="1600"/>
          </a:p>
        </p:txBody>
      </p:sp>
      <p:sp>
        <p:nvSpPr>
          <p:cNvPr id="2" name="Google Shape;1222;p66">
            <a:extLst>
              <a:ext uri="{FF2B5EF4-FFF2-40B4-BE49-F238E27FC236}">
                <a16:creationId xmlns:a16="http://schemas.microsoft.com/office/drawing/2014/main" id="{E95D1845-E1F2-D30A-505E-FFD0FA33D732}"/>
              </a:ext>
            </a:extLst>
          </p:cNvPr>
          <p:cNvSpPr txBox="1">
            <a:spLocks/>
          </p:cNvSpPr>
          <p:nvPr/>
        </p:nvSpPr>
        <p:spPr>
          <a:xfrm>
            <a:off x="1904421" y="139838"/>
            <a:ext cx="5335157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pPr algn="l"/>
            <a:r>
              <a:rPr lang="pt-PT"/>
              <a:t>Manipulação de Ficheiros em </a:t>
            </a:r>
            <a:r>
              <a:rPr lang="pt-PT" err="1"/>
              <a:t>Python</a:t>
            </a:r>
            <a:endParaRPr lang="pt-PT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536759-2910-A2FA-C87B-395F0B3840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717561"/>
              </p:ext>
            </p:extLst>
          </p:nvPr>
        </p:nvGraphicFramePr>
        <p:xfrm>
          <a:off x="367145" y="866401"/>
          <a:ext cx="5548746" cy="40792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774373">
                  <a:extLst>
                    <a:ext uri="{9D8B030D-6E8A-4147-A177-3AD203B41FA5}">
                      <a16:colId xmlns:a16="http://schemas.microsoft.com/office/drawing/2014/main" val="2426149826"/>
                    </a:ext>
                  </a:extLst>
                </a:gridCol>
                <a:gridCol w="2774373">
                  <a:extLst>
                    <a:ext uri="{9D8B030D-6E8A-4147-A177-3AD203B41FA5}">
                      <a16:colId xmlns:a16="http://schemas.microsoft.com/office/drawing/2014/main" val="10850126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400" b="1" u="none" strike="noStrike">
                          <a:solidFill>
                            <a:srgbClr val="0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Conceito</a:t>
                      </a:r>
                      <a:endParaRPr lang="pt-PT" sz="1400" b="1" i="0" u="none" strike="noStrike">
                        <a:solidFill>
                          <a:srgbClr val="0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400" b="1" u="none" strike="noStrike">
                          <a:solidFill>
                            <a:srgbClr val="0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Descrição</a:t>
                      </a:r>
                      <a:endParaRPr lang="pt-PT" sz="1400" b="1" i="0" u="none" strike="noStrike">
                        <a:solidFill>
                          <a:srgbClr val="0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592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open('ficheiro.txt')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Abre um ficheiro em modo de leitura (modo por omissão).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80435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open('ficheiro.txt', '</a:t>
                      </a:r>
                      <a:r>
                        <a:rPr lang="pt-PT" sz="1100" b="1" i="0" u="none" strike="noStrike">
                          <a:solidFill>
                            <a:srgbClr val="000000"/>
                          </a:solidFill>
                          <a:effectLst/>
                        </a:rPr>
                        <a:t>w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')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Abre em modo de escrita (apaga conteúdo anterior, se existir).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18427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open('ficheiro.txt', '</a:t>
                      </a:r>
                      <a:r>
                        <a:rPr lang="pt-PT" sz="1100" b="1" i="0" u="none" strike="noStrike">
                          <a:solidFill>
                            <a:srgbClr val="000000"/>
                          </a:solidFill>
                          <a:effectLst/>
                        </a:rPr>
                        <a:t>a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')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Abre em modo de adição (escreve no final do ficheiro).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2070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open('ficheiro.txt', '</a:t>
                      </a:r>
                      <a:r>
                        <a:rPr lang="pt-PT" sz="1100" b="1" i="0" u="none" strike="noStrike">
                          <a:solidFill>
                            <a:srgbClr val="000000"/>
                          </a:solidFill>
                          <a:effectLst/>
                        </a:rPr>
                        <a:t>r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')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Abre explicitamente em modo de leitura.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9441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 err="1">
                          <a:solidFill>
                            <a:srgbClr val="000000"/>
                          </a:solidFill>
                          <a:effectLst/>
                        </a:rPr>
                        <a:t>read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()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Lê todo o conteúdo do ficheiro.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7942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 err="1">
                          <a:solidFill>
                            <a:srgbClr val="000000"/>
                          </a:solidFill>
                          <a:effectLst/>
                        </a:rPr>
                        <a:t>readline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()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Lê uma linha do ficheiro.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06597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 err="1">
                          <a:solidFill>
                            <a:srgbClr val="000000"/>
                          </a:solidFill>
                          <a:effectLst/>
                        </a:rPr>
                        <a:t>readlines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()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Lê todas as linhas e devolve uma lista de </a:t>
                      </a:r>
                      <a:r>
                        <a:rPr lang="pt-PT" sz="1100" b="0" u="none" strike="noStrike" err="1">
                          <a:solidFill>
                            <a:srgbClr val="000000"/>
                          </a:solidFill>
                          <a:effectLst/>
                        </a:rPr>
                        <a:t>strings</a:t>
                      </a:r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0507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 err="1">
                          <a:solidFill>
                            <a:srgbClr val="000000"/>
                          </a:solidFill>
                          <a:effectLst/>
                        </a:rPr>
                        <a:t>write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(texto)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Escreve texto no ficheiro (modo '</a:t>
                      </a:r>
                      <a:r>
                        <a:rPr lang="pt-PT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w</a:t>
                      </a:r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' ou '</a:t>
                      </a:r>
                      <a:r>
                        <a:rPr lang="pt-PT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a</a:t>
                      </a:r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').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38973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 err="1">
                          <a:solidFill>
                            <a:srgbClr val="000000"/>
                          </a:solidFill>
                          <a:effectLst/>
                        </a:rPr>
                        <a:t>close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()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Fecha o ficheiro (liberta recursos).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29711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i="0" u="none" strike="noStrike" err="1">
                          <a:solidFill>
                            <a:srgbClr val="000000"/>
                          </a:solidFill>
                          <a:effectLst/>
                        </a:rPr>
                        <a:t>with</a:t>
                      </a:r>
                      <a:r>
                        <a:rPr lang="pt-PT" sz="1100" b="0" i="0" u="none" strike="noStrike">
                          <a:solidFill>
                            <a:srgbClr val="000000"/>
                          </a:solidFill>
                          <a:effectLst/>
                        </a:rPr>
                        <a:t> open(...) as f: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PT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Forma recomendada: fecha o ficheiro automaticamente após o uso.</a:t>
                      </a:r>
                      <a:endParaRPr lang="pt-PT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47066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69738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>
          <a:extLst>
            <a:ext uri="{FF2B5EF4-FFF2-40B4-BE49-F238E27FC236}">
              <a16:creationId xmlns:a16="http://schemas.microsoft.com/office/drawing/2014/main" id="{9B5FEF12-FE60-0199-7B41-900675D6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72">
            <a:extLst>
              <a:ext uri="{FF2B5EF4-FFF2-40B4-BE49-F238E27FC236}">
                <a16:creationId xmlns:a16="http://schemas.microsoft.com/office/drawing/2014/main" id="{700C0A1E-B197-124A-4A5A-6DDE40F1AF8F}"/>
              </a:ext>
            </a:extLst>
          </p:cNvPr>
          <p:cNvSpPr/>
          <p:nvPr/>
        </p:nvSpPr>
        <p:spPr>
          <a:xfrm>
            <a:off x="2699714" y="865513"/>
            <a:ext cx="1088400" cy="9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6" name="Google Shape;1316;p72">
            <a:extLst>
              <a:ext uri="{FF2B5EF4-FFF2-40B4-BE49-F238E27FC236}">
                <a16:creationId xmlns:a16="http://schemas.microsoft.com/office/drawing/2014/main" id="{B403B327-E37C-009E-FB9D-6168586D35DB}"/>
              </a:ext>
            </a:extLst>
          </p:cNvPr>
          <p:cNvSpPr/>
          <p:nvPr/>
        </p:nvSpPr>
        <p:spPr>
          <a:xfrm>
            <a:off x="2699674" y="865508"/>
            <a:ext cx="1088480" cy="986491"/>
          </a:xfrm>
          <a:custGeom>
            <a:avLst/>
            <a:gdLst/>
            <a:ahLst/>
            <a:cxnLst/>
            <a:rect l="l" t="t" r="r" b="b"/>
            <a:pathLst>
              <a:path w="21868" h="19819" extrusionOk="0">
                <a:moveTo>
                  <a:pt x="103" y="1"/>
                </a:moveTo>
                <a:lnTo>
                  <a:pt x="91" y="2738"/>
                </a:lnTo>
                <a:cubicBezTo>
                  <a:pt x="83" y="3694"/>
                  <a:pt x="71" y="4658"/>
                  <a:pt x="62" y="5643"/>
                </a:cubicBezTo>
                <a:cubicBezTo>
                  <a:pt x="46" y="7641"/>
                  <a:pt x="34" y="9414"/>
                  <a:pt x="17" y="11297"/>
                </a:cubicBezTo>
                <a:cubicBezTo>
                  <a:pt x="17" y="12274"/>
                  <a:pt x="25" y="13172"/>
                  <a:pt x="25" y="13997"/>
                </a:cubicBezTo>
                <a:cubicBezTo>
                  <a:pt x="30" y="14408"/>
                  <a:pt x="30" y="14801"/>
                  <a:pt x="25" y="15175"/>
                </a:cubicBezTo>
                <a:cubicBezTo>
                  <a:pt x="25" y="15593"/>
                  <a:pt x="21" y="16004"/>
                  <a:pt x="21" y="16406"/>
                </a:cubicBezTo>
                <a:cubicBezTo>
                  <a:pt x="13" y="17222"/>
                  <a:pt x="9" y="18006"/>
                  <a:pt x="5" y="18765"/>
                </a:cubicBezTo>
                <a:cubicBezTo>
                  <a:pt x="1" y="19114"/>
                  <a:pt x="1" y="19426"/>
                  <a:pt x="1" y="19705"/>
                </a:cubicBezTo>
                <a:lnTo>
                  <a:pt x="739" y="19717"/>
                </a:lnTo>
                <a:lnTo>
                  <a:pt x="1347" y="19725"/>
                </a:lnTo>
                <a:lnTo>
                  <a:pt x="3349" y="19762"/>
                </a:lnTo>
                <a:cubicBezTo>
                  <a:pt x="4010" y="19771"/>
                  <a:pt x="4724" y="19775"/>
                  <a:pt x="5343" y="19775"/>
                </a:cubicBezTo>
                <a:cubicBezTo>
                  <a:pt x="6578" y="19771"/>
                  <a:pt x="7502" y="19754"/>
                  <a:pt x="8207" y="19754"/>
                </a:cubicBezTo>
                <a:cubicBezTo>
                  <a:pt x="8893" y="19754"/>
                  <a:pt x="9418" y="19762"/>
                  <a:pt x="9812" y="19766"/>
                </a:cubicBezTo>
                <a:cubicBezTo>
                  <a:pt x="10620" y="19779"/>
                  <a:pt x="11465" y="19799"/>
                  <a:pt x="12348" y="19807"/>
                </a:cubicBezTo>
                <a:lnTo>
                  <a:pt x="13016" y="19816"/>
                </a:lnTo>
                <a:lnTo>
                  <a:pt x="14723" y="19816"/>
                </a:lnTo>
                <a:cubicBezTo>
                  <a:pt x="15323" y="19817"/>
                  <a:pt x="15893" y="19818"/>
                  <a:pt x="16430" y="19818"/>
                </a:cubicBezTo>
                <a:cubicBezTo>
                  <a:pt x="17188" y="19818"/>
                  <a:pt x="17881" y="19816"/>
                  <a:pt x="18498" y="19812"/>
                </a:cubicBezTo>
                <a:cubicBezTo>
                  <a:pt x="19553" y="19803"/>
                  <a:pt x="20390" y="19795"/>
                  <a:pt x="20964" y="19779"/>
                </a:cubicBezTo>
                <a:cubicBezTo>
                  <a:pt x="21539" y="19766"/>
                  <a:pt x="21855" y="19750"/>
                  <a:pt x="21859" y="19729"/>
                </a:cubicBezTo>
                <a:cubicBezTo>
                  <a:pt x="21867" y="19709"/>
                  <a:pt x="21564" y="19688"/>
                  <a:pt x="21001" y="19668"/>
                </a:cubicBezTo>
                <a:cubicBezTo>
                  <a:pt x="20439" y="19652"/>
                  <a:pt x="19614" y="19631"/>
                  <a:pt x="18572" y="19615"/>
                </a:cubicBezTo>
                <a:lnTo>
                  <a:pt x="14826" y="19557"/>
                </a:lnTo>
                <a:lnTo>
                  <a:pt x="13718" y="19545"/>
                </a:lnTo>
                <a:lnTo>
                  <a:pt x="13148" y="19537"/>
                </a:lnTo>
                <a:lnTo>
                  <a:pt x="12631" y="19533"/>
                </a:lnTo>
                <a:lnTo>
                  <a:pt x="10185" y="19483"/>
                </a:lnTo>
                <a:cubicBezTo>
                  <a:pt x="9818" y="19480"/>
                  <a:pt x="9238" y="19470"/>
                  <a:pt x="8503" y="19470"/>
                </a:cubicBezTo>
                <a:cubicBezTo>
                  <a:pt x="8384" y="19470"/>
                  <a:pt x="8261" y="19470"/>
                  <a:pt x="8134" y="19471"/>
                </a:cubicBezTo>
                <a:cubicBezTo>
                  <a:pt x="7243" y="19475"/>
                  <a:pt x="6234" y="19491"/>
                  <a:pt x="5216" y="19500"/>
                </a:cubicBezTo>
                <a:cubicBezTo>
                  <a:pt x="5131" y="19500"/>
                  <a:pt x="5045" y="19500"/>
                  <a:pt x="4958" y="19500"/>
                </a:cubicBezTo>
                <a:cubicBezTo>
                  <a:pt x="4041" y="19500"/>
                  <a:pt x="2966" y="19481"/>
                  <a:pt x="1622" y="19463"/>
                </a:cubicBezTo>
                <a:lnTo>
                  <a:pt x="460" y="19450"/>
                </a:lnTo>
                <a:lnTo>
                  <a:pt x="259" y="19450"/>
                </a:lnTo>
                <a:lnTo>
                  <a:pt x="263" y="18790"/>
                </a:lnTo>
                <a:cubicBezTo>
                  <a:pt x="263" y="18018"/>
                  <a:pt x="268" y="17226"/>
                  <a:pt x="272" y="16406"/>
                </a:cubicBezTo>
                <a:cubicBezTo>
                  <a:pt x="272" y="15987"/>
                  <a:pt x="276" y="15569"/>
                  <a:pt x="276" y="15138"/>
                </a:cubicBezTo>
                <a:cubicBezTo>
                  <a:pt x="276" y="14674"/>
                  <a:pt x="272" y="14219"/>
                  <a:pt x="272" y="13772"/>
                </a:cubicBezTo>
                <a:cubicBezTo>
                  <a:pt x="263" y="12877"/>
                  <a:pt x="255" y="12011"/>
                  <a:pt x="255" y="11178"/>
                </a:cubicBezTo>
                <a:cubicBezTo>
                  <a:pt x="259" y="9381"/>
                  <a:pt x="268" y="7510"/>
                  <a:pt x="276" y="5590"/>
                </a:cubicBezTo>
                <a:cubicBezTo>
                  <a:pt x="284" y="4638"/>
                  <a:pt x="288" y="3653"/>
                  <a:pt x="292" y="2631"/>
                </a:cubicBezTo>
                <a:lnTo>
                  <a:pt x="296" y="190"/>
                </a:lnTo>
                <a:lnTo>
                  <a:pt x="493" y="190"/>
                </a:lnTo>
                <a:lnTo>
                  <a:pt x="6554" y="194"/>
                </a:lnTo>
                <a:lnTo>
                  <a:pt x="9898" y="194"/>
                </a:lnTo>
                <a:cubicBezTo>
                  <a:pt x="10267" y="194"/>
                  <a:pt x="10633" y="196"/>
                  <a:pt x="11012" y="196"/>
                </a:cubicBezTo>
                <a:cubicBezTo>
                  <a:pt x="11201" y="196"/>
                  <a:pt x="11394" y="195"/>
                  <a:pt x="11593" y="194"/>
                </a:cubicBezTo>
                <a:lnTo>
                  <a:pt x="13267" y="177"/>
                </a:lnTo>
                <a:cubicBezTo>
                  <a:pt x="13804" y="169"/>
                  <a:pt x="14329" y="165"/>
                  <a:pt x="14838" y="165"/>
                </a:cubicBezTo>
                <a:cubicBezTo>
                  <a:pt x="15004" y="164"/>
                  <a:pt x="15172" y="163"/>
                  <a:pt x="15342" y="163"/>
                </a:cubicBezTo>
                <a:cubicBezTo>
                  <a:pt x="15682" y="163"/>
                  <a:pt x="16030" y="165"/>
                  <a:pt x="16377" y="165"/>
                </a:cubicBezTo>
                <a:cubicBezTo>
                  <a:pt x="17419" y="173"/>
                  <a:pt x="18470" y="186"/>
                  <a:pt x="19532" y="190"/>
                </a:cubicBezTo>
                <a:lnTo>
                  <a:pt x="20722" y="190"/>
                </a:lnTo>
                <a:lnTo>
                  <a:pt x="21670" y="186"/>
                </a:lnTo>
                <a:lnTo>
                  <a:pt x="21670" y="378"/>
                </a:lnTo>
                <a:lnTo>
                  <a:pt x="21670" y="735"/>
                </a:lnTo>
                <a:lnTo>
                  <a:pt x="21670" y="2163"/>
                </a:lnTo>
                <a:cubicBezTo>
                  <a:pt x="21670" y="2643"/>
                  <a:pt x="21670" y="3115"/>
                  <a:pt x="21670" y="3583"/>
                </a:cubicBezTo>
                <a:cubicBezTo>
                  <a:pt x="21666" y="4519"/>
                  <a:pt x="21662" y="5425"/>
                  <a:pt x="21662" y="6299"/>
                </a:cubicBezTo>
                <a:cubicBezTo>
                  <a:pt x="21662" y="7153"/>
                  <a:pt x="21654" y="7961"/>
                  <a:pt x="21646" y="8770"/>
                </a:cubicBezTo>
                <a:cubicBezTo>
                  <a:pt x="21637" y="9578"/>
                  <a:pt x="21629" y="10390"/>
                  <a:pt x="21629" y="11166"/>
                </a:cubicBezTo>
                <a:cubicBezTo>
                  <a:pt x="21633" y="11937"/>
                  <a:pt x="21637" y="12647"/>
                  <a:pt x="21641" y="13300"/>
                </a:cubicBezTo>
                <a:cubicBezTo>
                  <a:pt x="21646" y="13952"/>
                  <a:pt x="21650" y="14543"/>
                  <a:pt x="21654" y="15080"/>
                </a:cubicBezTo>
                <a:cubicBezTo>
                  <a:pt x="21658" y="15630"/>
                  <a:pt x="21662" y="16160"/>
                  <a:pt x="21662" y="16627"/>
                </a:cubicBezTo>
                <a:cubicBezTo>
                  <a:pt x="21670" y="17567"/>
                  <a:pt x="21683" y="18306"/>
                  <a:pt x="21695" y="18810"/>
                </a:cubicBezTo>
                <a:cubicBezTo>
                  <a:pt x="21711" y="19315"/>
                  <a:pt x="21732" y="19586"/>
                  <a:pt x="21756" y="19594"/>
                </a:cubicBezTo>
                <a:cubicBezTo>
                  <a:pt x="21757" y="19594"/>
                  <a:pt x="21757" y="19594"/>
                  <a:pt x="21758" y="19594"/>
                </a:cubicBezTo>
                <a:cubicBezTo>
                  <a:pt x="21782" y="19594"/>
                  <a:pt x="21806" y="19325"/>
                  <a:pt x="21818" y="18835"/>
                </a:cubicBezTo>
                <a:cubicBezTo>
                  <a:pt x="21834" y="18334"/>
                  <a:pt x="21843" y="17592"/>
                  <a:pt x="21851" y="16644"/>
                </a:cubicBezTo>
                <a:cubicBezTo>
                  <a:pt x="21855" y="16168"/>
                  <a:pt x="21855" y="15659"/>
                  <a:pt x="21859" y="15064"/>
                </a:cubicBezTo>
                <a:cubicBezTo>
                  <a:pt x="21863" y="14457"/>
                  <a:pt x="21859" y="13817"/>
                  <a:pt x="21855" y="13148"/>
                </a:cubicBezTo>
                <a:cubicBezTo>
                  <a:pt x="21851" y="12483"/>
                  <a:pt x="21847" y="11786"/>
                  <a:pt x="21843" y="11096"/>
                </a:cubicBezTo>
                <a:cubicBezTo>
                  <a:pt x="21843" y="10407"/>
                  <a:pt x="21847" y="9656"/>
                  <a:pt x="21851" y="8839"/>
                </a:cubicBezTo>
                <a:cubicBezTo>
                  <a:pt x="21859" y="8035"/>
                  <a:pt x="21859" y="7120"/>
                  <a:pt x="21859" y="6213"/>
                </a:cubicBezTo>
                <a:cubicBezTo>
                  <a:pt x="21859" y="5327"/>
                  <a:pt x="21855" y="4412"/>
                  <a:pt x="21855" y="3468"/>
                </a:cubicBezTo>
                <a:cubicBezTo>
                  <a:pt x="21855" y="2996"/>
                  <a:pt x="21855" y="2516"/>
                  <a:pt x="21855" y="2028"/>
                </a:cubicBezTo>
                <a:cubicBezTo>
                  <a:pt x="21851" y="1527"/>
                  <a:pt x="21851" y="1023"/>
                  <a:pt x="21847" y="522"/>
                </a:cubicBezTo>
                <a:cubicBezTo>
                  <a:pt x="21843" y="350"/>
                  <a:pt x="21843" y="181"/>
                  <a:pt x="21843" y="9"/>
                </a:cubicBezTo>
                <a:lnTo>
                  <a:pt x="20620" y="17"/>
                </a:lnTo>
                <a:lnTo>
                  <a:pt x="19393" y="21"/>
                </a:lnTo>
                <a:lnTo>
                  <a:pt x="16266" y="5"/>
                </a:lnTo>
                <a:cubicBezTo>
                  <a:pt x="15905" y="5"/>
                  <a:pt x="15529" y="3"/>
                  <a:pt x="15148" y="3"/>
                </a:cubicBezTo>
                <a:cubicBezTo>
                  <a:pt x="14957" y="3"/>
                  <a:pt x="14764" y="4"/>
                  <a:pt x="14572" y="5"/>
                </a:cubicBezTo>
                <a:lnTo>
                  <a:pt x="12910" y="21"/>
                </a:lnTo>
                <a:cubicBezTo>
                  <a:pt x="12368" y="30"/>
                  <a:pt x="11843" y="38"/>
                  <a:pt x="11330" y="38"/>
                </a:cubicBezTo>
                <a:lnTo>
                  <a:pt x="9701" y="38"/>
                </a:lnTo>
                <a:lnTo>
                  <a:pt x="6361" y="26"/>
                </a:lnTo>
                <a:lnTo>
                  <a:pt x="321" y="1"/>
                </a:ln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7" name="Google Shape;1317;p72">
            <a:extLst>
              <a:ext uri="{FF2B5EF4-FFF2-40B4-BE49-F238E27FC236}">
                <a16:creationId xmlns:a16="http://schemas.microsoft.com/office/drawing/2014/main" id="{897544E9-D1E3-6E11-ABFF-8BC907225A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46339" y="865508"/>
            <a:ext cx="2089852" cy="98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Imports</a:t>
            </a:r>
            <a:endParaRPr/>
          </a:p>
        </p:txBody>
      </p:sp>
      <p:sp>
        <p:nvSpPr>
          <p:cNvPr id="1318" name="Google Shape;1318;p72">
            <a:extLst>
              <a:ext uri="{FF2B5EF4-FFF2-40B4-BE49-F238E27FC236}">
                <a16:creationId xmlns:a16="http://schemas.microsoft.com/office/drawing/2014/main" id="{EEECDDA1-6C5B-BF62-37EA-FA3BE5D8F6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22475" y="2271400"/>
            <a:ext cx="2590500" cy="5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Como importamos módulos em python?</a:t>
            </a:r>
            <a:endParaRPr/>
          </a:p>
        </p:txBody>
      </p:sp>
      <p:sp>
        <p:nvSpPr>
          <p:cNvPr id="1319" name="Google Shape;1319;p72">
            <a:extLst>
              <a:ext uri="{FF2B5EF4-FFF2-40B4-BE49-F238E27FC236}">
                <a16:creationId xmlns:a16="http://schemas.microsoft.com/office/drawing/2014/main" id="{3C9BAF7C-EB0D-7466-8704-F72E924B78C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699714" y="937859"/>
            <a:ext cx="10884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id="1320" name="Google Shape;1320;p72">
            <a:extLst>
              <a:ext uri="{FF2B5EF4-FFF2-40B4-BE49-F238E27FC236}">
                <a16:creationId xmlns:a16="http://schemas.microsoft.com/office/drawing/2014/main" id="{88D39B72-182A-F195-D1B1-EBA175CA480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1238" y="2954725"/>
            <a:ext cx="3597276" cy="1740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4130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>
          <a:extLst>
            <a:ext uri="{FF2B5EF4-FFF2-40B4-BE49-F238E27FC236}">
              <a16:creationId xmlns:a16="http://schemas.microsoft.com/office/drawing/2014/main" id="{F222CB31-3FE2-0AF8-32F7-31FB87A8E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60">
            <a:extLst>
              <a:ext uri="{FF2B5EF4-FFF2-40B4-BE49-F238E27FC236}">
                <a16:creationId xmlns:a16="http://schemas.microsoft.com/office/drawing/2014/main" id="{F9C0A35E-4123-7091-F417-E1F3714BF86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flipH="1">
            <a:off x="460644" y="890629"/>
            <a:ext cx="5719176" cy="40223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 dirty="0"/>
              <a:t>O que são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imports</a:t>
            </a:r>
            <a:r>
              <a:rPr lang="pt-PT" b="1" dirty="0"/>
              <a:t>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Em </a:t>
            </a:r>
            <a:r>
              <a:rPr lang="pt-PT" sz="1600" dirty="0" err="1"/>
              <a:t>Python</a:t>
            </a:r>
            <a:r>
              <a:rPr lang="pt-PT" sz="1600" dirty="0"/>
              <a:t>, o </a:t>
            </a:r>
            <a:r>
              <a:rPr lang="pt-PT" sz="16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</a:t>
            </a:r>
            <a:r>
              <a:rPr lang="pt-PT" sz="16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PT" sz="1600" dirty="0"/>
              <a:t>permite reutilizar código existente em </a:t>
            </a:r>
            <a:r>
              <a:rPr lang="pt-PT" sz="1600" b="1" dirty="0"/>
              <a:t>bibliotecas externas</a:t>
            </a:r>
            <a:r>
              <a:rPr lang="pt-PT" sz="1600" dirty="0"/>
              <a:t> ou </a:t>
            </a:r>
            <a:r>
              <a:rPr lang="pt-PT" sz="1600" b="1" dirty="0"/>
              <a:t>internas</a:t>
            </a:r>
            <a:r>
              <a:rPr lang="pt-PT" sz="1600" dirty="0"/>
              <a:t>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As bibliotecas oferecem </a:t>
            </a:r>
            <a:r>
              <a:rPr lang="pt-PT" sz="1600" b="1" dirty="0"/>
              <a:t>funções</a:t>
            </a:r>
            <a:r>
              <a:rPr lang="pt-PT" sz="1600" dirty="0"/>
              <a:t> e </a:t>
            </a:r>
            <a:r>
              <a:rPr lang="pt-PT" sz="1600" b="1" dirty="0"/>
              <a:t>classes</a:t>
            </a:r>
            <a:r>
              <a:rPr lang="pt-PT" sz="1600" dirty="0"/>
              <a:t> úteis para tarefas específicas: </a:t>
            </a:r>
            <a:r>
              <a:rPr lang="pt-PT" sz="1600" b="1" dirty="0"/>
              <a:t>matemática</a:t>
            </a:r>
            <a:r>
              <a:rPr lang="pt-PT" sz="1600" dirty="0"/>
              <a:t>, </a:t>
            </a:r>
            <a:r>
              <a:rPr lang="pt-PT" sz="1600" b="1" dirty="0"/>
              <a:t>manipulação</a:t>
            </a:r>
            <a:r>
              <a:rPr lang="pt-PT" sz="1600" dirty="0"/>
              <a:t> </a:t>
            </a:r>
            <a:r>
              <a:rPr lang="pt-PT" sz="1600" b="1" dirty="0"/>
              <a:t>de</a:t>
            </a:r>
            <a:r>
              <a:rPr lang="pt-PT" sz="1600" dirty="0"/>
              <a:t> </a:t>
            </a:r>
            <a:r>
              <a:rPr lang="pt-PT" sz="1600" b="1" dirty="0"/>
              <a:t>dados</a:t>
            </a:r>
            <a:r>
              <a:rPr lang="pt-PT" sz="1600" dirty="0"/>
              <a:t>, </a:t>
            </a:r>
            <a:r>
              <a:rPr lang="pt-PT" sz="1600" b="1" dirty="0"/>
              <a:t>visualização</a:t>
            </a:r>
            <a:r>
              <a:rPr lang="pt-PT" sz="1600" dirty="0"/>
              <a:t>, </a:t>
            </a:r>
            <a:r>
              <a:rPr lang="pt-PT" sz="1600" b="1" dirty="0"/>
              <a:t>redes</a:t>
            </a:r>
            <a:r>
              <a:rPr lang="pt-PT" sz="1600" dirty="0"/>
              <a:t>, entre outros.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b="1" dirty="0"/>
              <a:t>Evita</a:t>
            </a:r>
            <a:r>
              <a:rPr lang="pt-PT" sz="1600" dirty="0"/>
              <a:t> </a:t>
            </a:r>
            <a:r>
              <a:rPr lang="pt-PT" sz="1600" b="1" dirty="0"/>
              <a:t>reinventar</a:t>
            </a:r>
            <a:r>
              <a:rPr lang="pt-PT" sz="1600" dirty="0"/>
              <a:t> </a:t>
            </a:r>
            <a:r>
              <a:rPr lang="pt-PT" sz="1600" b="1" dirty="0"/>
              <a:t>a</a:t>
            </a:r>
            <a:r>
              <a:rPr lang="pt-PT" sz="1600" dirty="0"/>
              <a:t> </a:t>
            </a:r>
            <a:r>
              <a:rPr lang="pt-PT" sz="1600" b="1" dirty="0"/>
              <a:t>roda</a:t>
            </a:r>
            <a:r>
              <a:rPr lang="pt-PT" sz="1600" dirty="0"/>
              <a:t> e torna o </a:t>
            </a:r>
            <a:r>
              <a:rPr lang="pt-PT" sz="1600" b="1" dirty="0"/>
              <a:t>código</a:t>
            </a:r>
            <a:r>
              <a:rPr lang="pt-PT" sz="1600" dirty="0"/>
              <a:t> </a:t>
            </a:r>
            <a:r>
              <a:rPr lang="pt-PT" sz="1600" b="1" dirty="0"/>
              <a:t>mais</a:t>
            </a:r>
            <a:r>
              <a:rPr lang="pt-PT" sz="1600" dirty="0"/>
              <a:t> </a:t>
            </a:r>
            <a:r>
              <a:rPr lang="pt-PT" sz="1600" b="1" dirty="0"/>
              <a:t>limpo</a:t>
            </a:r>
            <a:r>
              <a:rPr lang="pt-PT" sz="1600" dirty="0"/>
              <a:t> e </a:t>
            </a:r>
            <a:r>
              <a:rPr lang="pt-PT" sz="1600" b="1" dirty="0"/>
              <a:t>eficiente</a:t>
            </a:r>
            <a:r>
              <a:rPr lang="pt-PT" sz="1600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 dirty="0"/>
              <a:t>Porque usar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</a:t>
            </a:r>
            <a:r>
              <a:rPr lang="pt-PT" b="1" dirty="0"/>
              <a:t>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Para </a:t>
            </a:r>
            <a:r>
              <a:rPr lang="pt-PT" sz="1600" b="1" dirty="0"/>
              <a:t>aceder</a:t>
            </a:r>
            <a:r>
              <a:rPr lang="pt-PT" sz="1600" dirty="0"/>
              <a:t> </a:t>
            </a:r>
            <a:r>
              <a:rPr lang="pt-PT" sz="1600" b="1" dirty="0"/>
              <a:t>a</a:t>
            </a:r>
            <a:r>
              <a:rPr lang="pt-PT" sz="1600" dirty="0"/>
              <a:t> </a:t>
            </a:r>
            <a:r>
              <a:rPr lang="pt-PT" sz="1600" b="1" dirty="0"/>
              <a:t>funcionalidades</a:t>
            </a:r>
            <a:r>
              <a:rPr lang="pt-PT" sz="1600" dirty="0"/>
              <a:t> que não estão disponíveis por omissão.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Para </a:t>
            </a:r>
            <a:r>
              <a:rPr lang="pt-PT" sz="1600" b="1" dirty="0"/>
              <a:t>organizar</a:t>
            </a:r>
            <a:r>
              <a:rPr lang="pt-PT" sz="1600" dirty="0"/>
              <a:t> </a:t>
            </a:r>
            <a:r>
              <a:rPr lang="pt-PT" sz="1600" b="1" dirty="0"/>
              <a:t>o</a:t>
            </a:r>
            <a:r>
              <a:rPr lang="pt-PT" sz="1600" dirty="0"/>
              <a:t> </a:t>
            </a:r>
            <a:r>
              <a:rPr lang="pt-PT" sz="1600" b="1" dirty="0"/>
              <a:t>código</a:t>
            </a:r>
            <a:r>
              <a:rPr lang="pt-PT" sz="1600" dirty="0"/>
              <a:t> de forma </a:t>
            </a:r>
            <a:r>
              <a:rPr lang="pt-PT" sz="1600" b="1" dirty="0"/>
              <a:t>modular</a:t>
            </a:r>
            <a:r>
              <a:rPr lang="pt-PT" sz="1600" dirty="0"/>
              <a:t>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Para usar </a:t>
            </a:r>
            <a:r>
              <a:rPr lang="pt-PT" sz="1600" b="1" dirty="0"/>
              <a:t>bibliotecas</a:t>
            </a:r>
            <a:r>
              <a:rPr lang="pt-PT" sz="1600" dirty="0"/>
              <a:t> </a:t>
            </a:r>
            <a:r>
              <a:rPr lang="pt-PT" sz="1600" b="1" dirty="0"/>
              <a:t>externas</a:t>
            </a:r>
            <a:r>
              <a:rPr lang="pt-PT" sz="1600" dirty="0"/>
              <a:t> como o </a:t>
            </a:r>
            <a:r>
              <a:rPr lang="pt-PT" sz="1600" b="1" dirty="0"/>
              <a:t>pandas</a:t>
            </a:r>
            <a:r>
              <a:rPr lang="pt-PT" sz="1600" dirty="0"/>
              <a:t>, </a:t>
            </a:r>
            <a:r>
              <a:rPr lang="pt-PT" sz="1600" b="1" dirty="0" err="1"/>
              <a:t>matplotlib</a:t>
            </a:r>
            <a:r>
              <a:rPr lang="pt-PT" sz="1600" dirty="0"/>
              <a:t>, </a:t>
            </a:r>
            <a:r>
              <a:rPr lang="pt-PT" sz="1600" b="1" dirty="0" err="1"/>
              <a:t>requests</a:t>
            </a:r>
            <a:r>
              <a:rPr lang="pt-PT" sz="1600" dirty="0"/>
              <a:t>, etc.</a:t>
            </a:r>
            <a:endParaRPr sz="1600" dirty="0"/>
          </a:p>
        </p:txBody>
      </p:sp>
      <p:sp>
        <p:nvSpPr>
          <p:cNvPr id="698" name="Google Shape;698;p60">
            <a:extLst>
              <a:ext uri="{FF2B5EF4-FFF2-40B4-BE49-F238E27FC236}">
                <a16:creationId xmlns:a16="http://schemas.microsoft.com/office/drawing/2014/main" id="{66C71A19-E7F1-F5BE-975E-9E1C4A76ED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05349" y="230504"/>
            <a:ext cx="4997658" cy="5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 dirty="0"/>
              <a:t>O que são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imports</a:t>
            </a:r>
            <a:r>
              <a:rPr lang="pt-PT" b="1" dirty="0"/>
              <a:t> em </a:t>
            </a:r>
            <a:r>
              <a:rPr lang="pt-PT" b="1" dirty="0" err="1"/>
              <a:t>Python</a:t>
            </a:r>
            <a:endParaRPr b="1" dirty="0"/>
          </a:p>
        </p:txBody>
      </p:sp>
      <p:pic>
        <p:nvPicPr>
          <p:cNvPr id="2052" name="Picture 4" descr="Python is slow, so why we're using it for Data Science? - Data Science  Hacker">
            <a:extLst>
              <a:ext uri="{FF2B5EF4-FFF2-40B4-BE49-F238E27FC236}">
                <a16:creationId xmlns:a16="http://schemas.microsoft.com/office/drawing/2014/main" id="{CB29E397-ED70-98EB-1C9F-1B8C6FF1FD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29" r="1299" b="1444"/>
          <a:stretch/>
        </p:blipFill>
        <p:spPr bwMode="auto">
          <a:xfrm>
            <a:off x="6627083" y="1883904"/>
            <a:ext cx="2040320" cy="2035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698;p60">
            <a:extLst>
              <a:ext uri="{FF2B5EF4-FFF2-40B4-BE49-F238E27FC236}">
                <a16:creationId xmlns:a16="http://schemas.microsoft.com/office/drawing/2014/main" id="{47EABDBA-037D-D478-CCB4-97D7B74DCB14}"/>
              </a:ext>
            </a:extLst>
          </p:cNvPr>
          <p:cNvSpPr txBox="1">
            <a:spLocks/>
          </p:cNvSpPr>
          <p:nvPr/>
        </p:nvSpPr>
        <p:spPr>
          <a:xfrm>
            <a:off x="-9567294" y="177164"/>
            <a:ext cx="4997658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r>
              <a:rPr lang="pt-PT" b="1"/>
              <a:t>Como fazer </a:t>
            </a:r>
            <a:r>
              <a:rPr lang="pt-PT" b="1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 </a:t>
            </a:r>
            <a:r>
              <a:rPr lang="pt-PT"/>
              <a:t>e exemplos úteis</a:t>
            </a:r>
            <a:endParaRPr lang="pt-PT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A50A1F-3F65-7EEE-F550-318D0884E3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06" t="19220" r="5643" b="19363"/>
          <a:stretch/>
        </p:blipFill>
        <p:spPr>
          <a:xfrm>
            <a:off x="-10840725" y="1120330"/>
            <a:ext cx="7544520" cy="1527148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31269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>
          <a:extLst>
            <a:ext uri="{FF2B5EF4-FFF2-40B4-BE49-F238E27FC236}">
              <a16:creationId xmlns:a16="http://schemas.microsoft.com/office/drawing/2014/main" id="{69D10F53-9DC9-CC24-7EC2-9EF626FC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60">
            <a:extLst>
              <a:ext uri="{FF2B5EF4-FFF2-40B4-BE49-F238E27FC236}">
                <a16:creationId xmlns:a16="http://schemas.microsoft.com/office/drawing/2014/main" id="{84121744-BBB5-8397-EDBA-DD1167D770D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flipH="1">
            <a:off x="10562595" y="890629"/>
            <a:ext cx="5719176" cy="40223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 dirty="0"/>
              <a:t>O que são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imports</a:t>
            </a:r>
            <a:r>
              <a:rPr lang="pt-PT" b="1" dirty="0"/>
              <a:t>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Em </a:t>
            </a:r>
            <a:r>
              <a:rPr lang="pt-PT" sz="1600" dirty="0" err="1"/>
              <a:t>Python</a:t>
            </a:r>
            <a:r>
              <a:rPr lang="pt-PT" sz="1600" dirty="0"/>
              <a:t>, o </a:t>
            </a:r>
            <a:r>
              <a:rPr lang="pt-PT" sz="16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</a:t>
            </a:r>
            <a:r>
              <a:rPr lang="pt-PT" sz="16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PT" sz="1600" dirty="0"/>
              <a:t>permite reutilizar código existente em </a:t>
            </a:r>
            <a:r>
              <a:rPr lang="pt-PT" sz="1600" b="1" dirty="0"/>
              <a:t>bibliotecas externas</a:t>
            </a:r>
            <a:r>
              <a:rPr lang="pt-PT" sz="1600" dirty="0"/>
              <a:t> ou </a:t>
            </a:r>
            <a:r>
              <a:rPr lang="pt-PT" sz="1600" b="1" dirty="0"/>
              <a:t>internas</a:t>
            </a:r>
            <a:r>
              <a:rPr lang="pt-PT" sz="1600" dirty="0"/>
              <a:t>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As bibliotecas oferecem </a:t>
            </a:r>
            <a:r>
              <a:rPr lang="pt-PT" sz="1600" b="1" dirty="0"/>
              <a:t>funções</a:t>
            </a:r>
            <a:r>
              <a:rPr lang="pt-PT" sz="1600" dirty="0"/>
              <a:t> e </a:t>
            </a:r>
            <a:r>
              <a:rPr lang="pt-PT" sz="1600" b="1" dirty="0"/>
              <a:t>classes</a:t>
            </a:r>
            <a:r>
              <a:rPr lang="pt-PT" sz="1600" dirty="0"/>
              <a:t> úteis para tarefas específicas: </a:t>
            </a:r>
            <a:r>
              <a:rPr lang="pt-PT" sz="1600" b="1" dirty="0"/>
              <a:t>matemática</a:t>
            </a:r>
            <a:r>
              <a:rPr lang="pt-PT" sz="1600" dirty="0"/>
              <a:t>, </a:t>
            </a:r>
            <a:r>
              <a:rPr lang="pt-PT" sz="1600" b="1" dirty="0"/>
              <a:t>manipulação</a:t>
            </a:r>
            <a:r>
              <a:rPr lang="pt-PT" sz="1600" dirty="0"/>
              <a:t> </a:t>
            </a:r>
            <a:r>
              <a:rPr lang="pt-PT" sz="1600" b="1" dirty="0"/>
              <a:t>de</a:t>
            </a:r>
            <a:r>
              <a:rPr lang="pt-PT" sz="1600" dirty="0"/>
              <a:t> </a:t>
            </a:r>
            <a:r>
              <a:rPr lang="pt-PT" sz="1600" b="1" dirty="0"/>
              <a:t>dados</a:t>
            </a:r>
            <a:r>
              <a:rPr lang="pt-PT" sz="1600" dirty="0"/>
              <a:t>, </a:t>
            </a:r>
            <a:r>
              <a:rPr lang="pt-PT" sz="1600" b="1" dirty="0"/>
              <a:t>visualização</a:t>
            </a:r>
            <a:r>
              <a:rPr lang="pt-PT" sz="1600" dirty="0"/>
              <a:t>, </a:t>
            </a:r>
            <a:r>
              <a:rPr lang="pt-PT" sz="1600" b="1" dirty="0"/>
              <a:t>redes</a:t>
            </a:r>
            <a:r>
              <a:rPr lang="pt-PT" sz="1600" dirty="0"/>
              <a:t>, entre outros.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b="1" dirty="0"/>
              <a:t>Evita</a:t>
            </a:r>
            <a:r>
              <a:rPr lang="pt-PT" sz="1600" dirty="0"/>
              <a:t> </a:t>
            </a:r>
            <a:r>
              <a:rPr lang="pt-PT" sz="1600" b="1" dirty="0"/>
              <a:t>reinventar</a:t>
            </a:r>
            <a:r>
              <a:rPr lang="pt-PT" sz="1600" dirty="0"/>
              <a:t> </a:t>
            </a:r>
            <a:r>
              <a:rPr lang="pt-PT" sz="1600" b="1" dirty="0"/>
              <a:t>a</a:t>
            </a:r>
            <a:r>
              <a:rPr lang="pt-PT" sz="1600" dirty="0"/>
              <a:t> </a:t>
            </a:r>
            <a:r>
              <a:rPr lang="pt-PT" sz="1600" b="1" dirty="0"/>
              <a:t>roda</a:t>
            </a:r>
            <a:r>
              <a:rPr lang="pt-PT" sz="1600" dirty="0"/>
              <a:t> e torna o </a:t>
            </a:r>
            <a:r>
              <a:rPr lang="pt-PT" sz="1600" b="1" dirty="0"/>
              <a:t>código</a:t>
            </a:r>
            <a:r>
              <a:rPr lang="pt-PT" sz="1600" dirty="0"/>
              <a:t> </a:t>
            </a:r>
            <a:r>
              <a:rPr lang="pt-PT" sz="1600" b="1" dirty="0"/>
              <a:t>mais</a:t>
            </a:r>
            <a:r>
              <a:rPr lang="pt-PT" sz="1600" dirty="0"/>
              <a:t> </a:t>
            </a:r>
            <a:r>
              <a:rPr lang="pt-PT" sz="1600" b="1" dirty="0"/>
              <a:t>limpo</a:t>
            </a:r>
            <a:r>
              <a:rPr lang="pt-PT" sz="1600" dirty="0"/>
              <a:t> e </a:t>
            </a:r>
            <a:r>
              <a:rPr lang="pt-PT" sz="1600" b="1" dirty="0"/>
              <a:t>eficiente</a:t>
            </a:r>
            <a:r>
              <a:rPr lang="pt-PT" sz="1600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 dirty="0"/>
              <a:t>Porque usar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</a:t>
            </a:r>
            <a:r>
              <a:rPr lang="pt-PT" b="1" dirty="0"/>
              <a:t>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Para </a:t>
            </a:r>
            <a:r>
              <a:rPr lang="pt-PT" sz="1600" b="1" dirty="0"/>
              <a:t>aceder</a:t>
            </a:r>
            <a:r>
              <a:rPr lang="pt-PT" sz="1600" dirty="0"/>
              <a:t> </a:t>
            </a:r>
            <a:r>
              <a:rPr lang="pt-PT" sz="1600" b="1" dirty="0"/>
              <a:t>a</a:t>
            </a:r>
            <a:r>
              <a:rPr lang="pt-PT" sz="1600" dirty="0"/>
              <a:t> </a:t>
            </a:r>
            <a:r>
              <a:rPr lang="pt-PT" sz="1600" b="1" dirty="0"/>
              <a:t>funcionalidades</a:t>
            </a:r>
            <a:r>
              <a:rPr lang="pt-PT" sz="1600" dirty="0"/>
              <a:t> que não estão disponíveis por omissão.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Para </a:t>
            </a:r>
            <a:r>
              <a:rPr lang="pt-PT" sz="1600" b="1" dirty="0"/>
              <a:t>organizar</a:t>
            </a:r>
            <a:r>
              <a:rPr lang="pt-PT" sz="1600" dirty="0"/>
              <a:t> </a:t>
            </a:r>
            <a:r>
              <a:rPr lang="pt-PT" sz="1600" b="1" dirty="0"/>
              <a:t>o</a:t>
            </a:r>
            <a:r>
              <a:rPr lang="pt-PT" sz="1600" dirty="0"/>
              <a:t> </a:t>
            </a:r>
            <a:r>
              <a:rPr lang="pt-PT" sz="1600" b="1" dirty="0"/>
              <a:t>código</a:t>
            </a:r>
            <a:r>
              <a:rPr lang="pt-PT" sz="1600" dirty="0"/>
              <a:t> de forma </a:t>
            </a:r>
            <a:r>
              <a:rPr lang="pt-PT" sz="1600" b="1" dirty="0"/>
              <a:t>modular</a:t>
            </a:r>
            <a:r>
              <a:rPr lang="pt-PT" sz="1600" dirty="0"/>
              <a:t>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PT" sz="1600" dirty="0"/>
              <a:t>Para usar </a:t>
            </a:r>
            <a:r>
              <a:rPr lang="pt-PT" sz="1600" b="1" dirty="0"/>
              <a:t>bibliotecas</a:t>
            </a:r>
            <a:r>
              <a:rPr lang="pt-PT" sz="1600" dirty="0"/>
              <a:t> </a:t>
            </a:r>
            <a:r>
              <a:rPr lang="pt-PT" sz="1600" b="1" dirty="0"/>
              <a:t>externas</a:t>
            </a:r>
            <a:r>
              <a:rPr lang="pt-PT" sz="1600" dirty="0"/>
              <a:t> como o </a:t>
            </a:r>
            <a:r>
              <a:rPr lang="pt-PT" sz="1600" b="1" dirty="0"/>
              <a:t>pandas</a:t>
            </a:r>
            <a:r>
              <a:rPr lang="pt-PT" sz="1600" dirty="0"/>
              <a:t>, </a:t>
            </a:r>
            <a:r>
              <a:rPr lang="pt-PT" sz="1600" b="1" dirty="0" err="1"/>
              <a:t>matplotlib</a:t>
            </a:r>
            <a:r>
              <a:rPr lang="pt-PT" sz="1600" dirty="0"/>
              <a:t>, </a:t>
            </a:r>
            <a:r>
              <a:rPr lang="pt-PT" sz="1600" b="1" dirty="0" err="1"/>
              <a:t>requests</a:t>
            </a:r>
            <a:r>
              <a:rPr lang="pt-PT" sz="1600" dirty="0"/>
              <a:t>, etc.</a:t>
            </a:r>
            <a:endParaRPr sz="1600" dirty="0"/>
          </a:p>
        </p:txBody>
      </p:sp>
      <p:sp>
        <p:nvSpPr>
          <p:cNvPr id="698" name="Google Shape;698;p60">
            <a:extLst>
              <a:ext uri="{FF2B5EF4-FFF2-40B4-BE49-F238E27FC236}">
                <a16:creationId xmlns:a16="http://schemas.microsoft.com/office/drawing/2014/main" id="{BE55BE9A-FCD3-7D0C-5068-FA830412D8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007300" y="230504"/>
            <a:ext cx="4997658" cy="5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b="1" dirty="0"/>
              <a:t>O que são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imports</a:t>
            </a:r>
            <a:r>
              <a:rPr lang="pt-PT" b="1" dirty="0"/>
              <a:t> em </a:t>
            </a:r>
            <a:r>
              <a:rPr lang="pt-PT" b="1" dirty="0" err="1"/>
              <a:t>Python</a:t>
            </a:r>
            <a:endParaRPr b="1" dirty="0"/>
          </a:p>
        </p:txBody>
      </p:sp>
      <p:pic>
        <p:nvPicPr>
          <p:cNvPr id="2052" name="Picture 4" descr="Python is slow, so why we're using it for Data Science? - Data Science  Hacker">
            <a:extLst>
              <a:ext uri="{FF2B5EF4-FFF2-40B4-BE49-F238E27FC236}">
                <a16:creationId xmlns:a16="http://schemas.microsoft.com/office/drawing/2014/main" id="{3C558843-A79C-F8FB-2C39-704E11A222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29" r="1299" b="1444"/>
          <a:stretch/>
        </p:blipFill>
        <p:spPr bwMode="auto">
          <a:xfrm>
            <a:off x="16729034" y="1883904"/>
            <a:ext cx="2040320" cy="2035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698;p60">
            <a:extLst>
              <a:ext uri="{FF2B5EF4-FFF2-40B4-BE49-F238E27FC236}">
                <a16:creationId xmlns:a16="http://schemas.microsoft.com/office/drawing/2014/main" id="{85D35E13-9F0E-B9B3-A513-1090F90137C4}"/>
              </a:ext>
            </a:extLst>
          </p:cNvPr>
          <p:cNvSpPr txBox="1">
            <a:spLocks/>
          </p:cNvSpPr>
          <p:nvPr/>
        </p:nvSpPr>
        <p:spPr>
          <a:xfrm>
            <a:off x="2073171" y="177164"/>
            <a:ext cx="4997658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r>
              <a:rPr lang="pt-PT" b="1" dirty="0"/>
              <a:t>Como fazer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</a:t>
            </a:r>
            <a:r>
              <a:rPr lang="pt-PT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PT" dirty="0"/>
              <a:t>e exemplos úteis</a:t>
            </a:r>
            <a:endParaRPr lang="pt-PT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0E833E-3E23-03E8-0BDB-72DAFA658B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06" t="19220" r="5643" b="19363"/>
          <a:stretch/>
        </p:blipFill>
        <p:spPr>
          <a:xfrm>
            <a:off x="799740" y="1120330"/>
            <a:ext cx="7544520" cy="1527148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098" name="Picture 2" descr="Python ImportError | Understanding the Functions of ImportError in Python">
            <a:extLst>
              <a:ext uri="{FF2B5EF4-FFF2-40B4-BE49-F238E27FC236}">
                <a16:creationId xmlns:a16="http://schemas.microsoft.com/office/drawing/2014/main" id="{AF7FE2B8-67AD-86A2-6F12-AE65268466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" t="2148"/>
          <a:stretch/>
        </p:blipFill>
        <p:spPr bwMode="auto">
          <a:xfrm>
            <a:off x="1589381" y="3156148"/>
            <a:ext cx="5965238" cy="152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xclamation - Free icons">
            <a:extLst>
              <a:ext uri="{FF2B5EF4-FFF2-40B4-BE49-F238E27FC236}">
                <a16:creationId xmlns:a16="http://schemas.microsoft.com/office/drawing/2014/main" id="{B27DED2A-7903-C485-7A9F-6BF81884D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3120" y="3028630"/>
            <a:ext cx="459201" cy="459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6202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>
          <a:extLst>
            <a:ext uri="{FF2B5EF4-FFF2-40B4-BE49-F238E27FC236}">
              <a16:creationId xmlns:a16="http://schemas.microsoft.com/office/drawing/2014/main" id="{AE607F1B-C5AD-9A40-09C7-03A04B28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98;p60">
            <a:extLst>
              <a:ext uri="{FF2B5EF4-FFF2-40B4-BE49-F238E27FC236}">
                <a16:creationId xmlns:a16="http://schemas.microsoft.com/office/drawing/2014/main" id="{52EFCE7E-D261-DADB-A156-37F9C2610424}"/>
              </a:ext>
            </a:extLst>
          </p:cNvPr>
          <p:cNvSpPr txBox="1">
            <a:spLocks/>
          </p:cNvSpPr>
          <p:nvPr/>
        </p:nvSpPr>
        <p:spPr>
          <a:xfrm>
            <a:off x="2073171" y="-5029836"/>
            <a:ext cx="4997658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r>
              <a:rPr lang="pt-PT" b="1" dirty="0"/>
              <a:t>Como fazer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</a:t>
            </a:r>
            <a:r>
              <a:rPr lang="pt-PT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PT" dirty="0"/>
              <a:t>e exemplos úteis</a:t>
            </a:r>
            <a:endParaRPr lang="pt-PT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8D1B0E-AD37-394F-BE91-1AA92A8AD3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06" t="19220" r="5643" b="19363"/>
          <a:stretch/>
        </p:blipFill>
        <p:spPr>
          <a:xfrm>
            <a:off x="799740" y="-4086670"/>
            <a:ext cx="7544520" cy="1527148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098" name="Picture 2" descr="Python ImportError | Understanding the Functions of ImportError in Python">
            <a:extLst>
              <a:ext uri="{FF2B5EF4-FFF2-40B4-BE49-F238E27FC236}">
                <a16:creationId xmlns:a16="http://schemas.microsoft.com/office/drawing/2014/main" id="{2397BC3E-869E-3A34-C2AC-2C247F25BD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" t="2148"/>
          <a:stretch/>
        </p:blipFill>
        <p:spPr bwMode="auto">
          <a:xfrm>
            <a:off x="1589381" y="-2050852"/>
            <a:ext cx="5965238" cy="152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xclamation - Free icons">
            <a:extLst>
              <a:ext uri="{FF2B5EF4-FFF2-40B4-BE49-F238E27FC236}">
                <a16:creationId xmlns:a16="http://schemas.microsoft.com/office/drawing/2014/main" id="{411766E1-EAC4-64A2-01DE-37A606A4A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3120" y="-2178370"/>
            <a:ext cx="459201" cy="459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698;p60">
            <a:extLst>
              <a:ext uri="{FF2B5EF4-FFF2-40B4-BE49-F238E27FC236}">
                <a16:creationId xmlns:a16="http://schemas.microsoft.com/office/drawing/2014/main" id="{B7BED2C6-3F37-E1E8-290A-CD04FC6CA81B}"/>
              </a:ext>
            </a:extLst>
          </p:cNvPr>
          <p:cNvSpPr txBox="1">
            <a:spLocks/>
          </p:cNvSpPr>
          <p:nvPr/>
        </p:nvSpPr>
        <p:spPr>
          <a:xfrm>
            <a:off x="1283377" y="189864"/>
            <a:ext cx="6577245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edressed"/>
                <a:ea typeface="Redressed"/>
                <a:cs typeface="Redressed"/>
                <a:sym typeface="Redress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ressed"/>
              <a:buNone/>
              <a:defRPr sz="3000" b="0" i="0" u="none" strike="noStrike" cap="non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>
            <a:r>
              <a:rPr lang="pt-PT" b="1" dirty="0"/>
              <a:t>O que é o </a:t>
            </a:r>
            <a:r>
              <a:rPr lang="pt-PT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pip</a:t>
            </a:r>
            <a:r>
              <a:rPr lang="pt-PT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PT" b="1" dirty="0"/>
              <a:t>? - Instalar bibliotecas externas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24CB63-3F14-20FE-F535-FD2BF2A6BCE5}"/>
              </a:ext>
            </a:extLst>
          </p:cNvPr>
          <p:cNvSpPr txBox="1"/>
          <p:nvPr/>
        </p:nvSpPr>
        <p:spPr>
          <a:xfrm>
            <a:off x="1017269" y="862108"/>
            <a:ext cx="71094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latin typeface="Livvic" pitchFamily="2" charset="0"/>
              </a:rPr>
              <a:t>Algumas bibliotecas </a:t>
            </a:r>
            <a:r>
              <a:rPr lang="pt-PT" b="1" dirty="0">
                <a:latin typeface="Livvic" pitchFamily="2" charset="0"/>
              </a:rPr>
              <a:t>não vêm instaladas por omissão </a:t>
            </a:r>
            <a:r>
              <a:rPr lang="pt-PT" dirty="0">
                <a:latin typeface="Livvic" pitchFamily="2" charset="0"/>
              </a:rPr>
              <a:t>no </a:t>
            </a:r>
            <a:r>
              <a:rPr lang="pt-PT" dirty="0" err="1">
                <a:latin typeface="Livvic" pitchFamily="2" charset="0"/>
              </a:rPr>
              <a:t>Python</a:t>
            </a:r>
            <a:r>
              <a:rPr lang="pt-PT" dirty="0">
                <a:latin typeface="Livvic" pitchFamily="2" charset="0"/>
              </a:rPr>
              <a:t>.</a:t>
            </a:r>
          </a:p>
          <a:p>
            <a:r>
              <a:rPr lang="pt-PT" dirty="0">
                <a:latin typeface="Livvic" pitchFamily="2" charset="0"/>
              </a:rPr>
              <a:t>Para usá-las, é necessário </a:t>
            </a:r>
            <a:r>
              <a:rPr lang="pt-PT" b="1" dirty="0">
                <a:latin typeface="Livvic" pitchFamily="2" charset="0"/>
              </a:rPr>
              <a:t>fazer download </a:t>
            </a:r>
            <a:r>
              <a:rPr lang="pt-PT" dirty="0">
                <a:latin typeface="Livvic" pitchFamily="2" charset="0"/>
              </a:rPr>
              <a:t>com o </a:t>
            </a:r>
            <a:r>
              <a:rPr lang="pt-PT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ivvic" pitchFamily="2" charset="0"/>
              </a:rPr>
              <a:t>pip</a:t>
            </a:r>
            <a:r>
              <a:rPr lang="pt-PT" dirty="0">
                <a:latin typeface="Livvic" pitchFamily="2" charset="0"/>
              </a:rPr>
              <a:t>, o gestor de pacotes do </a:t>
            </a:r>
            <a:r>
              <a:rPr lang="pt-PT" dirty="0" err="1">
                <a:latin typeface="Livvic" pitchFamily="2" charset="0"/>
              </a:rPr>
              <a:t>Python</a:t>
            </a:r>
            <a:r>
              <a:rPr lang="pt-PT" dirty="0">
                <a:latin typeface="Livvic" pitchFamily="2" charset="0"/>
              </a:rPr>
              <a:t>.</a:t>
            </a:r>
            <a:endParaRPr lang="en-US" dirty="0">
              <a:latin typeface="Livvic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52BDE5-53E1-9F68-B36B-AD0FE656E4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1426" b="74877"/>
          <a:stretch/>
        </p:blipFill>
        <p:spPr>
          <a:xfrm>
            <a:off x="557395" y="4145151"/>
            <a:ext cx="8029209" cy="704499"/>
          </a:xfrm>
          <a:prstGeom prst="round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E1FD477-3605-73CA-E50D-1C7A0397A7E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477" t="24091" r="13478" b="24033"/>
          <a:stretch/>
        </p:blipFill>
        <p:spPr>
          <a:xfrm>
            <a:off x="1017269" y="2001469"/>
            <a:ext cx="2861572" cy="1140562"/>
          </a:xfrm>
          <a:prstGeom prst="round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F54B0CB-A78F-B3B1-01F6-4456409C9FBE}"/>
              </a:ext>
            </a:extLst>
          </p:cNvPr>
          <p:cNvSpPr txBox="1"/>
          <p:nvPr/>
        </p:nvSpPr>
        <p:spPr>
          <a:xfrm>
            <a:off x="4266064" y="1648420"/>
            <a:ext cx="432054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>
                <a:latin typeface="Livvic" pitchFamily="2" charset="0"/>
              </a:rPr>
              <a:t>O que faz o ponto de exclamação</a:t>
            </a:r>
            <a:r>
              <a:rPr lang="pt-PT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ivvic" pitchFamily="2" charset="0"/>
              </a:rPr>
              <a:t> ! </a:t>
            </a:r>
            <a:r>
              <a:rPr lang="pt-PT" b="1" dirty="0">
                <a:latin typeface="Livvic" pitchFamily="2" charset="0"/>
              </a:rPr>
              <a:t>num bloco de </a:t>
            </a:r>
            <a:r>
              <a:rPr lang="pt-PT" b="1" dirty="0" err="1">
                <a:latin typeface="Livvic" pitchFamily="2" charset="0"/>
              </a:rPr>
              <a:t>Python</a:t>
            </a:r>
            <a:r>
              <a:rPr lang="pt-PT" b="1" dirty="0">
                <a:latin typeface="Livvic" pitchFamily="2" charset="0"/>
              </a:rPr>
              <a:t> (em </a:t>
            </a:r>
            <a:r>
              <a:rPr lang="pt-PT" b="1" dirty="0" err="1">
                <a:latin typeface="Livvic" pitchFamily="2" charset="0"/>
              </a:rPr>
              <a:t>notebooks</a:t>
            </a:r>
            <a:r>
              <a:rPr lang="pt-PT" b="1" dirty="0">
                <a:latin typeface="Livvic" pitchFamily="2" charset="0"/>
              </a:rPr>
              <a:t>)</a:t>
            </a:r>
          </a:p>
          <a:p>
            <a:pPr algn="ctr"/>
            <a:endParaRPr lang="pt-PT" dirty="0">
              <a:latin typeface="Livvic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>
                <a:latin typeface="Livvic" pitchFamily="2" charset="0"/>
              </a:rPr>
              <a:t>Permite executar comandos do sistema operativo diretamente num bloco de código.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>
                <a:latin typeface="Livvic" pitchFamily="2" charset="0"/>
              </a:rPr>
              <a:t>Muito usado em ambientes interativos como </a:t>
            </a:r>
            <a:r>
              <a:rPr lang="pt-PT" sz="1200" dirty="0" err="1">
                <a:latin typeface="Livvic" pitchFamily="2" charset="0"/>
              </a:rPr>
              <a:t>Jupyter</a:t>
            </a:r>
            <a:r>
              <a:rPr lang="pt-PT" sz="1200" dirty="0">
                <a:latin typeface="Livvic" pitchFamily="2" charset="0"/>
              </a:rPr>
              <a:t> Notebook e Google </a:t>
            </a:r>
            <a:r>
              <a:rPr lang="pt-PT" sz="1200" dirty="0" err="1">
                <a:latin typeface="Livvic" pitchFamily="2" charset="0"/>
              </a:rPr>
              <a:t>Colab</a:t>
            </a:r>
            <a:r>
              <a:rPr lang="pt-PT" sz="1200" dirty="0">
                <a:latin typeface="Livvic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>
                <a:latin typeface="Livvic" pitchFamily="2" charset="0"/>
              </a:rPr>
              <a:t>Útil para instalar pacotes, listar ficheiros, correr scripts, etc.</a:t>
            </a:r>
            <a:endParaRPr lang="en-US" sz="1200" dirty="0">
              <a:latin typeface="Livvic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9220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6" name="Google Shape;2986;p86"/>
          <p:cNvSpPr/>
          <p:nvPr/>
        </p:nvSpPr>
        <p:spPr>
          <a:xfrm>
            <a:off x="3903400" y="1152329"/>
            <a:ext cx="1088400" cy="9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7" name="Google Shape;2987;p86"/>
          <p:cNvSpPr/>
          <p:nvPr/>
        </p:nvSpPr>
        <p:spPr>
          <a:xfrm>
            <a:off x="3897085" y="1152274"/>
            <a:ext cx="1088480" cy="986491"/>
          </a:xfrm>
          <a:custGeom>
            <a:avLst/>
            <a:gdLst/>
            <a:ahLst/>
            <a:cxnLst/>
            <a:rect l="l" t="t" r="r" b="b"/>
            <a:pathLst>
              <a:path w="21868" h="19819" extrusionOk="0">
                <a:moveTo>
                  <a:pt x="103" y="1"/>
                </a:moveTo>
                <a:lnTo>
                  <a:pt x="91" y="2738"/>
                </a:lnTo>
                <a:cubicBezTo>
                  <a:pt x="83" y="3694"/>
                  <a:pt x="71" y="4658"/>
                  <a:pt x="62" y="5643"/>
                </a:cubicBezTo>
                <a:cubicBezTo>
                  <a:pt x="46" y="7641"/>
                  <a:pt x="34" y="9414"/>
                  <a:pt x="17" y="11297"/>
                </a:cubicBezTo>
                <a:cubicBezTo>
                  <a:pt x="17" y="12274"/>
                  <a:pt x="25" y="13172"/>
                  <a:pt x="25" y="13997"/>
                </a:cubicBezTo>
                <a:cubicBezTo>
                  <a:pt x="30" y="14408"/>
                  <a:pt x="30" y="14801"/>
                  <a:pt x="25" y="15175"/>
                </a:cubicBezTo>
                <a:cubicBezTo>
                  <a:pt x="25" y="15593"/>
                  <a:pt x="21" y="16004"/>
                  <a:pt x="21" y="16406"/>
                </a:cubicBezTo>
                <a:cubicBezTo>
                  <a:pt x="13" y="17222"/>
                  <a:pt x="9" y="18006"/>
                  <a:pt x="5" y="18765"/>
                </a:cubicBezTo>
                <a:cubicBezTo>
                  <a:pt x="1" y="19114"/>
                  <a:pt x="1" y="19426"/>
                  <a:pt x="1" y="19705"/>
                </a:cubicBezTo>
                <a:lnTo>
                  <a:pt x="739" y="19717"/>
                </a:lnTo>
                <a:lnTo>
                  <a:pt x="1347" y="19725"/>
                </a:lnTo>
                <a:lnTo>
                  <a:pt x="3349" y="19762"/>
                </a:lnTo>
                <a:cubicBezTo>
                  <a:pt x="4010" y="19771"/>
                  <a:pt x="4724" y="19775"/>
                  <a:pt x="5343" y="19775"/>
                </a:cubicBezTo>
                <a:cubicBezTo>
                  <a:pt x="6578" y="19771"/>
                  <a:pt x="7502" y="19754"/>
                  <a:pt x="8207" y="19754"/>
                </a:cubicBezTo>
                <a:cubicBezTo>
                  <a:pt x="8893" y="19754"/>
                  <a:pt x="9418" y="19762"/>
                  <a:pt x="9812" y="19766"/>
                </a:cubicBezTo>
                <a:cubicBezTo>
                  <a:pt x="10620" y="19779"/>
                  <a:pt x="11465" y="19799"/>
                  <a:pt x="12348" y="19807"/>
                </a:cubicBezTo>
                <a:lnTo>
                  <a:pt x="13016" y="19816"/>
                </a:lnTo>
                <a:lnTo>
                  <a:pt x="14723" y="19816"/>
                </a:lnTo>
                <a:cubicBezTo>
                  <a:pt x="15323" y="19817"/>
                  <a:pt x="15893" y="19818"/>
                  <a:pt x="16430" y="19818"/>
                </a:cubicBezTo>
                <a:cubicBezTo>
                  <a:pt x="17188" y="19818"/>
                  <a:pt x="17881" y="19816"/>
                  <a:pt x="18498" y="19812"/>
                </a:cubicBezTo>
                <a:cubicBezTo>
                  <a:pt x="19553" y="19803"/>
                  <a:pt x="20390" y="19795"/>
                  <a:pt x="20964" y="19779"/>
                </a:cubicBezTo>
                <a:cubicBezTo>
                  <a:pt x="21539" y="19766"/>
                  <a:pt x="21855" y="19750"/>
                  <a:pt x="21859" y="19729"/>
                </a:cubicBezTo>
                <a:cubicBezTo>
                  <a:pt x="21867" y="19709"/>
                  <a:pt x="21564" y="19688"/>
                  <a:pt x="21001" y="19668"/>
                </a:cubicBezTo>
                <a:cubicBezTo>
                  <a:pt x="20439" y="19652"/>
                  <a:pt x="19614" y="19631"/>
                  <a:pt x="18572" y="19615"/>
                </a:cubicBezTo>
                <a:lnTo>
                  <a:pt x="14826" y="19557"/>
                </a:lnTo>
                <a:lnTo>
                  <a:pt x="13718" y="19545"/>
                </a:lnTo>
                <a:lnTo>
                  <a:pt x="13148" y="19537"/>
                </a:lnTo>
                <a:lnTo>
                  <a:pt x="12631" y="19533"/>
                </a:lnTo>
                <a:lnTo>
                  <a:pt x="10185" y="19483"/>
                </a:lnTo>
                <a:cubicBezTo>
                  <a:pt x="9818" y="19480"/>
                  <a:pt x="9238" y="19470"/>
                  <a:pt x="8503" y="19470"/>
                </a:cubicBezTo>
                <a:cubicBezTo>
                  <a:pt x="8384" y="19470"/>
                  <a:pt x="8261" y="19470"/>
                  <a:pt x="8134" y="19471"/>
                </a:cubicBezTo>
                <a:cubicBezTo>
                  <a:pt x="7243" y="19475"/>
                  <a:pt x="6234" y="19491"/>
                  <a:pt x="5216" y="19500"/>
                </a:cubicBezTo>
                <a:cubicBezTo>
                  <a:pt x="5131" y="19500"/>
                  <a:pt x="5045" y="19500"/>
                  <a:pt x="4958" y="19500"/>
                </a:cubicBezTo>
                <a:cubicBezTo>
                  <a:pt x="4041" y="19500"/>
                  <a:pt x="2966" y="19481"/>
                  <a:pt x="1622" y="19463"/>
                </a:cubicBezTo>
                <a:lnTo>
                  <a:pt x="460" y="19450"/>
                </a:lnTo>
                <a:lnTo>
                  <a:pt x="259" y="19450"/>
                </a:lnTo>
                <a:lnTo>
                  <a:pt x="263" y="18790"/>
                </a:lnTo>
                <a:cubicBezTo>
                  <a:pt x="263" y="18018"/>
                  <a:pt x="268" y="17226"/>
                  <a:pt x="272" y="16406"/>
                </a:cubicBezTo>
                <a:cubicBezTo>
                  <a:pt x="272" y="15987"/>
                  <a:pt x="276" y="15569"/>
                  <a:pt x="276" y="15138"/>
                </a:cubicBezTo>
                <a:cubicBezTo>
                  <a:pt x="276" y="14674"/>
                  <a:pt x="272" y="14219"/>
                  <a:pt x="272" y="13772"/>
                </a:cubicBezTo>
                <a:cubicBezTo>
                  <a:pt x="263" y="12877"/>
                  <a:pt x="255" y="12011"/>
                  <a:pt x="255" y="11178"/>
                </a:cubicBezTo>
                <a:cubicBezTo>
                  <a:pt x="259" y="9381"/>
                  <a:pt x="268" y="7510"/>
                  <a:pt x="276" y="5590"/>
                </a:cubicBezTo>
                <a:cubicBezTo>
                  <a:pt x="284" y="4638"/>
                  <a:pt x="288" y="3653"/>
                  <a:pt x="292" y="2631"/>
                </a:cubicBezTo>
                <a:lnTo>
                  <a:pt x="296" y="190"/>
                </a:lnTo>
                <a:lnTo>
                  <a:pt x="493" y="190"/>
                </a:lnTo>
                <a:lnTo>
                  <a:pt x="6554" y="194"/>
                </a:lnTo>
                <a:lnTo>
                  <a:pt x="9898" y="194"/>
                </a:lnTo>
                <a:cubicBezTo>
                  <a:pt x="10267" y="194"/>
                  <a:pt x="10633" y="196"/>
                  <a:pt x="11012" y="196"/>
                </a:cubicBezTo>
                <a:cubicBezTo>
                  <a:pt x="11201" y="196"/>
                  <a:pt x="11394" y="195"/>
                  <a:pt x="11593" y="194"/>
                </a:cubicBezTo>
                <a:lnTo>
                  <a:pt x="13267" y="177"/>
                </a:lnTo>
                <a:cubicBezTo>
                  <a:pt x="13804" y="169"/>
                  <a:pt x="14329" y="165"/>
                  <a:pt x="14838" y="165"/>
                </a:cubicBezTo>
                <a:cubicBezTo>
                  <a:pt x="15004" y="164"/>
                  <a:pt x="15172" y="163"/>
                  <a:pt x="15342" y="163"/>
                </a:cubicBezTo>
                <a:cubicBezTo>
                  <a:pt x="15682" y="163"/>
                  <a:pt x="16030" y="165"/>
                  <a:pt x="16377" y="165"/>
                </a:cubicBezTo>
                <a:cubicBezTo>
                  <a:pt x="17419" y="173"/>
                  <a:pt x="18470" y="186"/>
                  <a:pt x="19532" y="190"/>
                </a:cubicBezTo>
                <a:lnTo>
                  <a:pt x="20722" y="190"/>
                </a:lnTo>
                <a:lnTo>
                  <a:pt x="21670" y="186"/>
                </a:lnTo>
                <a:lnTo>
                  <a:pt x="21670" y="378"/>
                </a:lnTo>
                <a:lnTo>
                  <a:pt x="21670" y="735"/>
                </a:lnTo>
                <a:lnTo>
                  <a:pt x="21670" y="2163"/>
                </a:lnTo>
                <a:cubicBezTo>
                  <a:pt x="21670" y="2643"/>
                  <a:pt x="21670" y="3115"/>
                  <a:pt x="21670" y="3583"/>
                </a:cubicBezTo>
                <a:cubicBezTo>
                  <a:pt x="21666" y="4519"/>
                  <a:pt x="21662" y="5425"/>
                  <a:pt x="21662" y="6299"/>
                </a:cubicBezTo>
                <a:cubicBezTo>
                  <a:pt x="21662" y="7153"/>
                  <a:pt x="21654" y="7961"/>
                  <a:pt x="21646" y="8770"/>
                </a:cubicBezTo>
                <a:cubicBezTo>
                  <a:pt x="21637" y="9578"/>
                  <a:pt x="21629" y="10390"/>
                  <a:pt x="21629" y="11166"/>
                </a:cubicBezTo>
                <a:cubicBezTo>
                  <a:pt x="21633" y="11937"/>
                  <a:pt x="21637" y="12647"/>
                  <a:pt x="21641" y="13300"/>
                </a:cubicBezTo>
                <a:cubicBezTo>
                  <a:pt x="21646" y="13952"/>
                  <a:pt x="21650" y="14543"/>
                  <a:pt x="21654" y="15080"/>
                </a:cubicBezTo>
                <a:cubicBezTo>
                  <a:pt x="21658" y="15630"/>
                  <a:pt x="21662" y="16160"/>
                  <a:pt x="21662" y="16627"/>
                </a:cubicBezTo>
                <a:cubicBezTo>
                  <a:pt x="21670" y="17567"/>
                  <a:pt x="21683" y="18306"/>
                  <a:pt x="21695" y="18810"/>
                </a:cubicBezTo>
                <a:cubicBezTo>
                  <a:pt x="21711" y="19315"/>
                  <a:pt x="21732" y="19586"/>
                  <a:pt x="21756" y="19594"/>
                </a:cubicBezTo>
                <a:cubicBezTo>
                  <a:pt x="21757" y="19594"/>
                  <a:pt x="21757" y="19594"/>
                  <a:pt x="21758" y="19594"/>
                </a:cubicBezTo>
                <a:cubicBezTo>
                  <a:pt x="21782" y="19594"/>
                  <a:pt x="21806" y="19325"/>
                  <a:pt x="21818" y="18835"/>
                </a:cubicBezTo>
                <a:cubicBezTo>
                  <a:pt x="21834" y="18334"/>
                  <a:pt x="21843" y="17592"/>
                  <a:pt x="21851" y="16644"/>
                </a:cubicBezTo>
                <a:cubicBezTo>
                  <a:pt x="21855" y="16168"/>
                  <a:pt x="21855" y="15659"/>
                  <a:pt x="21859" y="15064"/>
                </a:cubicBezTo>
                <a:cubicBezTo>
                  <a:pt x="21863" y="14457"/>
                  <a:pt x="21859" y="13817"/>
                  <a:pt x="21855" y="13148"/>
                </a:cubicBezTo>
                <a:cubicBezTo>
                  <a:pt x="21851" y="12483"/>
                  <a:pt x="21847" y="11786"/>
                  <a:pt x="21843" y="11096"/>
                </a:cubicBezTo>
                <a:cubicBezTo>
                  <a:pt x="21843" y="10407"/>
                  <a:pt x="21847" y="9656"/>
                  <a:pt x="21851" y="8839"/>
                </a:cubicBezTo>
                <a:cubicBezTo>
                  <a:pt x="21859" y="8035"/>
                  <a:pt x="21859" y="7120"/>
                  <a:pt x="21859" y="6213"/>
                </a:cubicBezTo>
                <a:cubicBezTo>
                  <a:pt x="21859" y="5327"/>
                  <a:pt x="21855" y="4412"/>
                  <a:pt x="21855" y="3468"/>
                </a:cubicBezTo>
                <a:cubicBezTo>
                  <a:pt x="21855" y="2996"/>
                  <a:pt x="21855" y="2516"/>
                  <a:pt x="21855" y="2028"/>
                </a:cubicBezTo>
                <a:cubicBezTo>
                  <a:pt x="21851" y="1527"/>
                  <a:pt x="21851" y="1023"/>
                  <a:pt x="21847" y="522"/>
                </a:cubicBezTo>
                <a:cubicBezTo>
                  <a:pt x="21843" y="350"/>
                  <a:pt x="21843" y="181"/>
                  <a:pt x="21843" y="9"/>
                </a:cubicBezTo>
                <a:lnTo>
                  <a:pt x="20620" y="17"/>
                </a:lnTo>
                <a:lnTo>
                  <a:pt x="19393" y="21"/>
                </a:lnTo>
                <a:lnTo>
                  <a:pt x="16266" y="5"/>
                </a:lnTo>
                <a:cubicBezTo>
                  <a:pt x="15905" y="5"/>
                  <a:pt x="15529" y="3"/>
                  <a:pt x="15148" y="3"/>
                </a:cubicBezTo>
                <a:cubicBezTo>
                  <a:pt x="14957" y="3"/>
                  <a:pt x="14764" y="4"/>
                  <a:pt x="14572" y="5"/>
                </a:cubicBezTo>
                <a:lnTo>
                  <a:pt x="12910" y="21"/>
                </a:lnTo>
                <a:cubicBezTo>
                  <a:pt x="12368" y="30"/>
                  <a:pt x="11843" y="38"/>
                  <a:pt x="11330" y="38"/>
                </a:cubicBezTo>
                <a:lnTo>
                  <a:pt x="9701" y="38"/>
                </a:lnTo>
                <a:lnTo>
                  <a:pt x="6361" y="26"/>
                </a:lnTo>
                <a:lnTo>
                  <a:pt x="321" y="1"/>
                </a:ln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8" name="Google Shape;2988;p86"/>
          <p:cNvSpPr txBox="1">
            <a:spLocks noGrp="1"/>
          </p:cNvSpPr>
          <p:nvPr>
            <p:ph type="title"/>
          </p:nvPr>
        </p:nvSpPr>
        <p:spPr>
          <a:xfrm>
            <a:off x="515480" y="2439975"/>
            <a:ext cx="446992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Visualização de Dados</a:t>
            </a:r>
            <a:endParaRPr sz="4000" dirty="0"/>
          </a:p>
        </p:txBody>
      </p:sp>
      <p:sp>
        <p:nvSpPr>
          <p:cNvPr id="2989" name="Google Shape;2989;p86"/>
          <p:cNvSpPr txBox="1">
            <a:spLocks noGrp="1"/>
          </p:cNvSpPr>
          <p:nvPr>
            <p:ph type="subTitle" idx="1"/>
          </p:nvPr>
        </p:nvSpPr>
        <p:spPr>
          <a:xfrm>
            <a:off x="1950725" y="3393325"/>
            <a:ext cx="3034800" cy="59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Visualização de Dados com </a:t>
            </a:r>
            <a:r>
              <a:rPr lang="pt-PT" dirty="0" err="1"/>
              <a:t>Python</a:t>
            </a:r>
            <a:r>
              <a:rPr lang="pt-PT" dirty="0"/>
              <a:t>: </a:t>
            </a:r>
            <a:r>
              <a:rPr lang="pt-PT" dirty="0" err="1"/>
              <a:t>Matplotlib</a:t>
            </a:r>
            <a:r>
              <a:rPr lang="pt-PT" dirty="0"/>
              <a:t> e </a:t>
            </a:r>
            <a:r>
              <a:rPr lang="pt-PT" dirty="0" err="1"/>
              <a:t>Seaborn</a:t>
            </a:r>
            <a:endParaRPr dirty="0"/>
          </a:p>
        </p:txBody>
      </p:sp>
      <p:sp>
        <p:nvSpPr>
          <p:cNvPr id="2990" name="Google Shape;2990;p86"/>
          <p:cNvSpPr txBox="1">
            <a:spLocks noGrp="1"/>
          </p:cNvSpPr>
          <p:nvPr>
            <p:ph type="title" idx="2"/>
          </p:nvPr>
        </p:nvSpPr>
        <p:spPr>
          <a:xfrm>
            <a:off x="3897125" y="1224675"/>
            <a:ext cx="10884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id="2991" name="Google Shape;2991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7836" y="860625"/>
            <a:ext cx="3550684" cy="3257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9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Data Visualization - Insights with Matplotlib - Learn by Insight...">
            <a:extLst>
              <a:ext uri="{FF2B5EF4-FFF2-40B4-BE49-F238E27FC236}">
                <a16:creationId xmlns:a16="http://schemas.microsoft.com/office/drawing/2014/main" id="{513CC425-AE17-638C-3C1A-2A94DAF33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687" y="1016422"/>
            <a:ext cx="2730644" cy="655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2988;p86">
            <a:extLst>
              <a:ext uri="{FF2B5EF4-FFF2-40B4-BE49-F238E27FC236}">
                <a16:creationId xmlns:a16="http://schemas.microsoft.com/office/drawing/2014/main" id="{AA7B7446-A967-5442-66E5-FBC770CA9303}"/>
              </a:ext>
            </a:extLst>
          </p:cNvPr>
          <p:cNvSpPr txBox="1">
            <a:spLocks/>
          </p:cNvSpPr>
          <p:nvPr/>
        </p:nvSpPr>
        <p:spPr>
          <a:xfrm>
            <a:off x="2337040" y="70847"/>
            <a:ext cx="446992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800" b="0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pt-PT" sz="4000" dirty="0">
                <a:latin typeface="Redressed" panose="020B0604020202020204" charset="0"/>
              </a:rPr>
              <a:t>Visualização de Dados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89BBB54-43C1-0A4F-93DA-C49D9AC5D3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4670" y="1016577"/>
            <a:ext cx="2284579" cy="6552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177426-78F3-D680-91FA-36DAB9F01CD5}"/>
              </a:ext>
            </a:extLst>
          </p:cNvPr>
          <p:cNvCxnSpPr/>
          <p:nvPr/>
        </p:nvCxnSpPr>
        <p:spPr>
          <a:xfrm>
            <a:off x="4572001" y="1143000"/>
            <a:ext cx="0" cy="3207327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46076CD-55DF-C8DF-A1C2-3DF34586876A}"/>
              </a:ext>
            </a:extLst>
          </p:cNvPr>
          <p:cNvSpPr txBox="1"/>
          <p:nvPr/>
        </p:nvSpPr>
        <p:spPr>
          <a:xfrm>
            <a:off x="449358" y="1731000"/>
            <a:ext cx="37753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 err="1">
                <a:latin typeface="Livvic" pitchFamily="2" charset="0"/>
              </a:rPr>
              <a:t>Matplotlib</a:t>
            </a:r>
            <a:r>
              <a:rPr lang="pt-PT" dirty="0">
                <a:latin typeface="Livvic" pitchFamily="2" charset="0"/>
              </a:rPr>
              <a:t> é a biblioteca base para </a:t>
            </a:r>
            <a:r>
              <a:rPr lang="pt-PT" b="1" dirty="0">
                <a:latin typeface="Livvic" pitchFamily="2" charset="0"/>
              </a:rPr>
              <a:t>visualização</a:t>
            </a:r>
            <a:r>
              <a:rPr lang="pt-PT" dirty="0">
                <a:latin typeface="Livvic" pitchFamily="2" charset="0"/>
              </a:rPr>
              <a:t> em </a:t>
            </a:r>
            <a:r>
              <a:rPr lang="pt-PT" b="1" dirty="0" err="1">
                <a:latin typeface="Livvic" pitchFamily="2" charset="0"/>
              </a:rPr>
              <a:t>Python</a:t>
            </a:r>
            <a:r>
              <a:rPr lang="pt-PT" dirty="0">
                <a:latin typeface="Livvic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Muito </a:t>
            </a:r>
            <a:r>
              <a:rPr lang="pt-PT" b="1" dirty="0">
                <a:latin typeface="Livvic" pitchFamily="2" charset="0"/>
              </a:rPr>
              <a:t>flexível</a:t>
            </a:r>
            <a:r>
              <a:rPr lang="pt-PT" dirty="0">
                <a:latin typeface="Livvic" pitchFamily="2" charset="0"/>
              </a:rPr>
              <a:t> e </a:t>
            </a:r>
            <a:r>
              <a:rPr lang="pt-PT" b="1" dirty="0">
                <a:latin typeface="Livvic" pitchFamily="2" charset="0"/>
              </a:rPr>
              <a:t>personalizável</a:t>
            </a:r>
            <a:r>
              <a:rPr lang="pt-PT" dirty="0">
                <a:latin typeface="Livvic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Permite criar praticamente qualquer tipo de gráfico.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Requer mais linhas de código para configurações avançadas.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Ideal para gráficos altamente </a:t>
            </a:r>
            <a:r>
              <a:rPr lang="pt-PT" b="1" dirty="0">
                <a:latin typeface="Livvic" pitchFamily="2" charset="0"/>
              </a:rPr>
              <a:t>personalizados</a:t>
            </a:r>
            <a:r>
              <a:rPr lang="pt-PT" dirty="0">
                <a:latin typeface="Livvic" pitchFamily="2" charset="0"/>
              </a:rPr>
              <a:t> e </a:t>
            </a:r>
            <a:r>
              <a:rPr lang="pt-PT" b="1" dirty="0">
                <a:latin typeface="Livvic" pitchFamily="2" charset="0"/>
              </a:rPr>
              <a:t>detalhados</a:t>
            </a:r>
            <a:r>
              <a:rPr lang="pt-PT" dirty="0">
                <a:latin typeface="Livvic" pitchFamily="2" charset="0"/>
              </a:rPr>
              <a:t>.</a:t>
            </a:r>
            <a:endParaRPr lang="en-US" dirty="0">
              <a:latin typeface="Livvic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F2F05F-25F6-1948-54A1-6360DD79476F}"/>
              </a:ext>
            </a:extLst>
          </p:cNvPr>
          <p:cNvSpPr txBox="1"/>
          <p:nvPr/>
        </p:nvSpPr>
        <p:spPr>
          <a:xfrm>
            <a:off x="4919281" y="1731000"/>
            <a:ext cx="37753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 err="1">
                <a:latin typeface="Livvic" pitchFamily="2" charset="0"/>
              </a:rPr>
              <a:t>Seaborn</a:t>
            </a:r>
            <a:r>
              <a:rPr lang="pt-PT" dirty="0">
                <a:latin typeface="Livvic" pitchFamily="2" charset="0"/>
              </a:rPr>
              <a:t> é uma biblioteca construída sobre </a:t>
            </a:r>
            <a:r>
              <a:rPr lang="pt-PT" b="1" dirty="0" err="1">
                <a:latin typeface="Livvic" pitchFamily="2" charset="0"/>
              </a:rPr>
              <a:t>Matplotlib</a:t>
            </a:r>
            <a:r>
              <a:rPr lang="pt-PT" dirty="0">
                <a:latin typeface="Livvic" pitchFamily="2" charset="0"/>
              </a:rPr>
              <a:t>, focada em gráficos </a:t>
            </a:r>
            <a:r>
              <a:rPr lang="pt-PT" b="1" dirty="0">
                <a:latin typeface="Livvic" pitchFamily="2" charset="0"/>
              </a:rPr>
              <a:t>estatísticos</a:t>
            </a:r>
            <a:r>
              <a:rPr lang="pt-PT" dirty="0">
                <a:latin typeface="Livvic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Sintaxe </a:t>
            </a:r>
            <a:r>
              <a:rPr lang="pt-PT" b="1" dirty="0">
                <a:latin typeface="Livvic" pitchFamily="2" charset="0"/>
              </a:rPr>
              <a:t>simples</a:t>
            </a:r>
            <a:r>
              <a:rPr lang="pt-PT" dirty="0">
                <a:latin typeface="Livvic" pitchFamily="2" charset="0"/>
              </a:rPr>
              <a:t> e </a:t>
            </a:r>
            <a:r>
              <a:rPr lang="pt-PT" b="1" dirty="0">
                <a:latin typeface="Livvic" pitchFamily="2" charset="0"/>
              </a:rPr>
              <a:t>concisa</a:t>
            </a:r>
            <a:r>
              <a:rPr lang="pt-PT" dirty="0">
                <a:latin typeface="Livvic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Visualizações com design </a:t>
            </a:r>
            <a:r>
              <a:rPr lang="pt-PT" b="1" dirty="0">
                <a:latin typeface="Livvic" pitchFamily="2" charset="0"/>
              </a:rPr>
              <a:t>elegante</a:t>
            </a:r>
            <a:r>
              <a:rPr lang="pt-PT" dirty="0">
                <a:latin typeface="Livvic" pitchFamily="2" charset="0"/>
              </a:rPr>
              <a:t> e </a:t>
            </a:r>
            <a:r>
              <a:rPr lang="pt-PT" b="1" dirty="0">
                <a:latin typeface="Livvic" pitchFamily="2" charset="0"/>
              </a:rPr>
              <a:t>moderno</a:t>
            </a:r>
            <a:r>
              <a:rPr lang="pt-PT" dirty="0">
                <a:latin typeface="Livvic" pitchFamily="2" charset="0"/>
              </a:rPr>
              <a:t> por defeito.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Facilita a criação de gráficos complexos, como </a:t>
            </a:r>
            <a:r>
              <a:rPr lang="pt-PT" b="1" dirty="0" err="1">
                <a:latin typeface="Livvic" pitchFamily="2" charset="0"/>
              </a:rPr>
              <a:t>boxplots</a:t>
            </a:r>
            <a:r>
              <a:rPr lang="pt-PT" dirty="0">
                <a:latin typeface="Livvic" pitchFamily="2" charset="0"/>
              </a:rPr>
              <a:t>, </a:t>
            </a:r>
            <a:r>
              <a:rPr lang="pt-PT" b="1" dirty="0" err="1">
                <a:latin typeface="Livvic" pitchFamily="2" charset="0"/>
              </a:rPr>
              <a:t>violin</a:t>
            </a:r>
            <a:r>
              <a:rPr lang="pt-PT" dirty="0">
                <a:latin typeface="Livvic" pitchFamily="2" charset="0"/>
              </a:rPr>
              <a:t> </a:t>
            </a:r>
            <a:r>
              <a:rPr lang="pt-PT" b="1" dirty="0" err="1">
                <a:latin typeface="Livvic" pitchFamily="2" charset="0"/>
              </a:rPr>
              <a:t>plots</a:t>
            </a:r>
            <a:r>
              <a:rPr lang="pt-PT" dirty="0">
                <a:latin typeface="Livvic" pitchFamily="2" charset="0"/>
              </a:rPr>
              <a:t> e </a:t>
            </a:r>
            <a:r>
              <a:rPr lang="pt-PT" b="1" dirty="0" err="1">
                <a:latin typeface="Livvic" pitchFamily="2" charset="0"/>
              </a:rPr>
              <a:t>heatmaps</a:t>
            </a:r>
            <a:r>
              <a:rPr lang="pt-PT" dirty="0">
                <a:latin typeface="Livvic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latin typeface="Livvic" pitchFamily="2" charset="0"/>
              </a:rPr>
              <a:t>Excelente para análise </a:t>
            </a:r>
            <a:r>
              <a:rPr lang="pt-PT" b="1" dirty="0">
                <a:latin typeface="Livvic" pitchFamily="2" charset="0"/>
              </a:rPr>
              <a:t>exploratória</a:t>
            </a:r>
            <a:r>
              <a:rPr lang="pt-PT" dirty="0">
                <a:latin typeface="Livvic" pitchFamily="2" charset="0"/>
              </a:rPr>
              <a:t> e </a:t>
            </a:r>
            <a:r>
              <a:rPr lang="pt-PT" b="1" dirty="0">
                <a:latin typeface="Livvic" pitchFamily="2" charset="0"/>
              </a:rPr>
              <a:t>apresentação</a:t>
            </a:r>
            <a:r>
              <a:rPr lang="pt-PT" dirty="0">
                <a:latin typeface="Livvic" pitchFamily="2" charset="0"/>
              </a:rPr>
              <a:t> </a:t>
            </a:r>
            <a:r>
              <a:rPr lang="pt-PT" b="1" dirty="0">
                <a:latin typeface="Livvic" pitchFamily="2" charset="0"/>
              </a:rPr>
              <a:t>rápida</a:t>
            </a:r>
            <a:r>
              <a:rPr lang="pt-PT" dirty="0">
                <a:latin typeface="Livvic" pitchFamily="2" charset="0"/>
              </a:rPr>
              <a:t> </a:t>
            </a:r>
            <a:r>
              <a:rPr lang="pt-PT" b="1" dirty="0">
                <a:latin typeface="Livvic" pitchFamily="2" charset="0"/>
              </a:rPr>
              <a:t>de</a:t>
            </a:r>
            <a:r>
              <a:rPr lang="pt-PT" dirty="0">
                <a:latin typeface="Livvic" pitchFamily="2" charset="0"/>
              </a:rPr>
              <a:t> </a:t>
            </a:r>
            <a:r>
              <a:rPr lang="pt-PT" b="1" dirty="0">
                <a:latin typeface="Livvic" pitchFamily="2" charset="0"/>
              </a:rPr>
              <a:t>dados</a:t>
            </a:r>
            <a:r>
              <a:rPr lang="pt-PT" dirty="0">
                <a:latin typeface="Livvic" pitchFamily="2" charset="0"/>
              </a:rPr>
              <a:t>.</a:t>
            </a:r>
            <a:endParaRPr lang="en-US" dirty="0">
              <a:latin typeface="Livvic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>
          <a:extLst>
            <a:ext uri="{FF2B5EF4-FFF2-40B4-BE49-F238E27FC236}">
              <a16:creationId xmlns:a16="http://schemas.microsoft.com/office/drawing/2014/main" id="{618E69B8-10D3-5317-0C0E-D408D245F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Data Visualization - Insights with Matplotlib - Learn by Insight...">
            <a:extLst>
              <a:ext uri="{FF2B5EF4-FFF2-40B4-BE49-F238E27FC236}">
                <a16:creationId xmlns:a16="http://schemas.microsoft.com/office/drawing/2014/main" id="{858CE49D-843D-A7F4-FE31-D575A99A5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687" y="1016422"/>
            <a:ext cx="2730644" cy="655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2988;p86">
            <a:extLst>
              <a:ext uri="{FF2B5EF4-FFF2-40B4-BE49-F238E27FC236}">
                <a16:creationId xmlns:a16="http://schemas.microsoft.com/office/drawing/2014/main" id="{56902E99-9030-E31E-B73C-942F4D7D07A8}"/>
              </a:ext>
            </a:extLst>
          </p:cNvPr>
          <p:cNvSpPr txBox="1">
            <a:spLocks/>
          </p:cNvSpPr>
          <p:nvPr/>
        </p:nvSpPr>
        <p:spPr>
          <a:xfrm>
            <a:off x="2337040" y="70847"/>
            <a:ext cx="446992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800" b="0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ivvic"/>
              <a:buNone/>
              <a:defRPr sz="1400" b="0" i="0" u="none" strike="noStrike" cap="none">
                <a:solidFill>
                  <a:schemeClr val="accent3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pt-PT" sz="4000" dirty="0">
                <a:latin typeface="Redressed" panose="020B0604020202020204" charset="0"/>
              </a:rPr>
              <a:t>Visualização de Dados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C6D6549-BA19-93FA-6798-739BBF8650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4670" y="1016577"/>
            <a:ext cx="2284579" cy="655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EAFD5F-EB75-93C5-FB62-F997072E55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67" y="1812752"/>
            <a:ext cx="3620746" cy="216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FED4B3-C0D3-E08C-AC6D-22E6510144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6589" y="1812752"/>
            <a:ext cx="3738947" cy="216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9F1045-0AA4-2E8A-317D-A4894761059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2793" t="23498" r="14669" b="23609"/>
          <a:stretch/>
        </p:blipFill>
        <p:spPr>
          <a:xfrm>
            <a:off x="5854459" y="4170251"/>
            <a:ext cx="1856981" cy="739806"/>
          </a:xfrm>
          <a:prstGeom prst="round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5B5D30-4E83-16B1-758A-C5FDF662E90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2070" t="23719" r="12954" b="23609"/>
          <a:stretch/>
        </p:blipFill>
        <p:spPr>
          <a:xfrm>
            <a:off x="1296910" y="4170251"/>
            <a:ext cx="2080260" cy="74195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181039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apyrus History Lesson XL by Slidesgo">
  <a:themeElements>
    <a:clrScheme name="Simple Light">
      <a:dk1>
        <a:srgbClr val="482400"/>
      </a:dk1>
      <a:lt1>
        <a:srgbClr val="FFFFFF"/>
      </a:lt1>
      <a:dk2>
        <a:srgbClr val="595959"/>
      </a:dk2>
      <a:lt2>
        <a:srgbClr val="EEEEEE"/>
      </a:lt2>
      <a:accent1>
        <a:srgbClr val="482400"/>
      </a:accent1>
      <a:accent2>
        <a:srgbClr val="C1AD8F"/>
      </a:accent2>
      <a:accent3>
        <a:srgbClr val="553333"/>
      </a:accent3>
      <a:accent4>
        <a:srgbClr val="C1AD8F"/>
      </a:accent4>
      <a:accent5>
        <a:srgbClr val="482400"/>
      </a:accent5>
      <a:accent6>
        <a:srgbClr val="C1AD8F"/>
      </a:accent6>
      <a:hlink>
        <a:srgbClr val="4824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B65209DBFF0BD4CA334E984111739BD" ma:contentTypeVersion="17" ma:contentTypeDescription="Criar um novo documento." ma:contentTypeScope="" ma:versionID="dd185fb4eb22abfba1bbf1df215db036">
  <xsd:schema xmlns:xsd="http://www.w3.org/2001/XMLSchema" xmlns:xs="http://www.w3.org/2001/XMLSchema" xmlns:p="http://schemas.microsoft.com/office/2006/metadata/properties" xmlns:ns3="e5320658-45b1-444d-b7a9-3efd9c437958" xmlns:ns4="3f59f02c-74f8-4e70-b149-5783d454d21b" targetNamespace="http://schemas.microsoft.com/office/2006/metadata/properties" ma:root="true" ma:fieldsID="a7806ad5a617df065cd1e22143199572" ns3:_="" ns4:_="">
    <xsd:import namespace="e5320658-45b1-444d-b7a9-3efd9c437958"/>
    <xsd:import namespace="3f59f02c-74f8-4e70-b149-5783d454d21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  <xsd:element ref="ns3:MediaServiceDateTake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320658-45b1-444d-b7a9-3efd9c437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59f02c-74f8-4e70-b149-5783d454d21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320658-45b1-444d-b7a9-3efd9c43795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1561E86-B047-488B-ABF0-831180665DB1}">
  <ds:schemaRefs>
    <ds:schemaRef ds:uri="3f59f02c-74f8-4e70-b149-5783d454d21b"/>
    <ds:schemaRef ds:uri="e5320658-45b1-444d-b7a9-3efd9c43795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2096AD0-DD3B-47BA-AEA7-00D98826A0C2}">
  <ds:schemaRefs>
    <ds:schemaRef ds:uri="e5320658-45b1-444d-b7a9-3efd9c437958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3f59f02c-74f8-4e70-b149-5783d454d21b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EB5273F-345C-4496-8602-744D8DF6C0D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1189</Words>
  <Application>Microsoft Office PowerPoint</Application>
  <PresentationFormat>On-screen Show (16:9)</PresentationFormat>
  <Paragraphs>131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Redressed</vt:lpstr>
      <vt:lpstr>Aptos Narrow</vt:lpstr>
      <vt:lpstr>Consolas</vt:lpstr>
      <vt:lpstr>Livvic Light</vt:lpstr>
      <vt:lpstr>Roboto Slab Light</vt:lpstr>
      <vt:lpstr>Livvic</vt:lpstr>
      <vt:lpstr>Papyrus History Lesson XL by Slidesgo</vt:lpstr>
      <vt:lpstr>AULA III</vt:lpstr>
      <vt:lpstr>Ficheiros</vt:lpstr>
      <vt:lpstr>Ficheiros - Caracteres Especiais e Sequências de Escape</vt:lpstr>
      <vt:lpstr>Ficheiros - Caracteres Especiais e Sequências de Escape</vt:lpstr>
      <vt:lpstr>PowerPoint Presentation</vt:lpstr>
      <vt:lpstr>PowerPoint Presentation</vt:lpstr>
      <vt:lpstr>Imports</vt:lpstr>
      <vt:lpstr>O que são imports em Python</vt:lpstr>
      <vt:lpstr>O que são imports em Python</vt:lpstr>
      <vt:lpstr>PowerPoint Presentation</vt:lpstr>
      <vt:lpstr>Visualização de Dados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Diogo Freitas</dc:creator>
  <cp:lastModifiedBy>Diogo Alonso de Freitas</cp:lastModifiedBy>
  <cp:revision>3</cp:revision>
  <dcterms:modified xsi:type="dcterms:W3CDTF">2026-07-02T16:16:39Z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0x0101005B65209DBFF0BD4CA334E984111739BD</vt:lpwstr>
  </property>
</Properties>
</file>